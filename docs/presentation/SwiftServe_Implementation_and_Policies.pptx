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licies" id="{a359aa6a-6018-5d7e-c613-05e49d29009f}">
          <p14:sldIdLst>
            <p14:sldId id="256"/>
            <p14:sldId id="257"/>
            <p14:sldId id="258"/>
            <p14:sldId id="259"/>
            <p14:sldId id="260"/>
            <p14:sldId id="261"/>
            <p14:sldId id="262"/>
            <p14:sldId id="263"/>
            <p14:sldId id="264"/>
            <p14:sldId id="265"/>
            <p14:sldId id="266"/>
          </p14:sldIdLst>
        </p14:section>
        <p14:section name="Implementation" id="{e05e7b67-2113-d0c0-2a77-863038c595ce}">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A"/>
                </a:solidFill>
                <a:latin typeface="+mn-lt"/>
              </a:defRPr>
            </a:pPr>
            <a:r>
              <a:rPr sz="1400" b="0" i="0" u="none" strike="noStrike">
                <a:solidFill>
                  <a:srgbClr val="1B1F2A"/>
                </a:solidFill>
                <a:latin typeface="+mn-lt"/>
              </a:rPr>
              <a:t>Prompt reused from cache (%)</a:t>
            </a:r>
          </a:p>
        </c:rich>
      </c:tx>
      <c:layout/>
      <c:overlay val="0"/>
    </c:title>
    <c:autoTitleDeleted val="0"/>
    <c:plotArea>
      <c:layout/>
      <c:barChart>
        <c:barDir val="col"/>
        <c:grouping val="clustered"/>
        <c:varyColors val="0"/>
        <c:ser>
          <c:idx val="0"/>
          <c:order val="0"/>
          <c:tx>
            <c:strRef>
              <c:f>Sheet1!$B$1</c:f>
              <c:strCache>
                <c:ptCount val="1"/>
                <c:pt idx="0">
                  <c:v>Cache reuse (%)</c:v>
                </c:pt>
              </c:strCache>
            </c:strRef>
          </c:tx>
          <c:spPr>
            <a:solidFill>
              <a:srgbClr val="0E8F7E"/>
            </a:solidFill>
            <a:effectLst/>
          </c:spPr>
          <c:invertIfNegative val="0"/>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Sheet1!$A$2:$A$5</c:f>
              <c:multiLvlStrCache>
                <c:ptCount val="4"/>
                <c:lvl>
                  <c:pt idx="0">
                    <c:v>round_robin</c:v>
                  </c:pt>
                  <c:pt idx="1">
                    <c:v>least_connections</c:v>
                  </c:pt>
                  <c:pt idx="2">
                    <c:v>swiftserve</c:v>
                  </c:pt>
                  <c:pt idx="3">
                    <c:v>prefix_aware</c:v>
                  </c:pt>
                </c:lvl>
              </c:multiLvlStrCache>
            </c:multiLvlStrRef>
          </c:cat>
          <c:val>
            <c:numRef>
              <c:f>Sheet1!$B$2:$B$5</c:f>
              <c:numCache>
                <c:formatCode>General</c:formatCode>
                <c:ptCount val="4"/>
                <c:pt idx="0">
                  <c:v>53</c:v>
                </c:pt>
                <c:pt idx="1">
                  <c:v>52</c:v>
                </c:pt>
                <c:pt idx="2">
                  <c:v>66</c:v>
                </c:pt>
                <c:pt idx="3">
                  <c:v>86</c:v>
                </c:pt>
              </c:numCache>
            </c:numRef>
          </c:val>
        </c:ser>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A4457"/>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1E4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A445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two things: the four routing policies one by one, and how the router around them is implemented. The four tiles stand for the four policies, ordered from the simplest to the one that matches token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policies form a ladder. Round robin knows nothing. Least connections adds load awareness. Swiftserve adds memory of sessions and of message-level prefixes. Prefix-aware moves that memory to the unit vLLM actually caches, which is blocks of sixteen tokens. Each is a class in policy.py with a select method, so they are interchangeable and can be compared on the same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robin is the simplest baseline. A single counter decides the replica, so requests one to four go to A, B, C and D, and request five goes back to A. It spreads load perfectly evenly, which is why its busiest-to-mean load was exactly one in all three measured runs. But it never looks at the prompt, so whether a request meets a warm cache is luck, and with several tenants every replica ends up holding a bit of every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Least connections looks at how busy each replica is and picks the shortest queue, using the lowest replica number to break ties. The queue depth blends two sources: what the replica itself reports about running and waiting requests, and how many requests the router has in flight to it. This adapts to uneven load, which is why its busiest-to-mean ratio was above one in the runs, but it still has no idea which replica holds the cache for the request in hand. The bars here are illustrative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Swiftserve is the earlier policy. It tries three things in order. First, if some replica served this session recently and is still within the response-time target, send the request back to it. Second, consult a prefix trie over whole messages: if an earlier request on some replica shared at least two messages with this one, and that replica is within target, route there. Third, fall back to the least-loaded replica. Every call records the request's messages into the trie, so it keeps learning from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weakness of swiftserve is the unit it matches on. It counts messages, but the engine reuses blocks of tokens. A 2,000-token system prompt shared by two sessions is a depth of one and is rejected, while two trivial shared messages are accepted. In our experiment the same tenant and question pair does repeat, so depth-two matches happen, which probably explains why swiftserve reused more cache than the baselines. That explanation follows from reading the code and has not been verified per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prefix-aware decision, step by step, with the function that does each. The prompt is tokenized with the model's chat template and cut into blocks of sixteen tokens whose hashes are chained. The index returns how many leading blocks each replica holds. A replica is eligible only if the match is big enough to matter: half the prompt, or at least 256 tokens. The longest match wins, with ties going to the shorter queue. If the winner's latency estimate is within the response-time target it is chosen; otherwise the least-loaded replica is used. Finally the prompt's hashes are recorded against the chosen replica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data structure behind prefix-aware routing. Each block's hash is computed from the previous hash and the block's own tokens, so a single hash stands for the entire prefix before it. That gives prefix-only matching for free: change the first block and every hash after it changes. Only full blocks of sixteen tokens count, matching what vLLM caches. The model name seeds the chain so two models never share credit. A stable hash function is used so a router restart keeps the same hashes. The index stores, for each hash, the set of replicas believed to hold it, and caps how many blocks it tracks per replica to imitate the engine's own eviction.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Prefix-aware does not blindly follow the cache. Before routing to the best match it asks the replica's latency estimate whether it would stay within the response-time target. The estimate treats the replica as a queue with as many servers as it can batch. Below that capacity a request runs alongside others and the estimate is the recent latency at that occupancy; above it, requests queue and the estimate grows with queue depth. Latencies are learned from completed requests. If the check fails, the decision path is recorded as an SLA veto and the least-loaded replica is used. The console shows which of the three paths each request took.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the four policies by what each can see. Only prefix-aware looks at token blocks, and it is also the only one that needs the model's tokenizer, which has to match the model or its block boundaries will not line up with the engine's. Swiftserve and prefix-aware both check the response-time target. Round robin and least connections are the cache-blind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Averaged over the three real runs on four T4 GPUs, cache reuse follows how much each policy knows about the cache: about fifty-two to fifty-three percent for the two cache-blind policies, about two thirds for swiftserve, and about eighty-six percent for prefix-aware. Median time to first token falls with it for prefix-aware, which had the lowest median in every run. The tail latency was not consistently better, so no claim is made about it. The full table with per-run values is in the results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code. The router is a FastAPI application in app.py. The policies are in policy.py and are independent of the web layer. The prefix index and tokenizers support the prefix-aware policy. State holds what the router knows about each replica. The proxy and resilience modules handle streaming, retries, the circuit breaker and admission control. Telemetry, events and the dashboard API power the console, and ui holds the console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request through the code. The handler reads the request and opens a trace. Admission control rejects it if too many requests are in flight. The state of every replica is read before the policy runs, so the console shows what the policy saw. The policy returns a replica, with a special case that gives a recovering replica a probe request. The proxy sends the request, retrying connection errors on the same replica, then relays the response while a timer measures time to first token and inter-token latency. Finally the outcome is recorded exactly once, whether it completed, failed or the client disconnected.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mechanisms protect the router and feed the policies. The circuit breaker stops sending traffic to a failing replica and probes it again after a cooldown that doubles up to two minutes. Admission control caps concurrency at 256. Retries stay on the same replica, which is a known limitation because there is no failover. The metrics scraper reads each replica's load every two seconds, and the sidecar on each node adds GPU memory and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observability layer is what makes the claims checkable. An in-process event bus carries every step of every request, and a trace object keeps selected, dispatched and served replica separate. The console subscribes over server-sent events and can resume after a reconnect. It has five tabs written in plain JavaScript. The Compare tab depends on one extra endpoint that swaps the active policy; it is disabled unless the launcher turns it on, and it refuses to switch while requests are in flight.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what each kind of evidence means. The automated tests use mocked or fake replicas, so they prove the router's logic, not GPU performance. The real-GPU evidence is a short list: a matching cache prediction on a test request, and three comparison runs of all four policies. Anything outside that, such as failover, the cause of the tail-latency variation, or other models, is not verified and is listed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1F2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280160"/>
            <a:ext cx="5669280" cy="1463040"/>
          </a:xfrm>
          <a:prstGeom prst="rect">
            <a:avLst/>
          </a:prstGeom>
          <a:noFill/>
          <a:ln/>
        </p:spPr>
        <p:txBody>
          <a:bodyPr wrap="square" lIns="0" tIns="0" rIns="0" bIns="0" rtlCol="0" anchor="t"/>
          <a:lstStyle/>
          <a:p>
            <a:pPr indent="0" marL="0">
              <a:buNone/>
            </a:pPr>
            <a:r>
              <a:rPr lang="en-US" sz="3800" b="1" dirty="0">
                <a:solidFill>
                  <a:schemeClr val="bg1"/>
                </a:solidFill>
                <a:latin typeface="Cambria" pitchFamily="34" charset="0"/>
                <a:ea typeface="Cambria" pitchFamily="34" charset="-122"/>
                <a:cs typeface="Cambria" pitchFamily="34" charset="-120"/>
              </a:rPr>
              <a:t>Implementation and Routing Policies</a:t>
            </a:r>
            <a:endParaRPr lang="en-US" sz="3800" dirty="0"/>
          </a:p>
        </p:txBody>
      </p:sp>
      <p:sp>
        <p:nvSpPr>
          <p:cNvPr id="3" name="Text 1"/>
          <p:cNvSpPr txBox="1"/>
          <p:nvPr/>
        </p:nvSpPr>
        <p:spPr>
          <a:xfrm>
            <a:off x="640080" y="3017520"/>
            <a:ext cx="5212080" cy="822960"/>
          </a:xfrm>
          <a:prstGeom prst="rect">
            <a:avLst/>
          </a:prstGeom>
          <a:noFill/>
          <a:ln/>
        </p:spPr>
        <p:txBody>
          <a:bodyPr wrap="square" lIns="0" tIns="0" rIns="0" bIns="0" rtlCol="0" anchor="t"/>
          <a:lstStyle/>
          <a:p>
            <a:pPr indent="0" marL="0">
              <a:buNone/>
            </a:pPr>
            <a:r>
              <a:rPr lang="en-US" sz="1800" dirty="0">
                <a:solidFill>
                  <a:schemeClr val="accent4"/>
                </a:solidFill>
                <a:latin typeface="Calibri" pitchFamily="34" charset="0"/>
                <a:ea typeface="Calibri" pitchFamily="34" charset="-122"/>
                <a:cs typeface="Calibri" pitchFamily="34" charset="-120"/>
              </a:rPr>
              <a:t>How each policy chooses a replica, and how the router is built around them</a:t>
            </a:r>
            <a:endParaRPr lang="en-US" sz="1800" dirty="0"/>
          </a:p>
        </p:txBody>
      </p:sp>
      <p:sp>
        <p:nvSpPr>
          <p:cNvPr id="4" name="Policy tile 1"/>
          <p:cNvSpPr/>
          <p:nvPr/>
        </p:nvSpPr>
        <p:spPr>
          <a:xfrm>
            <a:off x="6720840" y="1417320"/>
            <a:ext cx="914400" cy="914400"/>
          </a:xfrm>
          <a:prstGeom prst="roundRect">
            <a:avLst>
              <a:gd name="adj" fmla="val 10000"/>
            </a:avLst>
          </a:prstGeom>
          <a:solidFill>
            <a:schemeClr val="tx2"/>
          </a:solidFill>
          <a:ln w="12700">
            <a:solidFill>
              <a:schemeClr val="tx2"/>
            </a:solidFill>
            <a:prstDash val="solid"/>
          </a:ln>
        </p:spPr>
      </p:sp>
      <p:sp>
        <p:nvSpPr>
          <p:cNvPr id="5" name="Text 3"/>
          <p:cNvSpPr txBox="1"/>
          <p:nvPr/>
        </p:nvSpPr>
        <p:spPr>
          <a:xfrm>
            <a:off x="6720840" y="1691640"/>
            <a:ext cx="914400" cy="365760"/>
          </a:xfrm>
          <a:prstGeom prst="rect">
            <a:avLst/>
          </a:prstGeom>
          <a:noFill/>
          <a:ln/>
        </p:spPr>
        <p:txBody>
          <a:bodyPr wrap="square" lIns="0" tIns="0" rIns="0" bIns="0" rtlCol="0" anchor="t"/>
          <a:lstStyle/>
          <a:p>
            <a:pPr algn="ctr" indent="0" marL="0">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6" name="Policy tile 2"/>
          <p:cNvSpPr/>
          <p:nvPr/>
        </p:nvSpPr>
        <p:spPr>
          <a:xfrm>
            <a:off x="7818120" y="1417320"/>
            <a:ext cx="914400" cy="914400"/>
          </a:xfrm>
          <a:prstGeom prst="roundRect">
            <a:avLst>
              <a:gd name="adj" fmla="val 10000"/>
            </a:avLst>
          </a:prstGeom>
          <a:solidFill>
            <a:schemeClr val="tx2"/>
          </a:solidFill>
          <a:ln w="12700">
            <a:solidFill>
              <a:schemeClr val="tx2"/>
            </a:solidFill>
            <a:prstDash val="solid"/>
          </a:ln>
        </p:spPr>
      </p:sp>
      <p:sp>
        <p:nvSpPr>
          <p:cNvPr id="7" name="Text 5"/>
          <p:cNvSpPr txBox="1"/>
          <p:nvPr/>
        </p:nvSpPr>
        <p:spPr>
          <a:xfrm>
            <a:off x="7818120" y="1691640"/>
            <a:ext cx="914400" cy="365760"/>
          </a:xfrm>
          <a:prstGeom prst="rect">
            <a:avLst/>
          </a:prstGeom>
          <a:noFill/>
          <a:ln/>
        </p:spPr>
        <p:txBody>
          <a:bodyPr wrap="square" lIns="0" tIns="0" rIns="0" bIns="0" rtlCol="0" anchor="t"/>
          <a:lstStyle/>
          <a:p>
            <a:pPr algn="ctr" indent="0" marL="0">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8" name="Policy tile 3"/>
          <p:cNvSpPr/>
          <p:nvPr/>
        </p:nvSpPr>
        <p:spPr>
          <a:xfrm>
            <a:off x="6720840" y="2514600"/>
            <a:ext cx="914400" cy="914400"/>
          </a:xfrm>
          <a:prstGeom prst="roundRect">
            <a:avLst>
              <a:gd name="adj" fmla="val 10000"/>
            </a:avLst>
          </a:prstGeom>
          <a:solidFill>
            <a:schemeClr val="tx2"/>
          </a:solidFill>
          <a:ln w="12700">
            <a:solidFill>
              <a:schemeClr val="tx2"/>
            </a:solidFill>
            <a:prstDash val="solid"/>
          </a:ln>
        </p:spPr>
      </p:sp>
      <p:sp>
        <p:nvSpPr>
          <p:cNvPr id="9" name="Text 7"/>
          <p:cNvSpPr txBox="1"/>
          <p:nvPr/>
        </p:nvSpPr>
        <p:spPr>
          <a:xfrm>
            <a:off x="6720840" y="2788920"/>
            <a:ext cx="914400" cy="365760"/>
          </a:xfrm>
          <a:prstGeom prst="rect">
            <a:avLst/>
          </a:prstGeom>
          <a:noFill/>
          <a:ln/>
        </p:spPr>
        <p:txBody>
          <a:bodyPr wrap="square" lIns="0" tIns="0" rIns="0" bIns="0" rtlCol="0" anchor="t"/>
          <a:lstStyle/>
          <a:p>
            <a:pPr algn="ctr" indent="0" marL="0">
              <a:buNone/>
            </a:pPr>
            <a:r>
              <a:rPr lang="en-US" sz="2000" b="1" dirty="0">
                <a:solidFill>
                  <a:schemeClr val="bg1"/>
                </a:solidFill>
                <a:latin typeface="Calibri" pitchFamily="34" charset="0"/>
                <a:ea typeface="Calibri" pitchFamily="34" charset="-122"/>
                <a:cs typeface="Calibri" pitchFamily="34" charset="-120"/>
              </a:rPr>
              <a:t>3</a:t>
            </a:r>
            <a:endParaRPr lang="en-US" sz="2000" dirty="0"/>
          </a:p>
        </p:txBody>
      </p:sp>
      <p:sp>
        <p:nvSpPr>
          <p:cNvPr id="10" name="Policy tile 4"/>
          <p:cNvSpPr/>
          <p:nvPr/>
        </p:nvSpPr>
        <p:spPr>
          <a:xfrm>
            <a:off x="7818120" y="2514600"/>
            <a:ext cx="914400" cy="914400"/>
          </a:xfrm>
          <a:prstGeom prst="roundRect">
            <a:avLst>
              <a:gd name="adj" fmla="val 10000"/>
            </a:avLst>
          </a:prstGeom>
          <a:solidFill>
            <a:schemeClr val="accent1"/>
          </a:solidFill>
          <a:ln w="12700">
            <a:solidFill>
              <a:schemeClr val="accent1"/>
            </a:solidFill>
            <a:prstDash val="solid"/>
          </a:ln>
        </p:spPr>
      </p:sp>
      <p:sp>
        <p:nvSpPr>
          <p:cNvPr id="11" name="Text 9"/>
          <p:cNvSpPr txBox="1"/>
          <p:nvPr/>
        </p:nvSpPr>
        <p:spPr>
          <a:xfrm>
            <a:off x="7818120" y="2788920"/>
            <a:ext cx="914400" cy="365760"/>
          </a:xfrm>
          <a:prstGeom prst="rect">
            <a:avLst/>
          </a:prstGeom>
          <a:noFill/>
          <a:ln/>
        </p:spPr>
        <p:txBody>
          <a:bodyPr wrap="square" lIns="0" tIns="0" rIns="0" bIns="0" rtlCol="0" anchor="t"/>
          <a:lstStyle/>
          <a:p>
            <a:pPr algn="ctr" indent="0" marL="0">
              <a:buNone/>
            </a:pPr>
            <a:r>
              <a:rPr lang="en-US" sz="2000" b="1" dirty="0">
                <a:solidFill>
                  <a:schemeClr val="bg1"/>
                </a:solidFill>
                <a:latin typeface="Calibri" pitchFamily="34" charset="0"/>
                <a:ea typeface="Calibri" pitchFamily="34" charset="-122"/>
                <a:cs typeface="Calibri" pitchFamily="34" charset="-120"/>
              </a:rPr>
              <a:t>4</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Four policies, each adding one idea</a:t>
            </a:r>
            <a:endParaRPr lang="en-US" sz="3200" dirty="0"/>
          </a:p>
        </p:txBody>
      </p:sp>
      <p:sp>
        <p:nvSpPr>
          <p:cNvPr id="3" name="Policy card 1"/>
          <p:cNvSpPr/>
          <p:nvPr/>
        </p:nvSpPr>
        <p:spPr>
          <a:xfrm>
            <a:off x="457200" y="2468880"/>
            <a:ext cx="1920240" cy="21488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566928" y="2606040"/>
            <a:ext cx="1737360"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round_robin</a:t>
            </a:r>
            <a:endParaRPr lang="en-US" sz="1500" dirty="0"/>
          </a:p>
        </p:txBody>
      </p:sp>
      <p:sp>
        <p:nvSpPr>
          <p:cNvPr id="5" name="Text 3"/>
          <p:cNvSpPr txBox="1"/>
          <p:nvPr/>
        </p:nvSpPr>
        <p:spPr>
          <a:xfrm>
            <a:off x="566928" y="3063240"/>
            <a:ext cx="1737360" cy="8686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Takes replicas in turn</a:t>
            </a:r>
            <a:endParaRPr lang="en-US" sz="1400" dirty="0"/>
          </a:p>
        </p:txBody>
      </p:sp>
      <p:sp>
        <p:nvSpPr>
          <p:cNvPr id="6" name="Text 4"/>
          <p:cNvSpPr txBox="1"/>
          <p:nvPr/>
        </p:nvSpPr>
        <p:spPr>
          <a:xfrm>
            <a:off x="566928" y="3977640"/>
            <a:ext cx="1737360" cy="54864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Baseline: knows nothing</a:t>
            </a:r>
            <a:endParaRPr lang="en-US" sz="1300" dirty="0"/>
          </a:p>
        </p:txBody>
      </p:sp>
      <p:sp>
        <p:nvSpPr>
          <p:cNvPr id="7" name="Policy card 2"/>
          <p:cNvSpPr/>
          <p:nvPr/>
        </p:nvSpPr>
        <p:spPr>
          <a:xfrm>
            <a:off x="2542032" y="2148840"/>
            <a:ext cx="1920240" cy="246888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2651760" y="2286000"/>
            <a:ext cx="1737360"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least_connections</a:t>
            </a:r>
            <a:endParaRPr lang="en-US" sz="1500" dirty="0"/>
          </a:p>
        </p:txBody>
      </p:sp>
      <p:sp>
        <p:nvSpPr>
          <p:cNvPr id="9" name="Text 7"/>
          <p:cNvSpPr txBox="1"/>
          <p:nvPr/>
        </p:nvSpPr>
        <p:spPr>
          <a:xfrm>
            <a:off x="2651760" y="2743200"/>
            <a:ext cx="1737360" cy="8686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Picks the least busy replica</a:t>
            </a:r>
            <a:endParaRPr lang="en-US" sz="1400" dirty="0"/>
          </a:p>
        </p:txBody>
      </p:sp>
      <p:sp>
        <p:nvSpPr>
          <p:cNvPr id="10" name="Text 8"/>
          <p:cNvSpPr txBox="1"/>
          <p:nvPr/>
        </p:nvSpPr>
        <p:spPr>
          <a:xfrm>
            <a:off x="2651760" y="3657600"/>
            <a:ext cx="1737360" cy="54864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Adds load awareness</a:t>
            </a:r>
            <a:endParaRPr lang="en-US" sz="1300" dirty="0"/>
          </a:p>
        </p:txBody>
      </p:sp>
      <p:sp>
        <p:nvSpPr>
          <p:cNvPr id="11" name="Policy card 3"/>
          <p:cNvSpPr/>
          <p:nvPr/>
        </p:nvSpPr>
        <p:spPr>
          <a:xfrm>
            <a:off x="4626864" y="1828800"/>
            <a:ext cx="1920240" cy="278892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2" name="Text 10"/>
          <p:cNvSpPr txBox="1"/>
          <p:nvPr/>
        </p:nvSpPr>
        <p:spPr>
          <a:xfrm>
            <a:off x="4736592" y="1965960"/>
            <a:ext cx="1737360"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swiftserve</a:t>
            </a:r>
            <a:endParaRPr lang="en-US" sz="1500" dirty="0"/>
          </a:p>
        </p:txBody>
      </p:sp>
      <p:sp>
        <p:nvSpPr>
          <p:cNvPr id="13" name="Text 11"/>
          <p:cNvSpPr txBox="1"/>
          <p:nvPr/>
        </p:nvSpPr>
        <p:spPr>
          <a:xfrm>
            <a:off x="4736592" y="2423160"/>
            <a:ext cx="1737360" cy="8686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Remembers sessions and message prefixes</a:t>
            </a:r>
            <a:endParaRPr lang="en-US" sz="1400" dirty="0"/>
          </a:p>
        </p:txBody>
      </p:sp>
      <p:sp>
        <p:nvSpPr>
          <p:cNvPr id="14" name="Text 12"/>
          <p:cNvSpPr txBox="1"/>
          <p:nvPr/>
        </p:nvSpPr>
        <p:spPr>
          <a:xfrm>
            <a:off x="4736592" y="3337560"/>
            <a:ext cx="1737360" cy="54864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Adds conversation memory</a:t>
            </a:r>
            <a:endParaRPr lang="en-US" sz="1300" dirty="0"/>
          </a:p>
        </p:txBody>
      </p:sp>
      <p:sp>
        <p:nvSpPr>
          <p:cNvPr id="15" name="Policy card 4"/>
          <p:cNvSpPr/>
          <p:nvPr/>
        </p:nvSpPr>
        <p:spPr>
          <a:xfrm>
            <a:off x="6711696" y="1508760"/>
            <a:ext cx="1920240" cy="310896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6821424" y="1645920"/>
            <a:ext cx="1737360" cy="36576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prefix_aware</a:t>
            </a:r>
            <a:endParaRPr lang="en-US" sz="1500" dirty="0"/>
          </a:p>
        </p:txBody>
      </p:sp>
      <p:sp>
        <p:nvSpPr>
          <p:cNvPr id="17" name="Text 15"/>
          <p:cNvSpPr txBox="1"/>
          <p:nvPr/>
        </p:nvSpPr>
        <p:spPr>
          <a:xfrm>
            <a:off x="6821424" y="2103120"/>
            <a:ext cx="1737360" cy="8686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Matches 16-token blocks of the prompt</a:t>
            </a:r>
            <a:endParaRPr lang="en-US" sz="1400" dirty="0"/>
          </a:p>
        </p:txBody>
      </p:sp>
      <p:sp>
        <p:nvSpPr>
          <p:cNvPr id="18" name="Text 16"/>
          <p:cNvSpPr txBox="1"/>
          <p:nvPr/>
        </p:nvSpPr>
        <p:spPr>
          <a:xfrm>
            <a:off x="6821424" y="3017520"/>
            <a:ext cx="1737360" cy="54864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Adds the unit the engine caches</a:t>
            </a:r>
            <a:endParaRPr lang="en-US" sz="1300" dirty="0"/>
          </a:p>
        </p:txBody>
      </p:sp>
      <p:sp>
        <p:nvSpPr>
          <p:cNvPr id="19" name="Text 17"/>
          <p:cNvSpPr txBox="1"/>
          <p:nvPr/>
        </p:nvSpPr>
        <p:spPr>
          <a:xfrm>
            <a:off x="457200" y="1097280"/>
            <a:ext cx="822960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Each policy is a class in swiftserve/policy.py with one method, select(). The router calls whichever policy is active.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round_robin</a:t>
            </a:r>
            <a:endParaRPr lang="en-US" sz="3200" dirty="0"/>
          </a:p>
        </p:txBody>
      </p:sp>
      <p:sp>
        <p:nvSpPr>
          <p:cNvPr id="3" name="Code reference"/>
          <p:cNvSpPr/>
          <p:nvPr/>
        </p:nvSpPr>
        <p:spPr>
          <a:xfrm>
            <a:off x="457200" y="1097280"/>
            <a:ext cx="2377440" cy="310896"/>
          </a:xfrm>
          <a:prstGeom prst="roundRect">
            <a:avLst>
              <a:gd name="adj" fmla="val 14706"/>
            </a:avLst>
          </a:prstGeom>
          <a:solidFill>
            <a:schemeClr val="tx1"/>
          </a:solidFill>
          <a:ln w="12700">
            <a:solidFill>
              <a:schemeClr val="tx1"/>
            </a:solidFill>
            <a:prstDash val="solid"/>
          </a:ln>
        </p:spPr>
      </p:sp>
      <p:sp>
        <p:nvSpPr>
          <p:cNvPr id="4" name="Text 2"/>
          <p:cNvSpPr txBox="1"/>
          <p:nvPr/>
        </p:nvSpPr>
        <p:spPr>
          <a:xfrm>
            <a:off x="457200" y="1097280"/>
            <a:ext cx="2377440" cy="310896"/>
          </a:xfrm>
          <a:prstGeom prst="rect">
            <a:avLst/>
          </a:prstGeom>
          <a:noFill/>
          <a:ln/>
        </p:spPr>
        <p:txBody>
          <a:bodyPr wrap="square" lIns="0" tIns="0" rIns="0" bIns="0" rtlCol="0" anchor="ctr"/>
          <a:lstStyle/>
          <a:p>
            <a:pPr algn="ctr" indent="0" marL="0">
              <a:buNone/>
            </a:pPr>
            <a:r>
              <a:rPr lang="en-US" sz="1100" dirty="0">
                <a:solidFill>
                  <a:schemeClr val="bg1"/>
                </a:solidFill>
                <a:latin typeface="Courier New" pitchFamily="34" charset="0"/>
                <a:ea typeface="Courier New" pitchFamily="34" charset="-122"/>
                <a:cs typeface="Courier New" pitchFamily="34" charset="-120"/>
              </a:rPr>
              <a:t>RoundRobinPolicy.select</a:t>
            </a:r>
            <a:endParaRPr lang="en-US" sz="1100" dirty="0"/>
          </a:p>
        </p:txBody>
      </p:sp>
      <p:sp>
        <p:nvSpPr>
          <p:cNvPr id="5" name="Text 3"/>
          <p:cNvSpPr txBox="1"/>
          <p:nvPr/>
        </p:nvSpPr>
        <p:spPr>
          <a:xfrm>
            <a:off x="457200" y="1600200"/>
            <a:ext cx="438912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Keeps one counter. Request n goes to replica n mod 4.</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Uses nothing else: not load, not the prompt, not the session.</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Strength: a perfectly even spread. In every run its busiest-to-mean load was 1.00.</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Weakness: a request with a cached prefix lands on the replica that holds it only by chance, and over time every replica ends up caching every tenant.</a:t>
            </a:r>
            <a:endParaRPr lang="en-US" sz="1400" dirty="0"/>
          </a:p>
        </p:txBody>
      </p:sp>
      <p:sp>
        <p:nvSpPr>
          <p:cNvPr id="6" name="Rotation panel"/>
          <p:cNvSpPr/>
          <p:nvPr/>
        </p:nvSpPr>
        <p:spPr>
          <a:xfrm>
            <a:off x="5120640" y="1097280"/>
            <a:ext cx="3566160" cy="3566160"/>
          </a:xfrm>
          <a:prstGeom prst="roundRect">
            <a:avLst>
              <a:gd name="adj" fmla="val 205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5303520" y="1207008"/>
            <a:ext cx="3200400" cy="274320"/>
          </a:xfrm>
          <a:prstGeom prst="rect">
            <a:avLst/>
          </a:prstGeom>
          <a:noFill/>
          <a:ln/>
        </p:spPr>
        <p:txBody>
          <a:bodyPr wrap="square" lIns="0" tIns="0" rIns="0" bIns="0" rtlCol="0" anchor="t"/>
          <a:lstStyle/>
          <a:p>
            <a:pPr indent="0" marL="0">
              <a:buNone/>
            </a:pPr>
            <a:r>
              <a:rPr lang="en-US" sz="1300" b="1" dirty="0">
                <a:solidFill>
                  <a:schemeClr val="tx2"/>
                </a:solidFill>
                <a:latin typeface="Calibri" pitchFamily="34" charset="0"/>
                <a:ea typeface="Calibri" pitchFamily="34" charset="-122"/>
                <a:cs typeface="Calibri" pitchFamily="34" charset="-120"/>
              </a:rPr>
              <a:t>Requests in arrival order</a:t>
            </a:r>
            <a:endParaRPr lang="en-US" sz="1300" dirty="0"/>
          </a:p>
        </p:txBody>
      </p:sp>
      <p:sp>
        <p:nvSpPr>
          <p:cNvPr id="8" name="Request 1"/>
          <p:cNvSpPr/>
          <p:nvPr/>
        </p:nvSpPr>
        <p:spPr>
          <a:xfrm>
            <a:off x="5303520" y="1600200"/>
            <a:ext cx="1188720" cy="384048"/>
          </a:xfrm>
          <a:prstGeom prst="roundRect">
            <a:avLst>
              <a:gd name="adj" fmla="val 11905"/>
            </a:avLst>
          </a:prstGeom>
          <a:solidFill>
            <a:schemeClr val="tx1"/>
          </a:solidFill>
          <a:ln w="12700">
            <a:solidFill>
              <a:schemeClr val="tx1"/>
            </a:solidFill>
            <a:prstDash val="solid"/>
          </a:ln>
        </p:spPr>
      </p:sp>
      <p:sp>
        <p:nvSpPr>
          <p:cNvPr id="9" name="Text 7"/>
          <p:cNvSpPr txBox="1"/>
          <p:nvPr/>
        </p:nvSpPr>
        <p:spPr>
          <a:xfrm>
            <a:off x="5303520" y="1600200"/>
            <a:ext cx="1188720"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Request 1</a:t>
            </a:r>
            <a:endParaRPr lang="en-US" sz="1300" dirty="0"/>
          </a:p>
        </p:txBody>
      </p:sp>
      <p:sp>
        <p:nvSpPr>
          <p:cNvPr id="10" name="Arrow 1"/>
          <p:cNvSpPr/>
          <p:nvPr/>
        </p:nvSpPr>
        <p:spPr>
          <a:xfrm>
            <a:off x="6537960" y="1792224"/>
            <a:ext cx="731520" cy="0"/>
          </a:xfrm>
          <a:prstGeom prst="line">
            <a:avLst/>
          </a:prstGeom>
          <a:noFill/>
          <a:ln w="22225">
            <a:solidFill>
              <a:schemeClr val="accent4"/>
            </a:solidFill>
            <a:prstDash val="solid"/>
            <a:tailEnd type="triangle"/>
          </a:ln>
        </p:spPr>
      </p:sp>
      <p:sp>
        <p:nvSpPr>
          <p:cNvPr id="11" name="Replica for 1"/>
          <p:cNvSpPr/>
          <p:nvPr/>
        </p:nvSpPr>
        <p:spPr>
          <a:xfrm>
            <a:off x="7315200" y="1600200"/>
            <a:ext cx="1188720" cy="384048"/>
          </a:xfrm>
          <a:prstGeom prst="roundRect">
            <a:avLst>
              <a:gd name="adj" fmla="val 11905"/>
            </a:avLst>
          </a:prstGeom>
          <a:solidFill>
            <a:schemeClr val="accent1"/>
          </a:solidFill>
          <a:ln w="12700">
            <a:solidFill>
              <a:schemeClr val="accent1"/>
            </a:solidFill>
            <a:prstDash val="solid"/>
          </a:ln>
        </p:spPr>
      </p:sp>
      <p:sp>
        <p:nvSpPr>
          <p:cNvPr id="12" name="Text 10"/>
          <p:cNvSpPr txBox="1"/>
          <p:nvPr/>
        </p:nvSpPr>
        <p:spPr>
          <a:xfrm>
            <a:off x="7315200" y="1600200"/>
            <a:ext cx="1188720"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Replica A</a:t>
            </a:r>
            <a:endParaRPr lang="en-US" sz="1300" dirty="0"/>
          </a:p>
        </p:txBody>
      </p:sp>
      <p:sp>
        <p:nvSpPr>
          <p:cNvPr id="13" name="Request 2"/>
          <p:cNvSpPr/>
          <p:nvPr/>
        </p:nvSpPr>
        <p:spPr>
          <a:xfrm>
            <a:off x="5303520" y="2103120"/>
            <a:ext cx="1188720" cy="384048"/>
          </a:xfrm>
          <a:prstGeom prst="roundRect">
            <a:avLst>
              <a:gd name="adj" fmla="val 11905"/>
            </a:avLst>
          </a:prstGeom>
          <a:solidFill>
            <a:schemeClr val="tx1"/>
          </a:solidFill>
          <a:ln w="12700">
            <a:solidFill>
              <a:schemeClr val="tx1"/>
            </a:solidFill>
            <a:prstDash val="solid"/>
          </a:ln>
        </p:spPr>
      </p:sp>
      <p:sp>
        <p:nvSpPr>
          <p:cNvPr id="14" name="Text 12"/>
          <p:cNvSpPr txBox="1"/>
          <p:nvPr/>
        </p:nvSpPr>
        <p:spPr>
          <a:xfrm>
            <a:off x="5303520" y="2103120"/>
            <a:ext cx="1188720"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Request 2</a:t>
            </a:r>
            <a:endParaRPr lang="en-US" sz="1300" dirty="0"/>
          </a:p>
        </p:txBody>
      </p:sp>
      <p:sp>
        <p:nvSpPr>
          <p:cNvPr id="15" name="Arrow 2"/>
          <p:cNvSpPr/>
          <p:nvPr/>
        </p:nvSpPr>
        <p:spPr>
          <a:xfrm>
            <a:off x="6537960" y="2295144"/>
            <a:ext cx="731520" cy="0"/>
          </a:xfrm>
          <a:prstGeom prst="line">
            <a:avLst/>
          </a:prstGeom>
          <a:noFill/>
          <a:ln w="22225">
            <a:solidFill>
              <a:schemeClr val="accent4"/>
            </a:solidFill>
            <a:prstDash val="solid"/>
            <a:tailEnd type="triangle"/>
          </a:ln>
        </p:spPr>
      </p:sp>
      <p:sp>
        <p:nvSpPr>
          <p:cNvPr id="16" name="Replica for 2"/>
          <p:cNvSpPr/>
          <p:nvPr/>
        </p:nvSpPr>
        <p:spPr>
          <a:xfrm>
            <a:off x="7315200" y="2103120"/>
            <a:ext cx="1188720" cy="384048"/>
          </a:xfrm>
          <a:prstGeom prst="roundRect">
            <a:avLst>
              <a:gd name="adj" fmla="val 11905"/>
            </a:avLst>
          </a:prstGeom>
          <a:solidFill>
            <a:schemeClr val="bg1"/>
          </a:solidFill>
          <a:ln w="12700">
            <a:solidFill>
              <a:schemeClr val="accent1"/>
            </a:solidFill>
            <a:prstDash val="solid"/>
          </a:ln>
        </p:spPr>
      </p:sp>
      <p:sp>
        <p:nvSpPr>
          <p:cNvPr id="17" name="Text 15"/>
          <p:cNvSpPr txBox="1"/>
          <p:nvPr/>
        </p:nvSpPr>
        <p:spPr>
          <a:xfrm>
            <a:off x="7315200" y="2103120"/>
            <a:ext cx="1188720" cy="384048"/>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Replica B</a:t>
            </a:r>
            <a:endParaRPr lang="en-US" sz="1300" dirty="0"/>
          </a:p>
        </p:txBody>
      </p:sp>
      <p:sp>
        <p:nvSpPr>
          <p:cNvPr id="18" name="Request 3"/>
          <p:cNvSpPr/>
          <p:nvPr/>
        </p:nvSpPr>
        <p:spPr>
          <a:xfrm>
            <a:off x="5303520" y="2606040"/>
            <a:ext cx="1188720" cy="384048"/>
          </a:xfrm>
          <a:prstGeom prst="roundRect">
            <a:avLst>
              <a:gd name="adj" fmla="val 11905"/>
            </a:avLst>
          </a:prstGeom>
          <a:solidFill>
            <a:schemeClr val="tx1"/>
          </a:solidFill>
          <a:ln w="12700">
            <a:solidFill>
              <a:schemeClr val="tx1"/>
            </a:solidFill>
            <a:prstDash val="solid"/>
          </a:ln>
        </p:spPr>
      </p:sp>
      <p:sp>
        <p:nvSpPr>
          <p:cNvPr id="19" name="Text 17"/>
          <p:cNvSpPr txBox="1"/>
          <p:nvPr/>
        </p:nvSpPr>
        <p:spPr>
          <a:xfrm>
            <a:off x="5303520" y="2606040"/>
            <a:ext cx="1188720"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Request 3</a:t>
            </a:r>
            <a:endParaRPr lang="en-US" sz="1300" dirty="0"/>
          </a:p>
        </p:txBody>
      </p:sp>
      <p:sp>
        <p:nvSpPr>
          <p:cNvPr id="20" name="Arrow 3"/>
          <p:cNvSpPr/>
          <p:nvPr/>
        </p:nvSpPr>
        <p:spPr>
          <a:xfrm>
            <a:off x="6537960" y="2798064"/>
            <a:ext cx="731520" cy="0"/>
          </a:xfrm>
          <a:prstGeom prst="line">
            <a:avLst/>
          </a:prstGeom>
          <a:noFill/>
          <a:ln w="22225">
            <a:solidFill>
              <a:schemeClr val="accent4"/>
            </a:solidFill>
            <a:prstDash val="solid"/>
            <a:tailEnd type="triangle"/>
          </a:ln>
        </p:spPr>
      </p:sp>
      <p:sp>
        <p:nvSpPr>
          <p:cNvPr id="21" name="Replica for 3"/>
          <p:cNvSpPr/>
          <p:nvPr/>
        </p:nvSpPr>
        <p:spPr>
          <a:xfrm>
            <a:off x="7315200" y="2606040"/>
            <a:ext cx="1188720" cy="384048"/>
          </a:xfrm>
          <a:prstGeom prst="roundRect">
            <a:avLst>
              <a:gd name="adj" fmla="val 11905"/>
            </a:avLst>
          </a:prstGeom>
          <a:solidFill>
            <a:schemeClr val="bg1"/>
          </a:solidFill>
          <a:ln w="12700">
            <a:solidFill>
              <a:schemeClr val="accent1"/>
            </a:solidFill>
            <a:prstDash val="solid"/>
          </a:ln>
        </p:spPr>
      </p:sp>
      <p:sp>
        <p:nvSpPr>
          <p:cNvPr id="22" name="Text 20"/>
          <p:cNvSpPr txBox="1"/>
          <p:nvPr/>
        </p:nvSpPr>
        <p:spPr>
          <a:xfrm>
            <a:off x="7315200" y="2606040"/>
            <a:ext cx="1188720" cy="384048"/>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Replica C</a:t>
            </a:r>
            <a:endParaRPr lang="en-US" sz="1300" dirty="0"/>
          </a:p>
        </p:txBody>
      </p:sp>
      <p:sp>
        <p:nvSpPr>
          <p:cNvPr id="23" name="Request 4"/>
          <p:cNvSpPr/>
          <p:nvPr/>
        </p:nvSpPr>
        <p:spPr>
          <a:xfrm>
            <a:off x="5303520" y="3108960"/>
            <a:ext cx="1188720" cy="384048"/>
          </a:xfrm>
          <a:prstGeom prst="roundRect">
            <a:avLst>
              <a:gd name="adj" fmla="val 11905"/>
            </a:avLst>
          </a:prstGeom>
          <a:solidFill>
            <a:schemeClr val="tx1"/>
          </a:solidFill>
          <a:ln w="12700">
            <a:solidFill>
              <a:schemeClr val="tx1"/>
            </a:solidFill>
            <a:prstDash val="solid"/>
          </a:ln>
        </p:spPr>
      </p:sp>
      <p:sp>
        <p:nvSpPr>
          <p:cNvPr id="24" name="Text 22"/>
          <p:cNvSpPr txBox="1"/>
          <p:nvPr/>
        </p:nvSpPr>
        <p:spPr>
          <a:xfrm>
            <a:off x="5303520" y="3108960"/>
            <a:ext cx="1188720"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Request 4</a:t>
            </a:r>
            <a:endParaRPr lang="en-US" sz="1300" dirty="0"/>
          </a:p>
        </p:txBody>
      </p:sp>
      <p:sp>
        <p:nvSpPr>
          <p:cNvPr id="25" name="Arrow 4"/>
          <p:cNvSpPr/>
          <p:nvPr/>
        </p:nvSpPr>
        <p:spPr>
          <a:xfrm>
            <a:off x="6537960" y="3300984"/>
            <a:ext cx="731520" cy="0"/>
          </a:xfrm>
          <a:prstGeom prst="line">
            <a:avLst/>
          </a:prstGeom>
          <a:noFill/>
          <a:ln w="22225">
            <a:solidFill>
              <a:schemeClr val="accent4"/>
            </a:solidFill>
            <a:prstDash val="solid"/>
            <a:tailEnd type="triangle"/>
          </a:ln>
        </p:spPr>
      </p:sp>
      <p:sp>
        <p:nvSpPr>
          <p:cNvPr id="26" name="Replica for 4"/>
          <p:cNvSpPr/>
          <p:nvPr/>
        </p:nvSpPr>
        <p:spPr>
          <a:xfrm>
            <a:off x="7315200" y="3108960"/>
            <a:ext cx="1188720" cy="384048"/>
          </a:xfrm>
          <a:prstGeom prst="roundRect">
            <a:avLst>
              <a:gd name="adj" fmla="val 11905"/>
            </a:avLst>
          </a:prstGeom>
          <a:solidFill>
            <a:schemeClr val="bg1"/>
          </a:solidFill>
          <a:ln w="12700">
            <a:solidFill>
              <a:schemeClr val="accent1"/>
            </a:solidFill>
            <a:prstDash val="solid"/>
          </a:ln>
        </p:spPr>
      </p:sp>
      <p:sp>
        <p:nvSpPr>
          <p:cNvPr id="27" name="Text 25"/>
          <p:cNvSpPr txBox="1"/>
          <p:nvPr/>
        </p:nvSpPr>
        <p:spPr>
          <a:xfrm>
            <a:off x="7315200" y="3108960"/>
            <a:ext cx="1188720" cy="384048"/>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Replica D</a:t>
            </a:r>
            <a:endParaRPr lang="en-US" sz="1300" dirty="0"/>
          </a:p>
        </p:txBody>
      </p:sp>
      <p:sp>
        <p:nvSpPr>
          <p:cNvPr id="28" name="Request 5"/>
          <p:cNvSpPr/>
          <p:nvPr/>
        </p:nvSpPr>
        <p:spPr>
          <a:xfrm>
            <a:off x="5303520" y="3611880"/>
            <a:ext cx="1188720" cy="384048"/>
          </a:xfrm>
          <a:prstGeom prst="roundRect">
            <a:avLst>
              <a:gd name="adj" fmla="val 11905"/>
            </a:avLst>
          </a:prstGeom>
          <a:solidFill>
            <a:schemeClr val="tx1"/>
          </a:solidFill>
          <a:ln w="12700">
            <a:solidFill>
              <a:schemeClr val="tx1"/>
            </a:solidFill>
            <a:prstDash val="solid"/>
          </a:ln>
        </p:spPr>
      </p:sp>
      <p:sp>
        <p:nvSpPr>
          <p:cNvPr id="29" name="Text 27"/>
          <p:cNvSpPr txBox="1"/>
          <p:nvPr/>
        </p:nvSpPr>
        <p:spPr>
          <a:xfrm>
            <a:off x="5303520" y="3611880"/>
            <a:ext cx="1188720"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Request 5</a:t>
            </a:r>
            <a:endParaRPr lang="en-US" sz="1300" dirty="0"/>
          </a:p>
        </p:txBody>
      </p:sp>
      <p:sp>
        <p:nvSpPr>
          <p:cNvPr id="30" name="Arrow 5"/>
          <p:cNvSpPr/>
          <p:nvPr/>
        </p:nvSpPr>
        <p:spPr>
          <a:xfrm>
            <a:off x="6537960" y="3803904"/>
            <a:ext cx="731520" cy="0"/>
          </a:xfrm>
          <a:prstGeom prst="line">
            <a:avLst/>
          </a:prstGeom>
          <a:noFill/>
          <a:ln w="22225">
            <a:solidFill>
              <a:schemeClr val="accent4"/>
            </a:solidFill>
            <a:prstDash val="solid"/>
            <a:tailEnd type="triangle"/>
          </a:ln>
        </p:spPr>
      </p:sp>
      <p:sp>
        <p:nvSpPr>
          <p:cNvPr id="31" name="Replica for 5"/>
          <p:cNvSpPr/>
          <p:nvPr/>
        </p:nvSpPr>
        <p:spPr>
          <a:xfrm>
            <a:off x="7315200" y="3611880"/>
            <a:ext cx="1188720" cy="384048"/>
          </a:xfrm>
          <a:prstGeom prst="roundRect">
            <a:avLst>
              <a:gd name="adj" fmla="val 11905"/>
            </a:avLst>
          </a:prstGeom>
          <a:solidFill>
            <a:schemeClr val="accent1"/>
          </a:solidFill>
          <a:ln w="12700">
            <a:solidFill>
              <a:schemeClr val="accent1"/>
            </a:solidFill>
            <a:prstDash val="solid"/>
          </a:ln>
        </p:spPr>
      </p:sp>
      <p:sp>
        <p:nvSpPr>
          <p:cNvPr id="32" name="Text 30"/>
          <p:cNvSpPr txBox="1"/>
          <p:nvPr/>
        </p:nvSpPr>
        <p:spPr>
          <a:xfrm>
            <a:off x="7315200" y="3611880"/>
            <a:ext cx="1188720"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Replica A</a:t>
            </a:r>
            <a:endParaRPr lang="en-US" sz="1300" dirty="0"/>
          </a:p>
        </p:txBody>
      </p:sp>
      <p:sp>
        <p:nvSpPr>
          <p:cNvPr id="33" name="Request 6"/>
          <p:cNvSpPr/>
          <p:nvPr/>
        </p:nvSpPr>
        <p:spPr>
          <a:xfrm>
            <a:off x="5303520" y="4114800"/>
            <a:ext cx="1188720" cy="384048"/>
          </a:xfrm>
          <a:prstGeom prst="roundRect">
            <a:avLst>
              <a:gd name="adj" fmla="val 11905"/>
            </a:avLst>
          </a:prstGeom>
          <a:solidFill>
            <a:schemeClr val="tx1"/>
          </a:solidFill>
          <a:ln w="12700">
            <a:solidFill>
              <a:schemeClr val="tx1"/>
            </a:solidFill>
            <a:prstDash val="solid"/>
          </a:ln>
        </p:spPr>
      </p:sp>
      <p:sp>
        <p:nvSpPr>
          <p:cNvPr id="34" name="Text 32"/>
          <p:cNvSpPr txBox="1"/>
          <p:nvPr/>
        </p:nvSpPr>
        <p:spPr>
          <a:xfrm>
            <a:off x="5303520" y="4114800"/>
            <a:ext cx="1188720"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Request 6</a:t>
            </a:r>
            <a:endParaRPr lang="en-US" sz="1300" dirty="0"/>
          </a:p>
        </p:txBody>
      </p:sp>
      <p:sp>
        <p:nvSpPr>
          <p:cNvPr id="35" name="Arrow 6"/>
          <p:cNvSpPr/>
          <p:nvPr/>
        </p:nvSpPr>
        <p:spPr>
          <a:xfrm>
            <a:off x="6537960" y="4306824"/>
            <a:ext cx="731520" cy="0"/>
          </a:xfrm>
          <a:prstGeom prst="line">
            <a:avLst/>
          </a:prstGeom>
          <a:noFill/>
          <a:ln w="22225">
            <a:solidFill>
              <a:schemeClr val="accent4"/>
            </a:solidFill>
            <a:prstDash val="solid"/>
            <a:tailEnd type="triangle"/>
          </a:ln>
        </p:spPr>
      </p:sp>
      <p:sp>
        <p:nvSpPr>
          <p:cNvPr id="36" name="Replica for 6"/>
          <p:cNvSpPr/>
          <p:nvPr/>
        </p:nvSpPr>
        <p:spPr>
          <a:xfrm>
            <a:off x="7315200" y="4114800"/>
            <a:ext cx="1188720" cy="384048"/>
          </a:xfrm>
          <a:prstGeom prst="roundRect">
            <a:avLst>
              <a:gd name="adj" fmla="val 11905"/>
            </a:avLst>
          </a:prstGeom>
          <a:solidFill>
            <a:schemeClr val="bg1"/>
          </a:solidFill>
          <a:ln w="12700">
            <a:solidFill>
              <a:schemeClr val="accent1"/>
            </a:solidFill>
            <a:prstDash val="solid"/>
          </a:ln>
        </p:spPr>
      </p:sp>
      <p:sp>
        <p:nvSpPr>
          <p:cNvPr id="37" name="Text 35"/>
          <p:cNvSpPr txBox="1"/>
          <p:nvPr/>
        </p:nvSpPr>
        <p:spPr>
          <a:xfrm>
            <a:off x="7315200" y="4114800"/>
            <a:ext cx="1188720" cy="384048"/>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Replica B</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least_connections</a:t>
            </a:r>
            <a:endParaRPr lang="en-US" sz="3200" dirty="0"/>
          </a:p>
        </p:txBody>
      </p:sp>
      <p:sp>
        <p:nvSpPr>
          <p:cNvPr id="3" name="Code reference"/>
          <p:cNvSpPr/>
          <p:nvPr/>
        </p:nvSpPr>
        <p:spPr>
          <a:xfrm>
            <a:off x="457200" y="1097280"/>
            <a:ext cx="2926080" cy="310896"/>
          </a:xfrm>
          <a:prstGeom prst="roundRect">
            <a:avLst>
              <a:gd name="adj" fmla="val 14706"/>
            </a:avLst>
          </a:prstGeom>
          <a:solidFill>
            <a:schemeClr val="tx1"/>
          </a:solidFill>
          <a:ln w="12700">
            <a:solidFill>
              <a:schemeClr val="tx1"/>
            </a:solidFill>
            <a:prstDash val="solid"/>
          </a:ln>
        </p:spPr>
      </p:sp>
      <p:sp>
        <p:nvSpPr>
          <p:cNvPr id="4" name="Text 2"/>
          <p:cNvSpPr txBox="1"/>
          <p:nvPr/>
        </p:nvSpPr>
        <p:spPr>
          <a:xfrm>
            <a:off x="457200" y="1097280"/>
            <a:ext cx="2926080" cy="310896"/>
          </a:xfrm>
          <a:prstGeom prst="rect">
            <a:avLst/>
          </a:prstGeom>
          <a:noFill/>
          <a:ln/>
        </p:spPr>
        <p:txBody>
          <a:bodyPr wrap="square" lIns="0" tIns="0" rIns="0" bIns="0" rtlCol="0" anchor="ctr"/>
          <a:lstStyle/>
          <a:p>
            <a:pPr algn="ctr" indent="0" marL="0">
              <a:buNone/>
            </a:pPr>
            <a:r>
              <a:rPr lang="en-US" sz="1100" dirty="0">
                <a:solidFill>
                  <a:schemeClr val="bg1"/>
                </a:solidFill>
                <a:latin typeface="Courier New" pitchFamily="34" charset="0"/>
                <a:ea typeface="Courier New" pitchFamily="34" charset="-122"/>
                <a:cs typeface="Courier New" pitchFamily="34" charset="-120"/>
              </a:rPr>
              <a:t>LeastConnectionsPolicy.select</a:t>
            </a:r>
            <a:endParaRPr lang="en-US" sz="1100" dirty="0"/>
          </a:p>
        </p:txBody>
      </p:sp>
      <p:sp>
        <p:nvSpPr>
          <p:cNvPr id="5" name="Text 3"/>
          <p:cNvSpPr txBox="1"/>
          <p:nvPr/>
        </p:nvSpPr>
        <p:spPr>
          <a:xfrm>
            <a:off x="457200" y="1600200"/>
            <a:ext cx="448056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Chooses the replica with the smallest queue depth. Ties go to the lowest replica id.</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Queue depth is the larger of the replica's running plus waiting requests (scraped from vLLM) and the requests the router has in flight there. If the scrape is older than 5 seconds, the router's own count is used.</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Strength: adapts as load changes.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Weakness: it never asks which replica holds the cache.</a:t>
            </a:r>
            <a:endParaRPr lang="en-US" sz="1400" dirty="0"/>
          </a:p>
        </p:txBody>
      </p:sp>
      <p:sp>
        <p:nvSpPr>
          <p:cNvPr id="6" name="Queue panel"/>
          <p:cNvSpPr/>
          <p:nvPr/>
        </p:nvSpPr>
        <p:spPr>
          <a:xfrm>
            <a:off x="5120640" y="1097280"/>
            <a:ext cx="3566160" cy="3566160"/>
          </a:xfrm>
          <a:prstGeom prst="roundRect">
            <a:avLst>
              <a:gd name="adj" fmla="val 205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5303520" y="1207008"/>
            <a:ext cx="3200400" cy="274320"/>
          </a:xfrm>
          <a:prstGeom prst="rect">
            <a:avLst/>
          </a:prstGeom>
          <a:noFill/>
          <a:ln/>
        </p:spPr>
        <p:txBody>
          <a:bodyPr wrap="square" lIns="0" tIns="0" rIns="0" bIns="0" rtlCol="0" anchor="t"/>
          <a:lstStyle/>
          <a:p>
            <a:pPr indent="0" marL="0">
              <a:buNone/>
            </a:pPr>
            <a:r>
              <a:rPr lang="en-US" sz="1300" b="1" dirty="0">
                <a:solidFill>
                  <a:schemeClr val="tx2"/>
                </a:solidFill>
                <a:latin typeface="Calibri" pitchFamily="34" charset="0"/>
                <a:ea typeface="Calibri" pitchFamily="34" charset="-122"/>
                <a:cs typeface="Calibri" pitchFamily="34" charset="-120"/>
              </a:rPr>
              <a:t>Queue depth now (illustrative values)</a:t>
            </a:r>
            <a:endParaRPr lang="en-US" sz="1300" dirty="0"/>
          </a:p>
        </p:txBody>
      </p:sp>
      <p:sp>
        <p:nvSpPr>
          <p:cNvPr id="8" name="Text 6"/>
          <p:cNvSpPr txBox="1"/>
          <p:nvPr/>
        </p:nvSpPr>
        <p:spPr>
          <a:xfrm>
            <a:off x="5303520" y="1691640"/>
            <a:ext cx="1005840" cy="4114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Replica A</a:t>
            </a:r>
            <a:endParaRPr lang="en-US" sz="1300" dirty="0"/>
          </a:p>
        </p:txBody>
      </p:sp>
      <p:sp>
        <p:nvSpPr>
          <p:cNvPr id="9" name="Queue A"/>
          <p:cNvSpPr/>
          <p:nvPr/>
        </p:nvSpPr>
        <p:spPr>
          <a:xfrm>
            <a:off x="6355080" y="1737360"/>
            <a:ext cx="1508760" cy="320040"/>
          </a:xfrm>
          <a:prstGeom prst="rect">
            <a:avLst/>
          </a:prstGeom>
          <a:solidFill>
            <a:schemeClr val="accent4"/>
          </a:solidFill>
          <a:ln w="12700">
            <a:solidFill>
              <a:schemeClr val="accent4"/>
            </a:solidFill>
            <a:prstDash val="solid"/>
          </a:ln>
        </p:spPr>
      </p:sp>
      <p:sp>
        <p:nvSpPr>
          <p:cNvPr id="10" name="Text 8"/>
          <p:cNvSpPr txBox="1"/>
          <p:nvPr/>
        </p:nvSpPr>
        <p:spPr>
          <a:xfrm>
            <a:off x="7955280" y="1691640"/>
            <a:ext cx="365760" cy="41148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3</a:t>
            </a:r>
            <a:endParaRPr lang="en-US" sz="1300" dirty="0"/>
          </a:p>
        </p:txBody>
      </p:sp>
      <p:sp>
        <p:nvSpPr>
          <p:cNvPr id="11" name="Text 9"/>
          <p:cNvSpPr txBox="1"/>
          <p:nvPr/>
        </p:nvSpPr>
        <p:spPr>
          <a:xfrm>
            <a:off x="5303520" y="2377440"/>
            <a:ext cx="1005840" cy="4114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Replica B</a:t>
            </a:r>
            <a:endParaRPr lang="en-US" sz="1300" dirty="0"/>
          </a:p>
        </p:txBody>
      </p:sp>
      <p:sp>
        <p:nvSpPr>
          <p:cNvPr id="12" name="Queue B"/>
          <p:cNvSpPr/>
          <p:nvPr/>
        </p:nvSpPr>
        <p:spPr>
          <a:xfrm>
            <a:off x="6355080" y="2423160"/>
            <a:ext cx="502920" cy="320040"/>
          </a:xfrm>
          <a:prstGeom prst="rect">
            <a:avLst/>
          </a:prstGeom>
          <a:solidFill>
            <a:schemeClr val="accent1"/>
          </a:solidFill>
          <a:ln w="12700">
            <a:solidFill>
              <a:schemeClr val="accent1"/>
            </a:solidFill>
            <a:prstDash val="solid"/>
          </a:ln>
        </p:spPr>
      </p:sp>
      <p:sp>
        <p:nvSpPr>
          <p:cNvPr id="13" name="Text 11"/>
          <p:cNvSpPr txBox="1"/>
          <p:nvPr/>
        </p:nvSpPr>
        <p:spPr>
          <a:xfrm>
            <a:off x="6949440" y="2377440"/>
            <a:ext cx="365760" cy="41148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1</a:t>
            </a:r>
            <a:endParaRPr lang="en-US" sz="1300" dirty="0"/>
          </a:p>
        </p:txBody>
      </p:sp>
      <p:sp>
        <p:nvSpPr>
          <p:cNvPr id="14" name="Text 12"/>
          <p:cNvSpPr txBox="1"/>
          <p:nvPr/>
        </p:nvSpPr>
        <p:spPr>
          <a:xfrm>
            <a:off x="5303520" y="3063240"/>
            <a:ext cx="1005840" cy="4114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Replica C</a:t>
            </a:r>
            <a:endParaRPr lang="en-US" sz="1300" dirty="0"/>
          </a:p>
        </p:txBody>
      </p:sp>
      <p:sp>
        <p:nvSpPr>
          <p:cNvPr id="15" name="Queue C"/>
          <p:cNvSpPr/>
          <p:nvPr/>
        </p:nvSpPr>
        <p:spPr>
          <a:xfrm>
            <a:off x="6355080" y="3108960"/>
            <a:ext cx="1005840" cy="320040"/>
          </a:xfrm>
          <a:prstGeom prst="rect">
            <a:avLst/>
          </a:prstGeom>
          <a:solidFill>
            <a:schemeClr val="accent4"/>
          </a:solidFill>
          <a:ln w="12700">
            <a:solidFill>
              <a:schemeClr val="accent4"/>
            </a:solidFill>
            <a:prstDash val="solid"/>
          </a:ln>
        </p:spPr>
      </p:sp>
      <p:sp>
        <p:nvSpPr>
          <p:cNvPr id="16" name="Text 14"/>
          <p:cNvSpPr txBox="1"/>
          <p:nvPr/>
        </p:nvSpPr>
        <p:spPr>
          <a:xfrm>
            <a:off x="7452360" y="3063240"/>
            <a:ext cx="365760" cy="41148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2</a:t>
            </a:r>
            <a:endParaRPr lang="en-US" sz="1300" dirty="0"/>
          </a:p>
        </p:txBody>
      </p:sp>
      <p:sp>
        <p:nvSpPr>
          <p:cNvPr id="17" name="Text 15"/>
          <p:cNvSpPr txBox="1"/>
          <p:nvPr/>
        </p:nvSpPr>
        <p:spPr>
          <a:xfrm>
            <a:off x="5303520" y="3749040"/>
            <a:ext cx="1005840" cy="4114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Replica D</a:t>
            </a:r>
            <a:endParaRPr lang="en-US" sz="1300" dirty="0"/>
          </a:p>
        </p:txBody>
      </p:sp>
      <p:sp>
        <p:nvSpPr>
          <p:cNvPr id="18" name="Queue D"/>
          <p:cNvSpPr/>
          <p:nvPr/>
        </p:nvSpPr>
        <p:spPr>
          <a:xfrm>
            <a:off x="6355080" y="3794760"/>
            <a:ext cx="2011680" cy="320040"/>
          </a:xfrm>
          <a:prstGeom prst="rect">
            <a:avLst/>
          </a:prstGeom>
          <a:solidFill>
            <a:schemeClr val="accent4"/>
          </a:solidFill>
          <a:ln w="12700">
            <a:solidFill>
              <a:schemeClr val="accent4"/>
            </a:solidFill>
            <a:prstDash val="solid"/>
          </a:ln>
        </p:spPr>
      </p:sp>
      <p:sp>
        <p:nvSpPr>
          <p:cNvPr id="19" name="Text 17"/>
          <p:cNvSpPr txBox="1"/>
          <p:nvPr/>
        </p:nvSpPr>
        <p:spPr>
          <a:xfrm>
            <a:off x="8458200" y="3749040"/>
            <a:ext cx="365760" cy="41148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5303520" y="4251960"/>
            <a:ext cx="3200400" cy="3657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The next request goes to replica B, the shortest queue.</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swiftserve</a:t>
            </a:r>
            <a:endParaRPr lang="en-US" sz="3200" dirty="0"/>
          </a:p>
        </p:txBody>
      </p:sp>
      <p:sp>
        <p:nvSpPr>
          <p:cNvPr id="3" name="Code reference"/>
          <p:cNvSpPr/>
          <p:nvPr/>
        </p:nvSpPr>
        <p:spPr>
          <a:xfrm>
            <a:off x="457200" y="1097280"/>
            <a:ext cx="2377440" cy="310896"/>
          </a:xfrm>
          <a:prstGeom prst="roundRect">
            <a:avLst>
              <a:gd name="adj" fmla="val 14706"/>
            </a:avLst>
          </a:prstGeom>
          <a:solidFill>
            <a:schemeClr val="tx1"/>
          </a:solidFill>
          <a:ln w="12700">
            <a:solidFill>
              <a:schemeClr val="tx1"/>
            </a:solidFill>
            <a:prstDash val="solid"/>
          </a:ln>
        </p:spPr>
      </p:sp>
      <p:sp>
        <p:nvSpPr>
          <p:cNvPr id="4" name="Text 2"/>
          <p:cNvSpPr txBox="1"/>
          <p:nvPr/>
        </p:nvSpPr>
        <p:spPr>
          <a:xfrm>
            <a:off x="457200" y="1097280"/>
            <a:ext cx="2377440" cy="310896"/>
          </a:xfrm>
          <a:prstGeom prst="rect">
            <a:avLst/>
          </a:prstGeom>
          <a:noFill/>
          <a:ln/>
        </p:spPr>
        <p:txBody>
          <a:bodyPr wrap="square" lIns="0" tIns="0" rIns="0" bIns="0" rtlCol="0" anchor="ctr"/>
          <a:lstStyle/>
          <a:p>
            <a:pPr algn="ctr" indent="0" marL="0">
              <a:buNone/>
            </a:pPr>
            <a:r>
              <a:rPr lang="en-US" sz="1100" dirty="0">
                <a:solidFill>
                  <a:schemeClr val="bg1"/>
                </a:solidFill>
                <a:latin typeface="Courier New" pitchFamily="34" charset="0"/>
                <a:ea typeface="Courier New" pitchFamily="34" charset="-122"/>
                <a:cs typeface="Courier New" pitchFamily="34" charset="-120"/>
              </a:rPr>
              <a:t>SwiftServePolicy.select</a:t>
            </a:r>
            <a:endParaRPr lang="en-US" sz="1100" dirty="0"/>
          </a:p>
        </p:txBody>
      </p:sp>
      <p:sp>
        <p:nvSpPr>
          <p:cNvPr id="5" name="Number 1"/>
          <p:cNvSpPr/>
          <p:nvPr/>
        </p:nvSpPr>
        <p:spPr>
          <a:xfrm>
            <a:off x="457200" y="1719072"/>
            <a:ext cx="420624" cy="420624"/>
          </a:xfrm>
          <a:prstGeom prst="ellipse">
            <a:avLst/>
          </a:prstGeom>
          <a:solidFill>
            <a:schemeClr val="accent1"/>
          </a:solidFill>
          <a:ln w="12700">
            <a:solidFill>
              <a:schemeClr val="accent1"/>
            </a:solidFill>
            <a:prstDash val="solid"/>
          </a:ln>
        </p:spPr>
      </p:sp>
      <p:sp>
        <p:nvSpPr>
          <p:cNvPr id="6" name="Text 4"/>
          <p:cNvSpPr txBox="1"/>
          <p:nvPr/>
        </p:nvSpPr>
        <p:spPr>
          <a:xfrm>
            <a:off x="457200" y="171907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097280" y="1600200"/>
            <a:ext cx="1737360" cy="8229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Session owner</a:t>
            </a:r>
            <a:endParaRPr lang="en-US" sz="1500" dirty="0"/>
          </a:p>
        </p:txBody>
      </p:sp>
      <p:sp>
        <p:nvSpPr>
          <p:cNvPr id="8" name="Text 6"/>
          <p:cNvSpPr txBox="1"/>
          <p:nvPr/>
        </p:nvSpPr>
        <p:spPr>
          <a:xfrm>
            <a:off x="2926080" y="1600200"/>
            <a:ext cx="3383280" cy="86868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Does a replica hold this session's warm cache, and is its estimated latency within the response-time target?</a:t>
            </a:r>
            <a:endParaRPr lang="en-US" sz="1300" dirty="0"/>
          </a:p>
        </p:txBody>
      </p:sp>
      <p:sp>
        <p:nvSpPr>
          <p:cNvPr id="9" name="Result 1"/>
          <p:cNvSpPr/>
          <p:nvPr/>
        </p:nvSpPr>
        <p:spPr>
          <a:xfrm>
            <a:off x="6492240" y="1645920"/>
            <a:ext cx="2194560" cy="777240"/>
          </a:xfrm>
          <a:prstGeom prst="roundRect">
            <a:avLst>
              <a:gd name="adj" fmla="val 7059"/>
            </a:avLst>
          </a:prstGeom>
          <a:solidFill>
            <a:schemeClr val="accent1"/>
          </a:solidFill>
          <a:ln w="12700">
            <a:solidFill>
              <a:schemeClr val="accent1"/>
            </a:solidFill>
            <a:prstDash val="solid"/>
          </a:ln>
        </p:spPr>
      </p:sp>
      <p:sp>
        <p:nvSpPr>
          <p:cNvPr id="10" name="Text 8"/>
          <p:cNvSpPr txBox="1"/>
          <p:nvPr/>
        </p:nvSpPr>
        <p:spPr>
          <a:xfrm>
            <a:off x="6537960" y="1645920"/>
            <a:ext cx="2103120" cy="77724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Yes: route to the owner (session_affinity)</a:t>
            </a:r>
            <a:endParaRPr lang="en-US" sz="1200" dirty="0"/>
          </a:p>
        </p:txBody>
      </p:sp>
      <p:sp>
        <p:nvSpPr>
          <p:cNvPr id="11" name="Number 2"/>
          <p:cNvSpPr/>
          <p:nvPr/>
        </p:nvSpPr>
        <p:spPr>
          <a:xfrm>
            <a:off x="457200" y="2816352"/>
            <a:ext cx="420624" cy="420624"/>
          </a:xfrm>
          <a:prstGeom prst="ellipse">
            <a:avLst/>
          </a:prstGeom>
          <a:solidFill>
            <a:schemeClr val="accent1"/>
          </a:solidFill>
          <a:ln w="12700">
            <a:solidFill>
              <a:schemeClr val="accent1"/>
            </a:solidFill>
            <a:prstDash val="solid"/>
          </a:ln>
        </p:spPr>
      </p:sp>
      <p:sp>
        <p:nvSpPr>
          <p:cNvPr id="12" name="Text 10"/>
          <p:cNvSpPr txBox="1"/>
          <p:nvPr/>
        </p:nvSpPr>
        <p:spPr>
          <a:xfrm>
            <a:off x="457200" y="281635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097280" y="2697480"/>
            <a:ext cx="1737360" cy="8229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Message prefix</a:t>
            </a:r>
            <a:endParaRPr lang="en-US" sz="1500" dirty="0"/>
          </a:p>
        </p:txBody>
      </p:sp>
      <p:sp>
        <p:nvSpPr>
          <p:cNvPr id="14" name="Text 12"/>
          <p:cNvSpPr txBox="1"/>
          <p:nvPr/>
        </p:nvSpPr>
        <p:spPr>
          <a:xfrm>
            <a:off x="2926080" y="2697480"/>
            <a:ext cx="3383280" cy="86868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Does the trie show an earlier request on some replica that shares at least 2 whole messages, within the target?</a:t>
            </a:r>
            <a:endParaRPr lang="en-US" sz="1300" dirty="0"/>
          </a:p>
        </p:txBody>
      </p:sp>
      <p:sp>
        <p:nvSpPr>
          <p:cNvPr id="15" name="Result 2"/>
          <p:cNvSpPr/>
          <p:nvPr/>
        </p:nvSpPr>
        <p:spPr>
          <a:xfrm>
            <a:off x="6492240" y="2743200"/>
            <a:ext cx="2194560" cy="777240"/>
          </a:xfrm>
          <a:prstGeom prst="roundRect">
            <a:avLst>
              <a:gd name="adj" fmla="val 7059"/>
            </a:avLst>
          </a:prstGeom>
          <a:solidFill>
            <a:schemeClr val="accent1"/>
          </a:solidFill>
          <a:ln w="12700">
            <a:solidFill>
              <a:schemeClr val="accent1"/>
            </a:solidFill>
            <a:prstDash val="solid"/>
          </a:ln>
        </p:spPr>
      </p:sp>
      <p:sp>
        <p:nvSpPr>
          <p:cNvPr id="16" name="Text 14"/>
          <p:cNvSpPr txBox="1"/>
          <p:nvPr/>
        </p:nvSpPr>
        <p:spPr>
          <a:xfrm>
            <a:off x="6537960" y="2743200"/>
            <a:ext cx="2103120" cy="77724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Yes: route there (prefix_trie)</a:t>
            </a:r>
            <a:endParaRPr lang="en-US" sz="1200" dirty="0"/>
          </a:p>
        </p:txBody>
      </p:sp>
      <p:sp>
        <p:nvSpPr>
          <p:cNvPr id="17" name="Number 3"/>
          <p:cNvSpPr/>
          <p:nvPr/>
        </p:nvSpPr>
        <p:spPr>
          <a:xfrm>
            <a:off x="457200" y="3913632"/>
            <a:ext cx="420624" cy="420624"/>
          </a:xfrm>
          <a:prstGeom prst="ellipse">
            <a:avLst/>
          </a:prstGeom>
          <a:solidFill>
            <a:schemeClr val="accent1"/>
          </a:solidFill>
          <a:ln w="12700">
            <a:solidFill>
              <a:schemeClr val="accent1"/>
            </a:solidFill>
            <a:prstDash val="solid"/>
          </a:ln>
        </p:spPr>
      </p:sp>
      <p:sp>
        <p:nvSpPr>
          <p:cNvPr id="18" name="Text 16"/>
          <p:cNvSpPr txBox="1"/>
          <p:nvPr/>
        </p:nvSpPr>
        <p:spPr>
          <a:xfrm>
            <a:off x="457200" y="391363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1097280" y="3794760"/>
            <a:ext cx="1737360" cy="8229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Fallback</a:t>
            </a:r>
            <a:endParaRPr lang="en-US" sz="1500" dirty="0"/>
          </a:p>
        </p:txBody>
      </p:sp>
      <p:sp>
        <p:nvSpPr>
          <p:cNvPr id="20" name="Text 18"/>
          <p:cNvSpPr txBox="1"/>
          <p:nvPr/>
        </p:nvSpPr>
        <p:spPr>
          <a:xfrm>
            <a:off x="2926080" y="3794760"/>
            <a:ext cx="3383280" cy="86868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Otherwise: shortest queue, then lowest estimated latency plus a cold-start penalty.</a:t>
            </a:r>
            <a:endParaRPr lang="en-US" sz="1300" dirty="0"/>
          </a:p>
        </p:txBody>
      </p:sp>
      <p:sp>
        <p:nvSpPr>
          <p:cNvPr id="21" name="Result 3"/>
          <p:cNvSpPr/>
          <p:nvPr/>
        </p:nvSpPr>
        <p:spPr>
          <a:xfrm>
            <a:off x="6492240" y="3840480"/>
            <a:ext cx="2194560" cy="777240"/>
          </a:xfrm>
          <a:prstGeom prst="roundRect">
            <a:avLst>
              <a:gd name="adj" fmla="val 7059"/>
            </a:avLst>
          </a:prstGeom>
          <a:solidFill>
            <a:schemeClr val="tx2"/>
          </a:solidFill>
          <a:ln w="12700">
            <a:solidFill>
              <a:schemeClr val="tx2"/>
            </a:solidFill>
            <a:prstDash val="solid"/>
          </a:ln>
        </p:spPr>
      </p:sp>
      <p:sp>
        <p:nvSpPr>
          <p:cNvPr id="22" name="Text 20"/>
          <p:cNvSpPr txBox="1"/>
          <p:nvPr/>
        </p:nvSpPr>
        <p:spPr>
          <a:xfrm>
            <a:off x="6537960" y="3840480"/>
            <a:ext cx="2103120" cy="77724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Route to the least-loaded replica (least_loaded)</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swiftserve: why messages are the wrong unit</a:t>
            </a:r>
            <a:endParaRPr lang="en-US" sz="3200" dirty="0"/>
          </a:p>
        </p:txBody>
      </p:sp>
      <p:sp>
        <p:nvSpPr>
          <p:cNvPr id="3" name="Case A"/>
          <p:cNvSpPr/>
          <p:nvPr/>
        </p:nvSpPr>
        <p:spPr>
          <a:xfrm>
            <a:off x="457200" y="1143000"/>
            <a:ext cx="40233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40080" y="1234440"/>
            <a:ext cx="36576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Case A: shared system prompt only</a:t>
            </a:r>
            <a:endParaRPr lang="en-US" sz="1500" dirty="0"/>
          </a:p>
        </p:txBody>
      </p:sp>
      <p:sp>
        <p:nvSpPr>
          <p:cNvPr id="5" name="Text 3"/>
          <p:cNvSpPr txBox="1"/>
          <p:nvPr/>
        </p:nvSpPr>
        <p:spPr>
          <a:xfrm>
            <a:off x="640080" y="1600200"/>
            <a:ext cx="3657600" cy="10058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Two requests share one 2,000-token system prompt and differ in the user message. Match depth is 1 message, below the minimum of 2, so the match is rejected.</a:t>
            </a:r>
            <a:endParaRPr lang="en-US" sz="1300" dirty="0"/>
          </a:p>
        </p:txBody>
      </p:sp>
      <p:sp>
        <p:nvSpPr>
          <p:cNvPr id="6" name="Case B"/>
          <p:cNvSpPr/>
          <p:nvPr/>
        </p:nvSpPr>
        <p:spPr>
          <a:xfrm>
            <a:off x="4663440" y="1143000"/>
            <a:ext cx="40233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4846320" y="1234440"/>
            <a:ext cx="36576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Case B: two short shared messages</a:t>
            </a:r>
            <a:endParaRPr lang="en-US" sz="1500" dirty="0"/>
          </a:p>
        </p:txBody>
      </p:sp>
      <p:sp>
        <p:nvSpPr>
          <p:cNvPr id="8" name="Text 6"/>
          <p:cNvSpPr txBox="1"/>
          <p:nvPr/>
        </p:nvSpPr>
        <p:spPr>
          <a:xfrm>
            <a:off x="4846320" y="1600200"/>
            <a:ext cx="3657600" cy="10058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Two requests share a short system line and a short greeting. Match depth is 2 messages, so the match is accepted, although almost no tokens can be reused.</a:t>
            </a:r>
            <a:endParaRPr lang="en-US" sz="1300" dirty="0"/>
          </a:p>
        </p:txBody>
      </p:sp>
      <p:sp>
        <p:nvSpPr>
          <p:cNvPr id="9" name="Text 7"/>
          <p:cNvSpPr txBox="1"/>
          <p:nvPr/>
        </p:nvSpPr>
        <p:spPr>
          <a:xfrm>
            <a:off x="457200" y="2926080"/>
            <a:ext cx="822960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Message count has no relation to what the engine can reuse, which is token blocks. This is the finding that motivates prefix_aware.</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In our workload (6 tenants, 8 questions) the same tenant and question pair repeats, so a depth-2 match does happen. That is a likely reason swiftserve reused more cache than the baselines (66% against 52 to 53%). This follows from the code; it was not checked request by request.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prefix_aware: the decision</a:t>
            </a:r>
            <a:endParaRPr lang="en-US" sz="3200" dirty="0"/>
          </a:p>
        </p:txBody>
      </p:sp>
      <p:sp>
        <p:nvSpPr>
          <p:cNvPr id="3" name="Code reference"/>
          <p:cNvSpPr/>
          <p:nvPr/>
        </p:nvSpPr>
        <p:spPr>
          <a:xfrm>
            <a:off x="457200" y="1051560"/>
            <a:ext cx="3657600" cy="310896"/>
          </a:xfrm>
          <a:prstGeom prst="roundRect">
            <a:avLst>
              <a:gd name="adj" fmla="val 14706"/>
            </a:avLst>
          </a:prstGeom>
          <a:solidFill>
            <a:schemeClr val="tx1"/>
          </a:solidFill>
          <a:ln w="12700">
            <a:solidFill>
              <a:schemeClr val="tx1"/>
            </a:solidFill>
            <a:prstDash val="solid"/>
          </a:ln>
        </p:spPr>
      </p:sp>
      <p:sp>
        <p:nvSpPr>
          <p:cNvPr id="4" name="Text 2"/>
          <p:cNvSpPr txBox="1"/>
          <p:nvPr/>
        </p:nvSpPr>
        <p:spPr>
          <a:xfrm>
            <a:off x="457200" y="1051560"/>
            <a:ext cx="3657600" cy="310896"/>
          </a:xfrm>
          <a:prstGeom prst="rect">
            <a:avLst/>
          </a:prstGeom>
          <a:noFill/>
          <a:ln/>
        </p:spPr>
        <p:txBody>
          <a:bodyPr wrap="square" lIns="0" tIns="0" rIns="0" bIns="0" rtlCol="0" anchor="ctr"/>
          <a:lstStyle/>
          <a:p>
            <a:pPr algn="ctr" indent="0" marL="0">
              <a:buNone/>
            </a:pPr>
            <a:r>
              <a:rPr lang="en-US" sz="1100" dirty="0">
                <a:solidFill>
                  <a:schemeClr val="bg1"/>
                </a:solidFill>
                <a:latin typeface="Courier New" pitchFamily="34" charset="0"/>
                <a:ea typeface="Courier New" pitchFamily="34" charset="-122"/>
                <a:cs typeface="Courier New" pitchFamily="34" charset="-120"/>
              </a:rPr>
              <a:t>PrefixAwarePolicy.select_with_prediction</a:t>
            </a:r>
            <a:endParaRPr lang="en-US" sz="1100" dirty="0"/>
          </a:p>
        </p:txBody>
      </p:sp>
      <p:sp>
        <p:nvSpPr>
          <p:cNvPr id="5" name="Number 1"/>
          <p:cNvSpPr/>
          <p:nvPr/>
        </p:nvSpPr>
        <p:spPr>
          <a:xfrm>
            <a:off x="457200" y="1463040"/>
            <a:ext cx="365760" cy="365760"/>
          </a:xfrm>
          <a:prstGeom prst="ellipse">
            <a:avLst/>
          </a:prstGeom>
          <a:solidFill>
            <a:schemeClr val="accent1"/>
          </a:solidFill>
          <a:ln w="12700">
            <a:solidFill>
              <a:schemeClr val="accent1"/>
            </a:solidFill>
            <a:prstDash val="solid"/>
          </a:ln>
        </p:spPr>
      </p:sp>
      <p:sp>
        <p:nvSpPr>
          <p:cNvPr id="6" name="Text 4"/>
          <p:cNvSpPr txBox="1"/>
          <p:nvPr/>
        </p:nvSpPr>
        <p:spPr>
          <a:xfrm>
            <a:off x="457200" y="146304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005840" y="1444752"/>
            <a:ext cx="2011680" cy="4572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Tokenize and hash</a:t>
            </a:r>
            <a:endParaRPr lang="en-US" sz="1400" dirty="0"/>
          </a:p>
        </p:txBody>
      </p:sp>
      <p:sp>
        <p:nvSpPr>
          <p:cNvPr id="8" name="Text 6"/>
          <p:cNvSpPr txBox="1"/>
          <p:nvPr/>
        </p:nvSpPr>
        <p:spPr>
          <a:xfrm>
            <a:off x="3017520" y="1444752"/>
            <a:ext cx="5669280" cy="50292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encode_chat applies the model's chat template; block_hashes cuts the tokens into 16-token blocks and chains their hashes.</a:t>
            </a:r>
            <a:endParaRPr lang="en-US" sz="1200" dirty="0"/>
          </a:p>
        </p:txBody>
      </p:sp>
      <p:sp>
        <p:nvSpPr>
          <p:cNvPr id="9" name="Number 2"/>
          <p:cNvSpPr/>
          <p:nvPr/>
        </p:nvSpPr>
        <p:spPr>
          <a:xfrm>
            <a:off x="457200" y="201168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457200" y="201168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005840" y="1993392"/>
            <a:ext cx="2011680" cy="4572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Look up holders</a:t>
            </a:r>
            <a:endParaRPr lang="en-US" sz="1400" dirty="0"/>
          </a:p>
        </p:txBody>
      </p:sp>
      <p:sp>
        <p:nvSpPr>
          <p:cNvPr id="12" name="Text 10"/>
          <p:cNvSpPr txBox="1"/>
          <p:nvPr/>
        </p:nvSpPr>
        <p:spPr>
          <a:xfrm>
            <a:off x="3017520" y="1993392"/>
            <a:ext cx="5669280" cy="50292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index.match returns, for each replica, how many leading blocks it holds.</a:t>
            </a:r>
            <a:endParaRPr lang="en-US" sz="1200" dirty="0"/>
          </a:p>
        </p:txBody>
      </p:sp>
      <p:sp>
        <p:nvSpPr>
          <p:cNvPr id="13" name="Number 3"/>
          <p:cNvSpPr/>
          <p:nvPr/>
        </p:nvSpPr>
        <p:spPr>
          <a:xfrm>
            <a:off x="457200" y="2560320"/>
            <a:ext cx="365760" cy="365760"/>
          </a:xfrm>
          <a:prstGeom prst="ellipse">
            <a:avLst/>
          </a:prstGeom>
          <a:solidFill>
            <a:schemeClr val="accent1"/>
          </a:solidFill>
          <a:ln w="12700">
            <a:solidFill>
              <a:schemeClr val="accent1"/>
            </a:solidFill>
            <a:prstDash val="solid"/>
          </a:ln>
        </p:spPr>
      </p:sp>
      <p:sp>
        <p:nvSpPr>
          <p:cNvPr id="14" name="Text 12"/>
          <p:cNvSpPr txBox="1"/>
          <p:nvPr/>
        </p:nvSpPr>
        <p:spPr>
          <a:xfrm>
            <a:off x="457200" y="256032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005840" y="2542032"/>
            <a:ext cx="2011680" cy="4572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Check eligibility</a:t>
            </a:r>
            <a:endParaRPr lang="en-US" sz="1400" dirty="0"/>
          </a:p>
        </p:txBody>
      </p:sp>
      <p:sp>
        <p:nvSpPr>
          <p:cNvPr id="16" name="Text 14"/>
          <p:cNvSpPr txBox="1"/>
          <p:nvPr/>
        </p:nvSpPr>
        <p:spPr>
          <a:xfrm>
            <a:off x="3017520" y="2542032"/>
            <a:ext cx="5669280" cy="50292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Eligible if the match covers at least 50% of the prompt blocks, or at least 256 tokens.</a:t>
            </a:r>
            <a:endParaRPr lang="en-US" sz="1200" dirty="0"/>
          </a:p>
        </p:txBody>
      </p:sp>
      <p:sp>
        <p:nvSpPr>
          <p:cNvPr id="17" name="Number 4"/>
          <p:cNvSpPr/>
          <p:nvPr/>
        </p:nvSpPr>
        <p:spPr>
          <a:xfrm>
            <a:off x="457200" y="3108960"/>
            <a:ext cx="365760" cy="365760"/>
          </a:xfrm>
          <a:prstGeom prst="ellipse">
            <a:avLst/>
          </a:prstGeom>
          <a:solidFill>
            <a:schemeClr val="accent1"/>
          </a:solidFill>
          <a:ln w="12700">
            <a:solidFill>
              <a:schemeClr val="accent1"/>
            </a:solidFill>
            <a:prstDash val="solid"/>
          </a:ln>
        </p:spPr>
      </p:sp>
      <p:sp>
        <p:nvSpPr>
          <p:cNvPr id="18" name="Text 16"/>
          <p:cNvSpPr txBox="1"/>
          <p:nvPr/>
        </p:nvSpPr>
        <p:spPr>
          <a:xfrm>
            <a:off x="457200" y="310896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9" name="Text 17"/>
          <p:cNvSpPr txBox="1"/>
          <p:nvPr/>
        </p:nvSpPr>
        <p:spPr>
          <a:xfrm>
            <a:off x="1005840" y="3090672"/>
            <a:ext cx="2011680" cy="4572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Take the best</a:t>
            </a:r>
            <a:endParaRPr lang="en-US" sz="1400" dirty="0"/>
          </a:p>
        </p:txBody>
      </p:sp>
      <p:sp>
        <p:nvSpPr>
          <p:cNvPr id="20" name="Text 18"/>
          <p:cNvSpPr txBox="1"/>
          <p:nvPr/>
        </p:nvSpPr>
        <p:spPr>
          <a:xfrm>
            <a:off x="3017520" y="3090672"/>
            <a:ext cx="5669280" cy="50292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Longest match wins. Ties go to the shorter queue, then the lower replica id.</a:t>
            </a:r>
            <a:endParaRPr lang="en-US" sz="1200" dirty="0"/>
          </a:p>
        </p:txBody>
      </p:sp>
      <p:sp>
        <p:nvSpPr>
          <p:cNvPr id="21" name="Number 5"/>
          <p:cNvSpPr/>
          <p:nvPr/>
        </p:nvSpPr>
        <p:spPr>
          <a:xfrm>
            <a:off x="457200" y="3657600"/>
            <a:ext cx="365760" cy="365760"/>
          </a:xfrm>
          <a:prstGeom prst="ellipse">
            <a:avLst/>
          </a:prstGeom>
          <a:solidFill>
            <a:schemeClr val="accent1"/>
          </a:solidFill>
          <a:ln w="12700">
            <a:solidFill>
              <a:schemeClr val="accent1"/>
            </a:solidFill>
            <a:prstDash val="solid"/>
          </a:ln>
        </p:spPr>
      </p:sp>
      <p:sp>
        <p:nvSpPr>
          <p:cNvPr id="22" name="Text 20"/>
          <p:cNvSpPr txBox="1"/>
          <p:nvPr/>
        </p:nvSpPr>
        <p:spPr>
          <a:xfrm>
            <a:off x="457200" y="365760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3" name="Text 21"/>
          <p:cNvSpPr txBox="1"/>
          <p:nvPr/>
        </p:nvSpPr>
        <p:spPr>
          <a:xfrm>
            <a:off x="1005840" y="3639312"/>
            <a:ext cx="2011680" cy="4572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Check the target</a:t>
            </a:r>
            <a:endParaRPr lang="en-US" sz="1400" dirty="0"/>
          </a:p>
        </p:txBody>
      </p:sp>
      <p:sp>
        <p:nvSpPr>
          <p:cNvPr id="24" name="Text 22"/>
          <p:cNvSpPr txBox="1"/>
          <p:nvPr/>
        </p:nvSpPr>
        <p:spPr>
          <a:xfrm>
            <a:off x="3017520" y="3639312"/>
            <a:ext cx="5669280" cy="50292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If the winner's latency estimate is within the SLA, route there. Otherwise fall back to the least-loaded replica.</a:t>
            </a:r>
            <a:endParaRPr lang="en-US" sz="1200" dirty="0"/>
          </a:p>
        </p:txBody>
      </p:sp>
      <p:sp>
        <p:nvSpPr>
          <p:cNvPr id="25" name="Number 6"/>
          <p:cNvSpPr/>
          <p:nvPr/>
        </p:nvSpPr>
        <p:spPr>
          <a:xfrm>
            <a:off x="457200" y="4206240"/>
            <a:ext cx="365760" cy="365760"/>
          </a:xfrm>
          <a:prstGeom prst="ellipse">
            <a:avLst/>
          </a:prstGeom>
          <a:solidFill>
            <a:schemeClr val="accent1"/>
          </a:solidFill>
          <a:ln w="12700">
            <a:solidFill>
              <a:schemeClr val="accent1"/>
            </a:solidFill>
            <a:prstDash val="solid"/>
          </a:ln>
        </p:spPr>
      </p:sp>
      <p:sp>
        <p:nvSpPr>
          <p:cNvPr id="26" name="Text 24"/>
          <p:cNvSpPr txBox="1"/>
          <p:nvPr/>
        </p:nvSpPr>
        <p:spPr>
          <a:xfrm>
            <a:off x="457200" y="420624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7" name="Text 25"/>
          <p:cNvSpPr txBox="1"/>
          <p:nvPr/>
        </p:nvSpPr>
        <p:spPr>
          <a:xfrm>
            <a:off x="1005840" y="4187952"/>
            <a:ext cx="2011680" cy="4572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Record the belief</a:t>
            </a:r>
            <a:endParaRPr lang="en-US" sz="1400" dirty="0"/>
          </a:p>
        </p:txBody>
      </p:sp>
      <p:sp>
        <p:nvSpPr>
          <p:cNvPr id="28" name="Text 26"/>
          <p:cNvSpPr txBox="1"/>
          <p:nvPr/>
        </p:nvSpPr>
        <p:spPr>
          <a:xfrm>
            <a:off x="3017520" y="4187952"/>
            <a:ext cx="5669280" cy="50292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The prompt's hashes are inserted for the chosen replica at once, before the response.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prefix_aware: chained block hashes</a:t>
            </a:r>
            <a:endParaRPr lang="en-US" sz="3200" dirty="0"/>
          </a:p>
        </p:txBody>
      </p:sp>
      <p:sp>
        <p:nvSpPr>
          <p:cNvPr id="3" name="Code reference"/>
          <p:cNvSpPr/>
          <p:nvPr/>
        </p:nvSpPr>
        <p:spPr>
          <a:xfrm>
            <a:off x="457200" y="1051560"/>
            <a:ext cx="2468880" cy="310896"/>
          </a:xfrm>
          <a:prstGeom prst="roundRect">
            <a:avLst>
              <a:gd name="adj" fmla="val 14706"/>
            </a:avLst>
          </a:prstGeom>
          <a:solidFill>
            <a:schemeClr val="tx1"/>
          </a:solidFill>
          <a:ln w="12700">
            <a:solidFill>
              <a:schemeClr val="tx1"/>
            </a:solidFill>
            <a:prstDash val="solid"/>
          </a:ln>
        </p:spPr>
      </p:sp>
      <p:sp>
        <p:nvSpPr>
          <p:cNvPr id="4" name="Text 2"/>
          <p:cNvSpPr txBox="1"/>
          <p:nvPr/>
        </p:nvSpPr>
        <p:spPr>
          <a:xfrm>
            <a:off x="457200" y="1051560"/>
            <a:ext cx="2468880" cy="310896"/>
          </a:xfrm>
          <a:prstGeom prst="rect">
            <a:avLst/>
          </a:prstGeom>
          <a:noFill/>
          <a:ln/>
        </p:spPr>
        <p:txBody>
          <a:bodyPr wrap="square" lIns="0" tIns="0" rIns="0" bIns="0" rtlCol="0" anchor="ctr"/>
          <a:lstStyle/>
          <a:p>
            <a:pPr algn="ctr" indent="0" marL="0">
              <a:buNone/>
            </a:pPr>
            <a:r>
              <a:rPr lang="en-US" sz="1100" dirty="0">
                <a:solidFill>
                  <a:schemeClr val="bg1"/>
                </a:solidFill>
                <a:latin typeface="Courier New" pitchFamily="34" charset="0"/>
                <a:ea typeface="Courier New" pitchFamily="34" charset="-122"/>
                <a:cs typeface="Courier New" pitchFamily="34" charset="-120"/>
              </a:rPr>
              <a:t>swiftserve/prefix_index.py</a:t>
            </a:r>
            <a:endParaRPr lang="en-US" sz="1100" dirty="0"/>
          </a:p>
        </p:txBody>
      </p:sp>
      <p:sp>
        <p:nvSpPr>
          <p:cNvPr id="5" name="Block 0"/>
          <p:cNvSpPr/>
          <p:nvPr/>
        </p:nvSpPr>
        <p:spPr>
          <a:xfrm>
            <a:off x="457200" y="1463040"/>
            <a:ext cx="1828800" cy="502920"/>
          </a:xfrm>
          <a:prstGeom prst="roundRect">
            <a:avLst>
              <a:gd name="adj" fmla="val 10909"/>
            </a:avLst>
          </a:prstGeom>
          <a:solidFill>
            <a:schemeClr val="bg2"/>
          </a:solidFill>
          <a:ln w="12700">
            <a:solidFill>
              <a:schemeClr val="accent4"/>
            </a:solidFill>
            <a:prstDash val="solid"/>
          </a:ln>
        </p:spPr>
      </p:sp>
      <p:sp>
        <p:nvSpPr>
          <p:cNvPr id="6" name="Text 4"/>
          <p:cNvSpPr txBox="1"/>
          <p:nvPr/>
        </p:nvSpPr>
        <p:spPr>
          <a:xfrm>
            <a:off x="457200" y="1463040"/>
            <a:ext cx="1828800"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Block 0: 16 tokens</a:t>
            </a:r>
            <a:endParaRPr lang="en-US" sz="1300" dirty="0"/>
          </a:p>
        </p:txBody>
      </p:sp>
      <p:sp>
        <p:nvSpPr>
          <p:cNvPr id="7" name="Hash 0"/>
          <p:cNvSpPr/>
          <p:nvPr/>
        </p:nvSpPr>
        <p:spPr>
          <a:xfrm>
            <a:off x="457200" y="2194560"/>
            <a:ext cx="1828800" cy="502920"/>
          </a:xfrm>
          <a:prstGeom prst="roundRect">
            <a:avLst>
              <a:gd name="adj" fmla="val 10909"/>
            </a:avLst>
          </a:prstGeom>
          <a:solidFill>
            <a:schemeClr val="accent1"/>
          </a:solidFill>
          <a:ln w="12700">
            <a:solidFill>
              <a:schemeClr val="accent1"/>
            </a:solidFill>
            <a:prstDash val="solid"/>
          </a:ln>
        </p:spPr>
      </p:sp>
      <p:sp>
        <p:nvSpPr>
          <p:cNvPr id="8" name="Text 6"/>
          <p:cNvSpPr txBox="1"/>
          <p:nvPr/>
        </p:nvSpPr>
        <p:spPr>
          <a:xfrm>
            <a:off x="457200" y="2194560"/>
            <a:ext cx="1828800" cy="502920"/>
          </a:xfrm>
          <a:prstGeom prst="rect">
            <a:avLst/>
          </a:prstGeom>
          <a:noFill/>
          <a:ln/>
        </p:spPr>
        <p:txBody>
          <a:bodyPr wrap="square" lIns="0" tIns="0" rIns="0" bIns="0" rtlCol="0" anchor="ctr"/>
          <a:lstStyle/>
          <a:p>
            <a:pPr algn="ctr" indent="0" marL="0">
              <a:buNone/>
            </a:pPr>
            <a:r>
              <a:rPr lang="en-US" sz="1100" dirty="0">
                <a:solidFill>
                  <a:schemeClr val="bg1"/>
                </a:solidFill>
                <a:latin typeface="Courier New" pitchFamily="34" charset="0"/>
                <a:ea typeface="Courier New" pitchFamily="34" charset="-122"/>
                <a:cs typeface="Courier New" pitchFamily="34" charset="-120"/>
              </a:rPr>
              <a:t>h0 = H(namespace, b0)</a:t>
            </a:r>
            <a:endParaRPr lang="en-US" sz="1100" dirty="0"/>
          </a:p>
        </p:txBody>
      </p:sp>
      <p:sp>
        <p:nvSpPr>
          <p:cNvPr id="9" name="Hash arrow 0"/>
          <p:cNvSpPr/>
          <p:nvPr/>
        </p:nvSpPr>
        <p:spPr>
          <a:xfrm>
            <a:off x="1371600" y="1965960"/>
            <a:ext cx="0" cy="228600"/>
          </a:xfrm>
          <a:prstGeom prst="line">
            <a:avLst/>
          </a:prstGeom>
          <a:noFill/>
          <a:ln w="22225">
            <a:solidFill>
              <a:schemeClr val="accent4"/>
            </a:solidFill>
            <a:prstDash val="solid"/>
            <a:tailEnd type="triangle"/>
          </a:ln>
        </p:spPr>
      </p:sp>
      <p:sp>
        <p:nvSpPr>
          <p:cNvPr id="10" name="Block 1"/>
          <p:cNvSpPr/>
          <p:nvPr/>
        </p:nvSpPr>
        <p:spPr>
          <a:xfrm>
            <a:off x="2542032" y="1463040"/>
            <a:ext cx="1828800" cy="502920"/>
          </a:xfrm>
          <a:prstGeom prst="roundRect">
            <a:avLst>
              <a:gd name="adj" fmla="val 10909"/>
            </a:avLst>
          </a:prstGeom>
          <a:solidFill>
            <a:schemeClr val="bg2"/>
          </a:solidFill>
          <a:ln w="12700">
            <a:solidFill>
              <a:schemeClr val="accent4"/>
            </a:solidFill>
            <a:prstDash val="solid"/>
          </a:ln>
        </p:spPr>
      </p:sp>
      <p:sp>
        <p:nvSpPr>
          <p:cNvPr id="11" name="Text 9"/>
          <p:cNvSpPr txBox="1"/>
          <p:nvPr/>
        </p:nvSpPr>
        <p:spPr>
          <a:xfrm>
            <a:off x="2542032" y="1463040"/>
            <a:ext cx="1828800"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Block 1: 16 tokens</a:t>
            </a:r>
            <a:endParaRPr lang="en-US" sz="1300" dirty="0"/>
          </a:p>
        </p:txBody>
      </p:sp>
      <p:sp>
        <p:nvSpPr>
          <p:cNvPr id="12" name="Hash 1"/>
          <p:cNvSpPr/>
          <p:nvPr/>
        </p:nvSpPr>
        <p:spPr>
          <a:xfrm>
            <a:off x="2542032" y="2194560"/>
            <a:ext cx="1828800" cy="502920"/>
          </a:xfrm>
          <a:prstGeom prst="roundRect">
            <a:avLst>
              <a:gd name="adj" fmla="val 10909"/>
            </a:avLst>
          </a:prstGeom>
          <a:solidFill>
            <a:schemeClr val="tx1"/>
          </a:solidFill>
          <a:ln w="12700">
            <a:solidFill>
              <a:schemeClr val="tx1"/>
            </a:solidFill>
            <a:prstDash val="solid"/>
          </a:ln>
        </p:spPr>
      </p:sp>
      <p:sp>
        <p:nvSpPr>
          <p:cNvPr id="13" name="Text 11"/>
          <p:cNvSpPr txBox="1"/>
          <p:nvPr/>
        </p:nvSpPr>
        <p:spPr>
          <a:xfrm>
            <a:off x="2542032" y="2194560"/>
            <a:ext cx="1828800" cy="502920"/>
          </a:xfrm>
          <a:prstGeom prst="rect">
            <a:avLst/>
          </a:prstGeom>
          <a:noFill/>
          <a:ln/>
        </p:spPr>
        <p:txBody>
          <a:bodyPr wrap="square" lIns="0" tIns="0" rIns="0" bIns="0" rtlCol="0" anchor="ctr"/>
          <a:lstStyle/>
          <a:p>
            <a:pPr algn="ctr" indent="0" marL="0">
              <a:buNone/>
            </a:pPr>
            <a:r>
              <a:rPr lang="en-US" sz="1100" dirty="0">
                <a:solidFill>
                  <a:schemeClr val="bg1"/>
                </a:solidFill>
                <a:latin typeface="Courier New" pitchFamily="34" charset="0"/>
                <a:ea typeface="Courier New" pitchFamily="34" charset="-122"/>
                <a:cs typeface="Courier New" pitchFamily="34" charset="-120"/>
              </a:rPr>
              <a:t>h1 = H(h0, b1)</a:t>
            </a:r>
            <a:endParaRPr lang="en-US" sz="1100" dirty="0"/>
          </a:p>
        </p:txBody>
      </p:sp>
      <p:sp>
        <p:nvSpPr>
          <p:cNvPr id="14" name="Hash arrow 1"/>
          <p:cNvSpPr/>
          <p:nvPr/>
        </p:nvSpPr>
        <p:spPr>
          <a:xfrm>
            <a:off x="3456432" y="1965960"/>
            <a:ext cx="0" cy="228600"/>
          </a:xfrm>
          <a:prstGeom prst="line">
            <a:avLst/>
          </a:prstGeom>
          <a:noFill/>
          <a:ln w="22225">
            <a:solidFill>
              <a:schemeClr val="accent4"/>
            </a:solidFill>
            <a:prstDash val="solid"/>
            <a:tailEnd type="triangle"/>
          </a:ln>
        </p:spPr>
      </p:sp>
      <p:sp>
        <p:nvSpPr>
          <p:cNvPr id="15" name="Block 2"/>
          <p:cNvSpPr/>
          <p:nvPr/>
        </p:nvSpPr>
        <p:spPr>
          <a:xfrm>
            <a:off x="4626864" y="1463040"/>
            <a:ext cx="1828800" cy="502920"/>
          </a:xfrm>
          <a:prstGeom prst="roundRect">
            <a:avLst>
              <a:gd name="adj" fmla="val 10909"/>
            </a:avLst>
          </a:prstGeom>
          <a:solidFill>
            <a:schemeClr val="bg2"/>
          </a:solidFill>
          <a:ln w="12700">
            <a:solidFill>
              <a:schemeClr val="accent4"/>
            </a:solidFill>
            <a:prstDash val="solid"/>
          </a:ln>
        </p:spPr>
      </p:sp>
      <p:sp>
        <p:nvSpPr>
          <p:cNvPr id="16" name="Text 14"/>
          <p:cNvSpPr txBox="1"/>
          <p:nvPr/>
        </p:nvSpPr>
        <p:spPr>
          <a:xfrm>
            <a:off x="4626864" y="1463040"/>
            <a:ext cx="1828800"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Block 2: 16 tokens</a:t>
            </a:r>
            <a:endParaRPr lang="en-US" sz="1300" dirty="0"/>
          </a:p>
        </p:txBody>
      </p:sp>
      <p:sp>
        <p:nvSpPr>
          <p:cNvPr id="17" name="Hash 2"/>
          <p:cNvSpPr/>
          <p:nvPr/>
        </p:nvSpPr>
        <p:spPr>
          <a:xfrm>
            <a:off x="4626864" y="2194560"/>
            <a:ext cx="1828800" cy="502920"/>
          </a:xfrm>
          <a:prstGeom prst="roundRect">
            <a:avLst>
              <a:gd name="adj" fmla="val 10909"/>
            </a:avLst>
          </a:prstGeom>
          <a:solidFill>
            <a:schemeClr val="tx1"/>
          </a:solidFill>
          <a:ln w="12700">
            <a:solidFill>
              <a:schemeClr val="tx1"/>
            </a:solidFill>
            <a:prstDash val="solid"/>
          </a:ln>
        </p:spPr>
      </p:sp>
      <p:sp>
        <p:nvSpPr>
          <p:cNvPr id="18" name="Text 16"/>
          <p:cNvSpPr txBox="1"/>
          <p:nvPr/>
        </p:nvSpPr>
        <p:spPr>
          <a:xfrm>
            <a:off x="4626864" y="2194560"/>
            <a:ext cx="1828800" cy="502920"/>
          </a:xfrm>
          <a:prstGeom prst="rect">
            <a:avLst/>
          </a:prstGeom>
          <a:noFill/>
          <a:ln/>
        </p:spPr>
        <p:txBody>
          <a:bodyPr wrap="square" lIns="0" tIns="0" rIns="0" bIns="0" rtlCol="0" anchor="ctr"/>
          <a:lstStyle/>
          <a:p>
            <a:pPr algn="ctr" indent="0" marL="0">
              <a:buNone/>
            </a:pPr>
            <a:r>
              <a:rPr lang="en-US" sz="1100" dirty="0">
                <a:solidFill>
                  <a:schemeClr val="bg1"/>
                </a:solidFill>
                <a:latin typeface="Courier New" pitchFamily="34" charset="0"/>
                <a:ea typeface="Courier New" pitchFamily="34" charset="-122"/>
                <a:cs typeface="Courier New" pitchFamily="34" charset="-120"/>
              </a:rPr>
              <a:t>h2 = H(h1, b2)</a:t>
            </a:r>
            <a:endParaRPr lang="en-US" sz="1100" dirty="0"/>
          </a:p>
        </p:txBody>
      </p:sp>
      <p:sp>
        <p:nvSpPr>
          <p:cNvPr id="19" name="Hash arrow 2"/>
          <p:cNvSpPr/>
          <p:nvPr/>
        </p:nvSpPr>
        <p:spPr>
          <a:xfrm>
            <a:off x="5541264" y="1965960"/>
            <a:ext cx="0" cy="228600"/>
          </a:xfrm>
          <a:prstGeom prst="line">
            <a:avLst/>
          </a:prstGeom>
          <a:noFill/>
          <a:ln w="22225">
            <a:solidFill>
              <a:schemeClr val="accent4"/>
            </a:solidFill>
            <a:prstDash val="solid"/>
            <a:tailEnd type="triangle"/>
          </a:ln>
        </p:spPr>
      </p:sp>
      <p:sp>
        <p:nvSpPr>
          <p:cNvPr id="20" name="Block 3"/>
          <p:cNvSpPr/>
          <p:nvPr/>
        </p:nvSpPr>
        <p:spPr>
          <a:xfrm>
            <a:off x="6711696" y="1463040"/>
            <a:ext cx="1828800" cy="502920"/>
          </a:xfrm>
          <a:prstGeom prst="roundRect">
            <a:avLst>
              <a:gd name="adj" fmla="val 10909"/>
            </a:avLst>
          </a:prstGeom>
          <a:solidFill>
            <a:schemeClr val="bg2"/>
          </a:solidFill>
          <a:ln w="12700">
            <a:solidFill>
              <a:schemeClr val="accent4"/>
            </a:solidFill>
            <a:prstDash val="solid"/>
          </a:ln>
        </p:spPr>
      </p:sp>
      <p:sp>
        <p:nvSpPr>
          <p:cNvPr id="21" name="Text 19"/>
          <p:cNvSpPr txBox="1"/>
          <p:nvPr/>
        </p:nvSpPr>
        <p:spPr>
          <a:xfrm>
            <a:off x="6711696" y="1463040"/>
            <a:ext cx="1828800"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Block 3: 16 tokens</a:t>
            </a:r>
            <a:endParaRPr lang="en-US" sz="1300" dirty="0"/>
          </a:p>
        </p:txBody>
      </p:sp>
      <p:sp>
        <p:nvSpPr>
          <p:cNvPr id="22" name="Hash 3"/>
          <p:cNvSpPr/>
          <p:nvPr/>
        </p:nvSpPr>
        <p:spPr>
          <a:xfrm>
            <a:off x="6711696" y="2194560"/>
            <a:ext cx="1828800" cy="502920"/>
          </a:xfrm>
          <a:prstGeom prst="roundRect">
            <a:avLst>
              <a:gd name="adj" fmla="val 10909"/>
            </a:avLst>
          </a:prstGeom>
          <a:solidFill>
            <a:schemeClr val="tx1"/>
          </a:solidFill>
          <a:ln w="12700">
            <a:solidFill>
              <a:schemeClr val="tx1"/>
            </a:solidFill>
            <a:prstDash val="solid"/>
          </a:ln>
        </p:spPr>
      </p:sp>
      <p:sp>
        <p:nvSpPr>
          <p:cNvPr id="23" name="Text 21"/>
          <p:cNvSpPr txBox="1"/>
          <p:nvPr/>
        </p:nvSpPr>
        <p:spPr>
          <a:xfrm>
            <a:off x="6711696" y="2194560"/>
            <a:ext cx="1828800" cy="502920"/>
          </a:xfrm>
          <a:prstGeom prst="rect">
            <a:avLst/>
          </a:prstGeom>
          <a:noFill/>
          <a:ln/>
        </p:spPr>
        <p:txBody>
          <a:bodyPr wrap="square" lIns="0" tIns="0" rIns="0" bIns="0" rtlCol="0" anchor="ctr"/>
          <a:lstStyle/>
          <a:p>
            <a:pPr algn="ctr" indent="0" marL="0">
              <a:buNone/>
            </a:pPr>
            <a:r>
              <a:rPr lang="en-US" sz="1100" dirty="0">
                <a:solidFill>
                  <a:schemeClr val="bg1"/>
                </a:solidFill>
                <a:latin typeface="Courier New" pitchFamily="34" charset="0"/>
                <a:ea typeface="Courier New" pitchFamily="34" charset="-122"/>
                <a:cs typeface="Courier New" pitchFamily="34" charset="-120"/>
              </a:rPr>
              <a:t>h3 = H(h2, b3)</a:t>
            </a:r>
            <a:endParaRPr lang="en-US" sz="1100" dirty="0"/>
          </a:p>
        </p:txBody>
      </p:sp>
      <p:sp>
        <p:nvSpPr>
          <p:cNvPr id="24" name="Hash arrow 3"/>
          <p:cNvSpPr/>
          <p:nvPr/>
        </p:nvSpPr>
        <p:spPr>
          <a:xfrm>
            <a:off x="7626096" y="1965960"/>
            <a:ext cx="0" cy="228600"/>
          </a:xfrm>
          <a:prstGeom prst="line">
            <a:avLst/>
          </a:prstGeom>
          <a:noFill/>
          <a:ln w="22225">
            <a:solidFill>
              <a:schemeClr val="accent4"/>
            </a:solidFill>
            <a:prstDash val="solid"/>
            <a:tailEnd type="triangle"/>
          </a:ln>
        </p:spPr>
      </p:sp>
      <p:sp>
        <p:nvSpPr>
          <p:cNvPr id="25" name="Text 23"/>
          <p:cNvSpPr txBox="1"/>
          <p:nvPr/>
        </p:nvSpPr>
        <p:spPr>
          <a:xfrm>
            <a:off x="457200" y="2926080"/>
            <a:ext cx="822960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Each hash includes its parent's, so one hash identifies the whole prefix up to that block. Change anything early and every later hash changes.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Only full blocks count, as in vLLM: a 100-token prompt gives 6 blocks, not 7.</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The namespace starts the chain with the model name, so text cached under another model is never credited. blake2b is used instead of Python's hash(), so a restart changes no hash.</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PrefixIndex maps each hash to the set of replicas believed to hold it, with a per-replica LRU cap (20,000 blocks by default).</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prefix_aware: the response-time check</a:t>
            </a:r>
            <a:endParaRPr lang="en-US" sz="3200" dirty="0"/>
          </a:p>
        </p:txBody>
      </p:sp>
      <p:sp>
        <p:nvSpPr>
          <p:cNvPr id="3" name="Code reference"/>
          <p:cNvSpPr/>
          <p:nvPr/>
        </p:nvSpPr>
        <p:spPr>
          <a:xfrm>
            <a:off x="457200" y="1051560"/>
            <a:ext cx="2926080" cy="310896"/>
          </a:xfrm>
          <a:prstGeom prst="roundRect">
            <a:avLst>
              <a:gd name="adj" fmla="val 14706"/>
            </a:avLst>
          </a:prstGeom>
          <a:solidFill>
            <a:schemeClr val="tx1"/>
          </a:solidFill>
          <a:ln w="12700">
            <a:solidFill>
              <a:schemeClr val="tx1"/>
            </a:solidFill>
            <a:prstDash val="solid"/>
          </a:ln>
        </p:spPr>
      </p:sp>
      <p:sp>
        <p:nvSpPr>
          <p:cNvPr id="4" name="Text 2"/>
          <p:cNvSpPr txBox="1"/>
          <p:nvPr/>
        </p:nvSpPr>
        <p:spPr>
          <a:xfrm>
            <a:off x="457200" y="1051560"/>
            <a:ext cx="2926080" cy="310896"/>
          </a:xfrm>
          <a:prstGeom prst="rect">
            <a:avLst/>
          </a:prstGeom>
          <a:noFill/>
          <a:ln/>
        </p:spPr>
        <p:txBody>
          <a:bodyPr wrap="square" lIns="0" tIns="0" rIns="0" bIns="0" rtlCol="0" anchor="ctr"/>
          <a:lstStyle/>
          <a:p>
            <a:pPr algn="ctr" indent="0" marL="0">
              <a:buNone/>
            </a:pPr>
            <a:r>
              <a:rPr lang="en-US" sz="1100" dirty="0">
                <a:solidFill>
                  <a:schemeClr val="bg1"/>
                </a:solidFill>
                <a:latin typeface="Courier New" pitchFamily="34" charset="0"/>
                <a:ea typeface="Courier New" pitchFamily="34" charset="-122"/>
                <a:cs typeface="Courier New" pitchFamily="34" charset="-120"/>
              </a:rPr>
              <a:t>ReplicaState.estimate_latency_ms</a:t>
            </a:r>
            <a:endParaRPr lang="en-US" sz="1100" dirty="0"/>
          </a:p>
        </p:txBody>
      </p:sp>
      <p:sp>
        <p:nvSpPr>
          <p:cNvPr id="5" name="Text 3"/>
          <p:cNvSpPr txBox="1"/>
          <p:nvPr/>
        </p:nvSpPr>
        <p:spPr>
          <a:xfrm>
            <a:off x="457200" y="1508760"/>
            <a:ext cx="4572000" cy="32004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Below capacity, a new request runs alongside the others, so the estimate is the replica's recent latency at the current occupancy (three occupancy buckets).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At or above capacity it queues: service time × (queue depth + 1) ÷ capacity. This is an M/M/c queue estimate.</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Latencies are learned from completed requests with an exponential average (weight 0.2). Capacity starts at the configured batch size and rises to the highest concurrency scraped.</a:t>
            </a:r>
            <a:endParaRPr lang="en-US" sz="1300" dirty="0"/>
          </a:p>
        </p:txBody>
      </p:sp>
      <p:graphicFrame>
        <p:nvGraphicFramePr>
          <p:cNvPr id="10" name="Decision paths table"/>
          <p:cNvGraphicFramePr>
            <a:graphicFrameLocks noGrp="1"/>
          </p:cNvGraphicFramePr>
          <p:nvPr>
            <p:extLst>
              <p:ext uri="{D42A27DB-BD31-4B8C-83A1-F6EECF244321}">
                <p14:modId xmlns:p14="http://schemas.microsoft.com/office/powerpoint/2010/main" val="1579011935"/>
              </p:ext>
            </p:extLst>
          </p:nvPr>
        </p:nvGraphicFramePr>
        <p:xfrm>
          <a:off x="5212080" y="1188720"/>
          <a:ext cx="3474720" cy="914400"/>
        </p:xfrm>
        <a:graphic>
          <a:graphicData uri="http://schemas.openxmlformats.org/drawingml/2006/table">
            <a:tbl>
              <a:tblPr/>
              <a:tblGrid>
                <a:gridCol w="1371600"/>
                <a:gridCol w="2103120"/>
              </a:tblGrid>
              <a:tr h="36576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Decision path</a:t>
                      </a:r>
                      <a:endParaRPr lang="en-US" sz="13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tx1"/>
                    </a:solidFill>
                  </a:tcPr>
                </a:tc>
              </a:tr>
              <a:tr h="73152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prefix_match</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Eligible winner is within the target: routed there</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r h="73152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sla_veto</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Winner would miss the target: least-loaded replica instead</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r>
              <a:tr h="73152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no_eligible_match</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No replica holds enough: least-loaded replica</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bl>
          </a:graphicData>
        </a:graphic>
      </p:graphicFrame>
      <p:sp>
        <p:nvSpPr>
          <p:cNvPr id="7" name="Text 4"/>
          <p:cNvSpPr txBox="1"/>
          <p:nvPr/>
        </p:nvSpPr>
        <p:spPr>
          <a:xfrm>
            <a:off x="5212080" y="4114800"/>
            <a:ext cx="3474720" cy="4572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The console shows which path each request took.</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What each policy knows</a:t>
            </a:r>
            <a:endParaRPr lang="en-US" sz="3200" dirty="0"/>
          </a:p>
        </p:txBody>
      </p:sp>
      <p:graphicFrame>
        <p:nvGraphicFramePr>
          <p:cNvPr id="11" name="Policy knowledge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651760"/>
                <a:gridCol w="1371600"/>
                <a:gridCol w="1371600"/>
                <a:gridCol w="1417320"/>
                <a:gridCol w="1417320"/>
              </a:tblGrid>
              <a:tr h="384048">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Signal</a:t>
                      </a:r>
                      <a:endParaRPr lang="en-US" sz="13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round_robin</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least_connections</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swiftserve</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prefix_aware</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tx1"/>
                    </a:solidFill>
                  </a:tcPr>
                </a:tc>
              </a:tr>
              <a:tr h="457200">
                <a:tc>
                  <a:txBody>
                    <a:bodyPr/>
                    <a:lstStyle/>
                    <a:p>
                      <a:pPr algn="l" indent="0" marL="0">
                        <a:buNone/>
                      </a:pPr>
                      <a:r>
                        <a:rPr lang="en-US" sz="1200" b="1" dirty="0">
                          <a:solidFill>
                            <a:schemeClr val="tx1"/>
                          </a:solidFill>
                          <a:latin typeface="Calibri" pitchFamily="34" charset="0"/>
                          <a:ea typeface="Calibri" pitchFamily="34" charset="-122"/>
                          <a:cs typeface="Calibri" pitchFamily="34" charset="-120"/>
                        </a:rPr>
                        <a:t>Current load</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1"/>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1"/>
                          </a:solidFill>
                          <a:latin typeface="Calibri" pitchFamily="34" charset="0"/>
                          <a:ea typeface="Calibri" pitchFamily="34" charset="-122"/>
                          <a:cs typeface="Calibri" pitchFamily="34" charset="-120"/>
                        </a:rPr>
                        <a:t>Yes (fallback)</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1"/>
                          </a:solidFill>
                          <a:latin typeface="Calibri" pitchFamily="34" charset="0"/>
                          <a:ea typeface="Calibri" pitchFamily="34" charset="-122"/>
                          <a:cs typeface="Calibri" pitchFamily="34" charset="-120"/>
                        </a:rPr>
                        <a:t>Yes (fallback)</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r h="457200">
                <a:tc>
                  <a:txBody>
                    <a:bodyPr/>
                    <a:lstStyle/>
                    <a:p>
                      <a:pPr algn="l" indent="0" marL="0">
                        <a:buNone/>
                      </a:pPr>
                      <a:r>
                        <a:rPr lang="en-US" sz="1200" b="1" dirty="0">
                          <a:solidFill>
                            <a:schemeClr val="tx1"/>
                          </a:solidFill>
                          <a:latin typeface="Calibri" pitchFamily="34" charset="0"/>
                          <a:ea typeface="Calibri" pitchFamily="34" charset="-122"/>
                          <a:cs typeface="Calibri" pitchFamily="34" charset="-120"/>
                        </a:rPr>
                        <a:t>Which replica served this session</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1"/>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200" b="1" dirty="0">
                          <a:solidFill>
                            <a:schemeClr val="tx1"/>
                          </a:solidFill>
                          <a:latin typeface="Calibri" pitchFamily="34" charset="0"/>
                          <a:ea typeface="Calibri" pitchFamily="34" charset="-122"/>
                          <a:cs typeface="Calibri" pitchFamily="34" charset="-120"/>
                        </a:rPr>
                        <a:t>Shared whole messages</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1"/>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r h="457200">
                <a:tc>
                  <a:txBody>
                    <a:bodyPr/>
                    <a:lstStyle/>
                    <a:p>
                      <a:pPr algn="l" indent="0" marL="0">
                        <a:buNone/>
                      </a:pPr>
                      <a:r>
                        <a:rPr lang="en-US" sz="1200" b="1" dirty="0">
                          <a:solidFill>
                            <a:schemeClr val="tx1"/>
                          </a:solidFill>
                          <a:latin typeface="Calibri" pitchFamily="34" charset="0"/>
                          <a:ea typeface="Calibri" pitchFamily="34" charset="-122"/>
                          <a:cs typeface="Calibri" pitchFamily="34" charset="-120"/>
                        </a:rPr>
                        <a:t>Shared 16-token blocks</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1"/>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200" b="1" dirty="0">
                          <a:solidFill>
                            <a:schemeClr val="tx1"/>
                          </a:solidFill>
                          <a:latin typeface="Calibri" pitchFamily="34" charset="0"/>
                          <a:ea typeface="Calibri" pitchFamily="34" charset="-122"/>
                          <a:cs typeface="Calibri" pitchFamily="34" charset="-120"/>
                        </a:rPr>
                        <a:t>Checks the response-time target</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1"/>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1"/>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r h="457200">
                <a:tc>
                  <a:txBody>
                    <a:bodyPr/>
                    <a:lstStyle/>
                    <a:p>
                      <a:pPr algn="l" indent="0" marL="0">
                        <a:buNone/>
                      </a:pPr>
                      <a:r>
                        <a:rPr lang="en-US" sz="1200" b="1" dirty="0">
                          <a:solidFill>
                            <a:schemeClr val="tx1"/>
                          </a:solidFill>
                          <a:latin typeface="Calibri" pitchFamily="34" charset="0"/>
                          <a:ea typeface="Calibri" pitchFamily="34" charset="-122"/>
                          <a:cs typeface="Calibri" pitchFamily="34" charset="-120"/>
                        </a:rPr>
                        <a:t>Needs the model's tokenizer</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1"/>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457200" y="4434840"/>
            <a:ext cx="8229600" cy="45720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prefix_aware records the session but does not route on it. The tokenizer must match the model, or block boundaries differ from the engine's and predictions fail.</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What the measurements show (3 runs)</a:t>
            </a:r>
            <a:endParaRPr lang="en-US" sz="3200" dirty="0"/>
          </a:p>
        </p:txBody>
      </p:sp>
      <p:graphicFrame>
        <p:nvGraphicFramePr>
          <p:cNvPr id="3" name="Chart 0" descr=""/>
          <p:cNvGraphicFramePr/>
          <p:nvPr/>
        </p:nvGraphicFramePr>
        <p:xfrm>
          <a:off x="457200" y="1097280"/>
          <a:ext cx="420624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TFT table"/>
          <p:cNvGraphicFramePr>
            <a:graphicFrameLocks noGrp="1"/>
          </p:cNvGraphicFramePr>
          <p:nvPr>
            <p:extLst>
              <p:ext uri="{D42A27DB-BD31-4B8C-83A1-F6EECF244321}">
                <p14:modId xmlns:p14="http://schemas.microsoft.com/office/powerpoint/2010/main" val="1579011935"/>
              </p:ext>
            </p:extLst>
          </p:nvPr>
        </p:nvGraphicFramePr>
        <p:xfrm>
          <a:off x="4937760" y="1188720"/>
          <a:ext cx="3749040" cy="914400"/>
        </p:xfrm>
        <a:graphic>
          <a:graphicData uri="http://schemas.openxmlformats.org/drawingml/2006/table">
            <a:tbl>
              <a:tblPr/>
              <a:tblGrid>
                <a:gridCol w="2011680"/>
                <a:gridCol w="1737360"/>
              </a:tblGrid>
              <a:tr h="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Policy</a:t>
                      </a:r>
                      <a:endParaRPr lang="en-US" sz="13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Median TTFT, mean (ms)</a:t>
                      </a:r>
                      <a:endParaRPr lang="en-US" sz="13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tx1"/>
                    </a:solidFill>
                  </a:tcPr>
                </a:tc>
              </a:tr>
              <a:tr h="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round_robin</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966</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r h="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least_connections</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993</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r>
              <a:tr h="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swiftserve</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765</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r h="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prefix_aware</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451</a:t>
                      </a:r>
                      <a:endParaRPr lang="en-US" sz="1200" dirty="0">
                        <a:latin typeface="Calibri" charset="0"/>
                        <a:ea typeface="Calibri" charset="0"/>
                        <a:cs typeface="Calibri" charset="0"/>
                      </a:endParaRPr>
                    </a:p>
                  </a:txBody>
                  <a:tcPr marL="73152" marR="73152" marT="45720" marB="45720"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4937760" y="2926080"/>
            <a:ext cx="3749040" cy="17373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Cache reuse rises with how much each policy knows about the cache, and the policy with the most knowledge had the lowest median in every run. The tail was not consistently better. Details are in the results section.</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Implementation: module map</a:t>
            </a:r>
            <a:endParaRPr lang="en-US" sz="3200" dirty="0"/>
          </a:p>
        </p:txBody>
      </p:sp>
      <p:graphicFrame>
        <p:nvGraphicFramePr>
          <p:cNvPr id="13" name="Module map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926080"/>
                <a:gridCol w="5303520"/>
              </a:tblGrid>
              <a:tr h="347472">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File</a:t>
                      </a:r>
                      <a:endParaRPr lang="en-US" sz="1300" dirty="0">
                        <a:latin typeface="Calibri" charset="0"/>
                        <a:ea typeface="Calibri" charset="0"/>
                        <a:cs typeface="Calibri" charset="0"/>
                      </a:endParaRPr>
                    </a:p>
                  </a:txBody>
                  <a:tcPr marL="91440" marR="91440" marT="36576" marB="36576"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91440" marR="91440" marT="36576" marB="36576"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tx1"/>
                    </a:solidFill>
                  </a:tcPr>
                </a:tc>
              </a:tr>
              <a:tr h="420624">
                <a:tc>
                  <a:txBody>
                    <a:bodyPr/>
                    <a:lstStyle/>
                    <a:p>
                      <a:pPr indent="0" marL="0">
                        <a:buNone/>
                      </a:pPr>
                      <a:r>
                        <a:rPr lang="en-US" sz="1100" b="1" dirty="0">
                          <a:solidFill>
                            <a:schemeClr val="tx1"/>
                          </a:solidFill>
                          <a:latin typeface="Courier New" pitchFamily="34" charset="0"/>
                          <a:ea typeface="Courier New" pitchFamily="34" charset="-122"/>
                          <a:cs typeface="Courier New" pitchFamily="34" charset="-120"/>
                        </a:rPr>
                        <a:t>app.py</a:t>
                      </a:r>
                      <a:endParaRPr lang="en-US" sz="1100" dirty="0">
                        <a:latin typeface="Courier New" charset="0"/>
                        <a:ea typeface="Courier New" charset="0"/>
                        <a:cs typeface="Courier New" charset="0"/>
                      </a:endParaRPr>
                    </a:p>
                  </a:txBody>
                  <a:tcPr marL="91440" marR="91440" marT="36576" marB="36576"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FastAPI app and the chat handler: admission, candidate snapshot, policy call, proxy</a:t>
                      </a:r>
                      <a:endParaRPr lang="en-US" sz="1200" dirty="0">
                        <a:latin typeface="Calibri" charset="0"/>
                        <a:ea typeface="Calibri" charset="0"/>
                        <a:cs typeface="Calibri" charset="0"/>
                      </a:endParaRPr>
                    </a:p>
                  </a:txBody>
                  <a:tcPr marL="91440" marR="91440" marT="36576" marB="36576"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r h="420624">
                <a:tc>
                  <a:txBody>
                    <a:bodyPr/>
                    <a:lstStyle/>
                    <a:p>
                      <a:pPr indent="0" marL="0">
                        <a:buNone/>
                      </a:pPr>
                      <a:r>
                        <a:rPr lang="en-US" sz="1100" b="1" dirty="0">
                          <a:solidFill>
                            <a:schemeClr val="tx1"/>
                          </a:solidFill>
                          <a:latin typeface="Courier New" pitchFamily="34" charset="0"/>
                          <a:ea typeface="Courier New" pitchFamily="34" charset="-122"/>
                          <a:cs typeface="Courier New" pitchFamily="34" charset="-120"/>
                        </a:rPr>
                        <a:t>policy.py</a:t>
                      </a:r>
                      <a:endParaRPr lang="en-US" sz="1100" dirty="0">
                        <a:latin typeface="Courier New" charset="0"/>
                        <a:ea typeface="Courier New" charset="0"/>
                        <a:cs typeface="Courier New" charset="0"/>
                      </a:endParaRPr>
                    </a:p>
                  </a:txBody>
                  <a:tcPr marL="91440" marR="91440" marT="36576" marB="36576"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The four policies, each with select() and a recorded decision</a:t>
                      </a:r>
                      <a:endParaRPr lang="en-US" sz="1200" dirty="0">
                        <a:latin typeface="Calibri" charset="0"/>
                        <a:ea typeface="Calibri" charset="0"/>
                        <a:cs typeface="Calibri" charset="0"/>
                      </a:endParaRPr>
                    </a:p>
                  </a:txBody>
                  <a:tcPr marL="91440" marR="91440" marT="36576" marB="36576"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r>
              <a:tr h="420624">
                <a:tc>
                  <a:txBody>
                    <a:bodyPr/>
                    <a:lstStyle/>
                    <a:p>
                      <a:pPr indent="0" marL="0">
                        <a:buNone/>
                      </a:pPr>
                      <a:r>
                        <a:rPr lang="en-US" sz="1100" b="1" dirty="0">
                          <a:solidFill>
                            <a:schemeClr val="tx1"/>
                          </a:solidFill>
                          <a:latin typeface="Courier New" pitchFamily="34" charset="0"/>
                          <a:ea typeface="Courier New" pitchFamily="34" charset="-122"/>
                          <a:cs typeface="Courier New" pitchFamily="34" charset="-120"/>
                        </a:rPr>
                        <a:t>prefix_index.py, tokenization.py</a:t>
                      </a:r>
                      <a:endParaRPr lang="en-US" sz="1100" dirty="0">
                        <a:latin typeface="Courier New" charset="0"/>
                        <a:ea typeface="Courier New" charset="0"/>
                        <a:cs typeface="Courier New" charset="0"/>
                      </a:endParaRPr>
                    </a:p>
                  </a:txBody>
                  <a:tcPr marL="91440" marR="91440" marT="36576" marB="36576"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Chained block hashes, the holder index, and the chat tokenizers</a:t>
                      </a:r>
                      <a:endParaRPr lang="en-US" sz="1200" dirty="0">
                        <a:latin typeface="Calibri" charset="0"/>
                        <a:ea typeface="Calibri" charset="0"/>
                        <a:cs typeface="Calibri" charset="0"/>
                      </a:endParaRPr>
                    </a:p>
                  </a:txBody>
                  <a:tcPr marL="91440" marR="91440" marT="36576" marB="36576"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r h="420624">
                <a:tc>
                  <a:txBody>
                    <a:bodyPr/>
                    <a:lstStyle/>
                    <a:p>
                      <a:pPr indent="0" marL="0">
                        <a:buNone/>
                      </a:pPr>
                      <a:r>
                        <a:rPr lang="en-US" sz="1100" b="1" dirty="0">
                          <a:solidFill>
                            <a:schemeClr val="tx1"/>
                          </a:solidFill>
                          <a:latin typeface="Courier New" pitchFamily="34" charset="0"/>
                          <a:ea typeface="Courier New" pitchFamily="34" charset="-122"/>
                          <a:cs typeface="Courier New" pitchFamily="34" charset="-120"/>
                        </a:rPr>
                        <a:t>state.py</a:t>
                      </a:r>
                      <a:endParaRPr lang="en-US" sz="1100" dirty="0">
                        <a:latin typeface="Courier New" charset="0"/>
                        <a:ea typeface="Courier New" charset="0"/>
                        <a:cs typeface="Courier New" charset="0"/>
                      </a:endParaRPr>
                    </a:p>
                  </a:txBody>
                  <a:tcPr marL="91440" marR="91440" marT="36576" marB="36576"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Per-replica state: in-flight count, latency estimate, circuit breaker, sessions</a:t>
                      </a:r>
                      <a:endParaRPr lang="en-US" sz="1200" dirty="0">
                        <a:latin typeface="Calibri" charset="0"/>
                        <a:ea typeface="Calibri" charset="0"/>
                        <a:cs typeface="Calibri" charset="0"/>
                      </a:endParaRPr>
                    </a:p>
                  </a:txBody>
                  <a:tcPr marL="91440" marR="91440" marT="36576" marB="36576"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r>
              <a:tr h="420624">
                <a:tc>
                  <a:txBody>
                    <a:bodyPr/>
                    <a:lstStyle/>
                    <a:p>
                      <a:pPr indent="0" marL="0">
                        <a:buNone/>
                      </a:pPr>
                      <a:r>
                        <a:rPr lang="en-US" sz="1100" b="1" dirty="0">
                          <a:solidFill>
                            <a:schemeClr val="tx1"/>
                          </a:solidFill>
                          <a:latin typeface="Courier New" pitchFamily="34" charset="0"/>
                          <a:ea typeface="Courier New" pitchFamily="34" charset="-122"/>
                          <a:cs typeface="Courier New" pitchFamily="34" charset="-120"/>
                        </a:rPr>
                        <a:t>proxy.py, resilience.py</a:t>
                      </a:r>
                      <a:endParaRPr lang="en-US" sz="1100" dirty="0">
                        <a:latin typeface="Courier New" charset="0"/>
                        <a:ea typeface="Courier New" charset="0"/>
                        <a:cs typeface="Courier New" charset="0"/>
                      </a:endParaRPr>
                    </a:p>
                  </a:txBody>
                  <a:tcPr marL="91440" marR="91440" marT="36576" marB="36576"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Streaming proxy with retries; circuit breaker and admission control</a:t>
                      </a:r>
                      <a:endParaRPr lang="en-US" sz="1200" dirty="0">
                        <a:latin typeface="Calibri" charset="0"/>
                        <a:ea typeface="Calibri" charset="0"/>
                        <a:cs typeface="Calibri" charset="0"/>
                      </a:endParaRPr>
                    </a:p>
                  </a:txBody>
                  <a:tcPr marL="91440" marR="91440" marT="36576" marB="36576"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r h="420624">
                <a:tc>
                  <a:txBody>
                    <a:bodyPr/>
                    <a:lstStyle/>
                    <a:p>
                      <a:pPr indent="0" marL="0">
                        <a:buNone/>
                      </a:pPr>
                      <a:r>
                        <a:rPr lang="en-US" sz="1100" b="1" dirty="0">
                          <a:solidFill>
                            <a:schemeClr val="tx1"/>
                          </a:solidFill>
                          <a:latin typeface="Courier New" pitchFamily="34" charset="0"/>
                          <a:ea typeface="Courier New" pitchFamily="34" charset="-122"/>
                          <a:cs typeface="Courier New" pitchFamily="34" charset="-120"/>
                        </a:rPr>
                        <a:t>metrics_scraper.py, replica_sidecar.py</a:t>
                      </a:r>
                      <a:endParaRPr lang="en-US" sz="1100" dirty="0">
                        <a:latin typeface="Courier New" charset="0"/>
                        <a:ea typeface="Courier New" charset="0"/>
                        <a:cs typeface="Courier New" charset="0"/>
                      </a:endParaRPr>
                    </a:p>
                  </a:txBody>
                  <a:tcPr marL="91440" marR="91440" marT="36576" marB="36576"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Reads each replica's load and GPU data; the node-side sidecar</a:t>
                      </a:r>
                      <a:endParaRPr lang="en-US" sz="1200" dirty="0">
                        <a:latin typeface="Calibri" charset="0"/>
                        <a:ea typeface="Calibri" charset="0"/>
                        <a:cs typeface="Calibri" charset="0"/>
                      </a:endParaRPr>
                    </a:p>
                  </a:txBody>
                  <a:tcPr marL="91440" marR="91440" marT="36576" marB="36576"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r>
              <a:tr h="420624">
                <a:tc>
                  <a:txBody>
                    <a:bodyPr/>
                    <a:lstStyle/>
                    <a:p>
                      <a:pPr indent="0" marL="0">
                        <a:buNone/>
                      </a:pPr>
                      <a:r>
                        <a:rPr lang="en-US" sz="1100" b="1" dirty="0">
                          <a:solidFill>
                            <a:schemeClr val="tx1"/>
                          </a:solidFill>
                          <a:latin typeface="Courier New" pitchFamily="34" charset="0"/>
                          <a:ea typeface="Courier New" pitchFamily="34" charset="-122"/>
                          <a:cs typeface="Courier New" pitchFamily="34" charset="-120"/>
                        </a:rPr>
                        <a:t>telemetry.py, events.py, dashboard_api.py</a:t>
                      </a:r>
                      <a:endParaRPr lang="en-US" sz="1100" dirty="0">
                        <a:latin typeface="Courier New" charset="0"/>
                        <a:ea typeface="Courier New" charset="0"/>
                        <a:cs typeface="Courier New" charset="0"/>
                      </a:endParaRPr>
                    </a:p>
                  </a:txBody>
                  <a:tcPr marL="91440" marR="91440" marT="36576" marB="36576"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Request traces, the event stream and the console's API</a:t>
                      </a:r>
                      <a:endParaRPr lang="en-US" sz="1200" dirty="0">
                        <a:latin typeface="Calibri" charset="0"/>
                        <a:ea typeface="Calibri" charset="0"/>
                        <a:cs typeface="Calibri" charset="0"/>
                      </a:endParaRPr>
                    </a:p>
                  </a:txBody>
                  <a:tcPr marL="91440" marR="91440" marT="36576" marB="36576"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r h="420624">
                <a:tc>
                  <a:txBody>
                    <a:bodyPr/>
                    <a:lstStyle/>
                    <a:p>
                      <a:pPr indent="0" marL="0">
                        <a:buNone/>
                      </a:pPr>
                      <a:r>
                        <a:rPr lang="en-US" sz="1100" b="1" dirty="0">
                          <a:solidFill>
                            <a:schemeClr val="tx1"/>
                          </a:solidFill>
                          <a:latin typeface="Courier New" pitchFamily="34" charset="0"/>
                          <a:ea typeface="Courier New" pitchFamily="34" charset="-122"/>
                          <a:cs typeface="Courier New" pitchFamily="34" charset="-120"/>
                        </a:rPr>
                        <a:t>ui/</a:t>
                      </a:r>
                      <a:endParaRPr lang="en-US" sz="1100" dirty="0">
                        <a:latin typeface="Courier New" charset="0"/>
                        <a:ea typeface="Courier New" charset="0"/>
                        <a:cs typeface="Courier New" charset="0"/>
                      </a:endParaRPr>
                    </a:p>
                  </a:txBody>
                  <a:tcPr marL="91440" marR="91440" marT="36576" marB="36576"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The web console: Playground, Load test, Compare, Live routing, Dashboard</a:t>
                      </a:r>
                      <a:endParaRPr lang="en-US" sz="1200" dirty="0">
                        <a:latin typeface="Calibri" charset="0"/>
                        <a:ea typeface="Calibri" charset="0"/>
                        <a:cs typeface="Calibri" charset="0"/>
                      </a:endParaRPr>
                    </a:p>
                  </a:txBody>
                  <a:tcPr marL="91440" marR="91440" marT="36576" marB="36576"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Implementation: the path of one request</a:t>
            </a:r>
            <a:endParaRPr lang="en-US" sz="3200" dirty="0"/>
          </a:p>
        </p:txBody>
      </p:sp>
      <p:sp>
        <p:nvSpPr>
          <p:cNvPr id="3" name="Number 1"/>
          <p:cNvSpPr/>
          <p:nvPr/>
        </p:nvSpPr>
        <p:spPr>
          <a:xfrm>
            <a:off x="457200" y="1115568"/>
            <a:ext cx="365760" cy="365760"/>
          </a:xfrm>
          <a:prstGeom prst="ellipse">
            <a:avLst/>
          </a:prstGeom>
          <a:solidFill>
            <a:schemeClr val="accent1"/>
          </a:solidFill>
          <a:ln w="12700">
            <a:solidFill>
              <a:schemeClr val="accent1"/>
            </a:solidFill>
            <a:prstDash val="solid"/>
          </a:ln>
        </p:spPr>
      </p:sp>
      <p:sp>
        <p:nvSpPr>
          <p:cNvPr id="4" name="Text 2"/>
          <p:cNvSpPr txBox="1"/>
          <p:nvPr/>
        </p:nvSpPr>
        <p:spPr>
          <a:xfrm>
            <a:off x="457200" y="1115568"/>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005840" y="1097280"/>
            <a:ext cx="1280160" cy="438912"/>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Receive</a:t>
            </a:r>
            <a:endParaRPr lang="en-US" sz="1400" dirty="0"/>
          </a:p>
        </p:txBody>
      </p:sp>
      <p:sp>
        <p:nvSpPr>
          <p:cNvPr id="6" name="Text 4"/>
          <p:cNvSpPr txBox="1"/>
          <p:nvPr/>
        </p:nvSpPr>
        <p:spPr>
          <a:xfrm>
            <a:off x="2331720" y="1097280"/>
            <a:ext cx="6355080" cy="45720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chat_completions in app.py reads the body and session id and opens a trace (telemetry.begin).</a:t>
            </a:r>
            <a:endParaRPr lang="en-US" sz="1200" dirty="0"/>
          </a:p>
        </p:txBody>
      </p:sp>
      <p:sp>
        <p:nvSpPr>
          <p:cNvPr id="7" name="Number 2"/>
          <p:cNvSpPr/>
          <p:nvPr/>
        </p:nvSpPr>
        <p:spPr>
          <a:xfrm>
            <a:off x="457200" y="1636776"/>
            <a:ext cx="365760" cy="365760"/>
          </a:xfrm>
          <a:prstGeom prst="ellipse">
            <a:avLst/>
          </a:prstGeom>
          <a:solidFill>
            <a:schemeClr val="accent1"/>
          </a:solidFill>
          <a:ln w="12700">
            <a:solidFill>
              <a:schemeClr val="accent1"/>
            </a:solidFill>
            <a:prstDash val="solid"/>
          </a:ln>
        </p:spPr>
      </p:sp>
      <p:sp>
        <p:nvSpPr>
          <p:cNvPr id="8" name="Text 6"/>
          <p:cNvSpPr txBox="1"/>
          <p:nvPr/>
        </p:nvSpPr>
        <p:spPr>
          <a:xfrm>
            <a:off x="457200" y="163677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005840" y="1618488"/>
            <a:ext cx="1280160" cy="438912"/>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Admit</a:t>
            </a:r>
            <a:endParaRPr lang="en-US" sz="1400" dirty="0"/>
          </a:p>
        </p:txBody>
      </p:sp>
      <p:sp>
        <p:nvSpPr>
          <p:cNvPr id="10" name="Text 8"/>
          <p:cNvSpPr txBox="1"/>
          <p:nvPr/>
        </p:nvSpPr>
        <p:spPr>
          <a:xfrm>
            <a:off x="2331720" y="1618488"/>
            <a:ext cx="6355080" cy="45720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admission.try_acquire: at most 256 requests in flight, otherwise the request is rejected.</a:t>
            </a:r>
            <a:endParaRPr lang="en-US" sz="1200" dirty="0"/>
          </a:p>
        </p:txBody>
      </p:sp>
      <p:sp>
        <p:nvSpPr>
          <p:cNvPr id="11" name="Number 3"/>
          <p:cNvSpPr/>
          <p:nvPr/>
        </p:nvSpPr>
        <p:spPr>
          <a:xfrm>
            <a:off x="457200" y="2157984"/>
            <a:ext cx="365760" cy="365760"/>
          </a:xfrm>
          <a:prstGeom prst="ellipse">
            <a:avLst/>
          </a:prstGeom>
          <a:solidFill>
            <a:schemeClr val="accent1"/>
          </a:solidFill>
          <a:ln w="12700">
            <a:solidFill>
              <a:schemeClr val="accent1"/>
            </a:solidFill>
            <a:prstDash val="solid"/>
          </a:ln>
        </p:spPr>
      </p:sp>
      <p:sp>
        <p:nvSpPr>
          <p:cNvPr id="12" name="Text 10"/>
          <p:cNvSpPr txBox="1"/>
          <p:nvPr/>
        </p:nvSpPr>
        <p:spPr>
          <a:xfrm>
            <a:off x="457200" y="215798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Text 11"/>
          <p:cNvSpPr txBox="1"/>
          <p:nvPr/>
        </p:nvSpPr>
        <p:spPr>
          <a:xfrm>
            <a:off x="1005840" y="2139696"/>
            <a:ext cx="1280160" cy="438912"/>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Snapshot</a:t>
            </a:r>
            <a:endParaRPr lang="en-US" sz="1400" dirty="0"/>
          </a:p>
        </p:txBody>
      </p:sp>
      <p:sp>
        <p:nvSpPr>
          <p:cNvPr id="14" name="Text 12"/>
          <p:cNvSpPr txBox="1"/>
          <p:nvPr/>
        </p:nvSpPr>
        <p:spPr>
          <a:xfrm>
            <a:off x="2331720" y="2139696"/>
            <a:ext cx="6355080" cy="45720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The state of every replica is read before the policy runs and recorded with the decision.</a:t>
            </a:r>
            <a:endParaRPr lang="en-US" sz="1200" dirty="0"/>
          </a:p>
        </p:txBody>
      </p:sp>
      <p:sp>
        <p:nvSpPr>
          <p:cNvPr id="15" name="Number 4"/>
          <p:cNvSpPr/>
          <p:nvPr/>
        </p:nvSpPr>
        <p:spPr>
          <a:xfrm>
            <a:off x="457200" y="2679192"/>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457200" y="2679192"/>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7" name="Text 15"/>
          <p:cNvSpPr txBox="1"/>
          <p:nvPr/>
        </p:nvSpPr>
        <p:spPr>
          <a:xfrm>
            <a:off x="1005840" y="2660904"/>
            <a:ext cx="1280160" cy="438912"/>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Choose</a:t>
            </a:r>
            <a:endParaRPr lang="en-US" sz="1400" dirty="0"/>
          </a:p>
        </p:txBody>
      </p:sp>
      <p:sp>
        <p:nvSpPr>
          <p:cNvPr id="18" name="Text 16"/>
          <p:cNvSpPr txBox="1"/>
          <p:nvPr/>
        </p:nvSpPr>
        <p:spPr>
          <a:xfrm>
            <a:off x="2331720" y="2660904"/>
            <a:ext cx="6355080" cy="45720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policy.select (or select_with_prediction) returns a replica; a half-open replica may get the request as a probe.</a:t>
            </a:r>
            <a:endParaRPr lang="en-US" sz="1200" dirty="0"/>
          </a:p>
        </p:txBody>
      </p:sp>
      <p:sp>
        <p:nvSpPr>
          <p:cNvPr id="19" name="Number 5"/>
          <p:cNvSpPr/>
          <p:nvPr/>
        </p:nvSpPr>
        <p:spPr>
          <a:xfrm>
            <a:off x="457200" y="3200400"/>
            <a:ext cx="365760" cy="365760"/>
          </a:xfrm>
          <a:prstGeom prst="ellipse">
            <a:avLst/>
          </a:prstGeom>
          <a:solidFill>
            <a:schemeClr val="accent1"/>
          </a:solidFill>
          <a:ln w="12700">
            <a:solidFill>
              <a:schemeClr val="accent1"/>
            </a:solidFill>
            <a:prstDash val="solid"/>
          </a:ln>
        </p:spPr>
      </p:sp>
      <p:sp>
        <p:nvSpPr>
          <p:cNvPr id="20" name="Text 18"/>
          <p:cNvSpPr txBox="1"/>
          <p:nvPr/>
        </p:nvSpPr>
        <p:spPr>
          <a:xfrm>
            <a:off x="457200" y="320040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1" name="Text 19"/>
          <p:cNvSpPr txBox="1"/>
          <p:nvPr/>
        </p:nvSpPr>
        <p:spPr>
          <a:xfrm>
            <a:off x="1005840" y="3182112"/>
            <a:ext cx="1280160" cy="438912"/>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Forward</a:t>
            </a:r>
            <a:endParaRPr lang="en-US" sz="1400" dirty="0"/>
          </a:p>
        </p:txBody>
      </p:sp>
      <p:sp>
        <p:nvSpPr>
          <p:cNvPr id="22" name="Text 20"/>
          <p:cNvSpPr txBox="1"/>
          <p:nvPr/>
        </p:nvSpPr>
        <p:spPr>
          <a:xfrm>
            <a:off x="2331720" y="3182112"/>
            <a:ext cx="6355080" cy="45720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forward_chat_completion sends it, retrying connection errors on the same replica (_send_with_retry).</a:t>
            </a:r>
            <a:endParaRPr lang="en-US" sz="1200" dirty="0"/>
          </a:p>
        </p:txBody>
      </p:sp>
      <p:sp>
        <p:nvSpPr>
          <p:cNvPr id="23" name="Number 6"/>
          <p:cNvSpPr/>
          <p:nvPr/>
        </p:nvSpPr>
        <p:spPr>
          <a:xfrm>
            <a:off x="457200" y="3721608"/>
            <a:ext cx="365760" cy="365760"/>
          </a:xfrm>
          <a:prstGeom prst="ellipse">
            <a:avLst/>
          </a:prstGeom>
          <a:solidFill>
            <a:schemeClr val="accent1"/>
          </a:solidFill>
          <a:ln w="12700">
            <a:solidFill>
              <a:schemeClr val="accent1"/>
            </a:solidFill>
            <a:prstDash val="solid"/>
          </a:ln>
        </p:spPr>
      </p:sp>
      <p:sp>
        <p:nvSpPr>
          <p:cNvPr id="24" name="Text 22"/>
          <p:cNvSpPr txBox="1"/>
          <p:nvPr/>
        </p:nvSpPr>
        <p:spPr>
          <a:xfrm>
            <a:off x="457200" y="3721608"/>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5" name="Text 23"/>
          <p:cNvSpPr txBox="1"/>
          <p:nvPr/>
        </p:nvSpPr>
        <p:spPr>
          <a:xfrm>
            <a:off x="1005840" y="3703320"/>
            <a:ext cx="1280160" cy="438912"/>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Stream</a:t>
            </a:r>
            <a:endParaRPr lang="en-US" sz="1400" dirty="0"/>
          </a:p>
        </p:txBody>
      </p:sp>
      <p:sp>
        <p:nvSpPr>
          <p:cNvPr id="26" name="Text 24"/>
          <p:cNvSpPr txBox="1"/>
          <p:nvPr/>
        </p:nvSpPr>
        <p:spPr>
          <a:xfrm>
            <a:off x="2331720" y="3703320"/>
            <a:ext cx="6355080" cy="45720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The response is relayed chunk by chunk while a StreamTimer measures TTFT and ITL.</a:t>
            </a:r>
            <a:endParaRPr lang="en-US" sz="1200" dirty="0"/>
          </a:p>
        </p:txBody>
      </p:sp>
      <p:sp>
        <p:nvSpPr>
          <p:cNvPr id="27" name="Number 7"/>
          <p:cNvSpPr/>
          <p:nvPr/>
        </p:nvSpPr>
        <p:spPr>
          <a:xfrm>
            <a:off x="457200" y="4242816"/>
            <a:ext cx="365760" cy="365760"/>
          </a:xfrm>
          <a:prstGeom prst="ellipse">
            <a:avLst/>
          </a:prstGeom>
          <a:solidFill>
            <a:schemeClr val="accent1"/>
          </a:solidFill>
          <a:ln w="12700">
            <a:solidFill>
              <a:schemeClr val="accent1"/>
            </a:solidFill>
            <a:prstDash val="solid"/>
          </a:ln>
        </p:spPr>
      </p:sp>
      <p:sp>
        <p:nvSpPr>
          <p:cNvPr id="28" name="Text 26"/>
          <p:cNvSpPr txBox="1"/>
          <p:nvPr/>
        </p:nvSpPr>
        <p:spPr>
          <a:xfrm>
            <a:off x="457200" y="424281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7</a:t>
            </a:r>
            <a:endParaRPr lang="en-US" sz="1500" dirty="0"/>
          </a:p>
        </p:txBody>
      </p:sp>
      <p:sp>
        <p:nvSpPr>
          <p:cNvPr id="29" name="Text 27"/>
          <p:cNvSpPr txBox="1"/>
          <p:nvPr/>
        </p:nvSpPr>
        <p:spPr>
          <a:xfrm>
            <a:off x="1005840" y="4224528"/>
            <a:ext cx="1280160" cy="438912"/>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Account</a:t>
            </a:r>
            <a:endParaRPr lang="en-US" sz="1400" dirty="0"/>
          </a:p>
        </p:txBody>
      </p:sp>
      <p:sp>
        <p:nvSpPr>
          <p:cNvPr id="30" name="Text 28"/>
          <p:cNvSpPr txBox="1"/>
          <p:nvPr/>
        </p:nvSpPr>
        <p:spPr>
          <a:xfrm>
            <a:off x="2331720" y="4224528"/>
            <a:ext cx="6355080" cy="45720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Completion, failure or client disconnect is recorded once; counters and latency averages are updated.</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Implementation: protection and state</a:t>
            </a:r>
            <a:endParaRPr lang="en-US" sz="3200" dirty="0"/>
          </a:p>
        </p:txBody>
      </p:sp>
      <p:sp>
        <p:nvSpPr>
          <p:cNvPr id="3" name="Protection card 1"/>
          <p:cNvSpPr/>
          <p:nvPr/>
        </p:nvSpPr>
        <p:spPr>
          <a:xfrm>
            <a:off x="457200" y="1143000"/>
            <a:ext cx="402336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40080" y="1252728"/>
            <a:ext cx="365760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Circuit breaker</a:t>
            </a:r>
            <a:endParaRPr lang="en-US" sz="1600" dirty="0"/>
          </a:p>
        </p:txBody>
      </p:sp>
      <p:sp>
        <p:nvSpPr>
          <p:cNvPr id="5" name="Text 3"/>
          <p:cNvSpPr txBox="1"/>
          <p:nvPr/>
        </p:nvSpPr>
        <p:spPr>
          <a:xfrm>
            <a:off x="640080" y="1600200"/>
            <a:ext cx="3657600" cy="274320"/>
          </a:xfrm>
          <a:prstGeom prst="rect">
            <a:avLst/>
          </a:prstGeom>
          <a:noFill/>
          <a:ln/>
        </p:spPr>
        <p:txBody>
          <a:bodyPr wrap="square" lIns="0" tIns="0" rIns="0" bIns="0" rtlCol="0" anchor="t"/>
          <a:lstStyle/>
          <a:p>
            <a:pPr indent="0" marL="0">
              <a:buNone/>
            </a:pPr>
            <a:r>
              <a:rPr lang="en-US" sz="1000" dirty="0">
                <a:solidFill>
                  <a:schemeClr val="accent1"/>
                </a:solidFill>
                <a:latin typeface="Courier New" pitchFamily="34" charset="0"/>
                <a:ea typeface="Courier New" pitchFamily="34" charset="-122"/>
                <a:cs typeface="Courier New" pitchFamily="34" charset="-120"/>
              </a:rPr>
              <a:t>resilience.CircuitBreaker</a:t>
            </a:r>
            <a:endParaRPr lang="en-US" sz="1000" dirty="0"/>
          </a:p>
        </p:txBody>
      </p:sp>
      <p:sp>
        <p:nvSpPr>
          <p:cNvPr id="6" name="Text 4"/>
          <p:cNvSpPr txBox="1"/>
          <p:nvPr/>
        </p:nvSpPr>
        <p:spPr>
          <a:xfrm>
            <a:off x="640080" y="1920240"/>
            <a:ext cx="3657600" cy="8229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Five consecutive failures open it. After 10 seconds, doubling up to 120, one probe request tests the replica (half-open).</a:t>
            </a:r>
            <a:endParaRPr lang="en-US" sz="1300" dirty="0"/>
          </a:p>
        </p:txBody>
      </p:sp>
      <p:sp>
        <p:nvSpPr>
          <p:cNvPr id="7" name="Protection card 2"/>
          <p:cNvSpPr/>
          <p:nvPr/>
        </p:nvSpPr>
        <p:spPr>
          <a:xfrm>
            <a:off x="4663440" y="1143000"/>
            <a:ext cx="402336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4846320" y="1252728"/>
            <a:ext cx="365760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Admission control</a:t>
            </a:r>
            <a:endParaRPr lang="en-US" sz="1600" dirty="0"/>
          </a:p>
        </p:txBody>
      </p:sp>
      <p:sp>
        <p:nvSpPr>
          <p:cNvPr id="9" name="Text 7"/>
          <p:cNvSpPr txBox="1"/>
          <p:nvPr/>
        </p:nvSpPr>
        <p:spPr>
          <a:xfrm>
            <a:off x="4846320" y="1600200"/>
            <a:ext cx="3657600" cy="274320"/>
          </a:xfrm>
          <a:prstGeom prst="rect">
            <a:avLst/>
          </a:prstGeom>
          <a:noFill/>
          <a:ln/>
        </p:spPr>
        <p:txBody>
          <a:bodyPr wrap="square" lIns="0" tIns="0" rIns="0" bIns="0" rtlCol="0" anchor="t"/>
          <a:lstStyle/>
          <a:p>
            <a:pPr indent="0" marL="0">
              <a:buNone/>
            </a:pPr>
            <a:r>
              <a:rPr lang="en-US" sz="1000" dirty="0">
                <a:solidFill>
                  <a:schemeClr val="accent1"/>
                </a:solidFill>
                <a:latin typeface="Courier New" pitchFamily="34" charset="0"/>
                <a:ea typeface="Courier New" pitchFamily="34" charset="-122"/>
                <a:cs typeface="Courier New" pitchFamily="34" charset="-120"/>
              </a:rPr>
              <a:t>resilience.AdmissionController</a:t>
            </a:r>
            <a:endParaRPr lang="en-US" sz="1000" dirty="0"/>
          </a:p>
        </p:txBody>
      </p:sp>
      <p:sp>
        <p:nvSpPr>
          <p:cNvPr id="10" name="Text 8"/>
          <p:cNvSpPr txBox="1"/>
          <p:nvPr/>
        </p:nvSpPr>
        <p:spPr>
          <a:xfrm>
            <a:off x="4846320" y="1920240"/>
            <a:ext cx="3657600" cy="8229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Caps requests in flight at 256 and answers with an error beyond it, instead of queueing without bound.</a:t>
            </a:r>
            <a:endParaRPr lang="en-US" sz="1300" dirty="0"/>
          </a:p>
        </p:txBody>
      </p:sp>
      <p:sp>
        <p:nvSpPr>
          <p:cNvPr id="11" name="Protection card 3"/>
          <p:cNvSpPr/>
          <p:nvPr/>
        </p:nvSpPr>
        <p:spPr>
          <a:xfrm>
            <a:off x="457200" y="2926080"/>
            <a:ext cx="402336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2" name="Text 10"/>
          <p:cNvSpPr txBox="1"/>
          <p:nvPr/>
        </p:nvSpPr>
        <p:spPr>
          <a:xfrm>
            <a:off x="640080" y="3035808"/>
            <a:ext cx="365760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Retries</a:t>
            </a:r>
            <a:endParaRPr lang="en-US" sz="1600" dirty="0"/>
          </a:p>
        </p:txBody>
      </p:sp>
      <p:sp>
        <p:nvSpPr>
          <p:cNvPr id="13" name="Text 11"/>
          <p:cNvSpPr txBox="1"/>
          <p:nvPr/>
        </p:nvSpPr>
        <p:spPr>
          <a:xfrm>
            <a:off x="640080" y="3383280"/>
            <a:ext cx="3657600" cy="274320"/>
          </a:xfrm>
          <a:prstGeom prst="rect">
            <a:avLst/>
          </a:prstGeom>
          <a:noFill/>
          <a:ln/>
        </p:spPr>
        <p:txBody>
          <a:bodyPr wrap="square" lIns="0" tIns="0" rIns="0" bIns="0" rtlCol="0" anchor="t"/>
          <a:lstStyle/>
          <a:p>
            <a:pPr indent="0" marL="0">
              <a:buNone/>
            </a:pPr>
            <a:r>
              <a:rPr lang="en-US" sz="1000" dirty="0">
                <a:solidFill>
                  <a:schemeClr val="accent1"/>
                </a:solidFill>
                <a:latin typeface="Courier New" pitchFamily="34" charset="0"/>
                <a:ea typeface="Courier New" pitchFamily="34" charset="-122"/>
                <a:cs typeface="Courier New" pitchFamily="34" charset="-120"/>
              </a:rPr>
              <a:t>proxy._send_with_retry</a:t>
            </a:r>
            <a:endParaRPr lang="en-US" sz="1000" dirty="0"/>
          </a:p>
        </p:txBody>
      </p:sp>
      <p:sp>
        <p:nvSpPr>
          <p:cNvPr id="14" name="Text 12"/>
          <p:cNvSpPr txBox="1"/>
          <p:nvPr/>
        </p:nvSpPr>
        <p:spPr>
          <a:xfrm>
            <a:off x="640080" y="3703320"/>
            <a:ext cx="3657600" cy="8229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Connection errors are retried on the same replica. There is no failover to another replica yet.</a:t>
            </a:r>
            <a:endParaRPr lang="en-US" sz="1300" dirty="0"/>
          </a:p>
        </p:txBody>
      </p:sp>
      <p:sp>
        <p:nvSpPr>
          <p:cNvPr id="15" name="Protection card 4"/>
          <p:cNvSpPr/>
          <p:nvPr/>
        </p:nvSpPr>
        <p:spPr>
          <a:xfrm>
            <a:off x="4663440" y="2926080"/>
            <a:ext cx="402336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4846320" y="3035808"/>
            <a:ext cx="365760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Metrics scraper</a:t>
            </a:r>
            <a:endParaRPr lang="en-US" sz="1600" dirty="0"/>
          </a:p>
        </p:txBody>
      </p:sp>
      <p:sp>
        <p:nvSpPr>
          <p:cNvPr id="17" name="Text 15"/>
          <p:cNvSpPr txBox="1"/>
          <p:nvPr/>
        </p:nvSpPr>
        <p:spPr>
          <a:xfrm>
            <a:off x="4846320" y="3383280"/>
            <a:ext cx="3657600" cy="274320"/>
          </a:xfrm>
          <a:prstGeom prst="rect">
            <a:avLst/>
          </a:prstGeom>
          <a:noFill/>
          <a:ln/>
        </p:spPr>
        <p:txBody>
          <a:bodyPr wrap="square" lIns="0" tIns="0" rIns="0" bIns="0" rtlCol="0" anchor="t"/>
          <a:lstStyle/>
          <a:p>
            <a:pPr indent="0" marL="0">
              <a:buNone/>
            </a:pPr>
            <a:r>
              <a:rPr lang="en-US" sz="1000" dirty="0">
                <a:solidFill>
                  <a:schemeClr val="accent1"/>
                </a:solidFill>
                <a:latin typeface="Courier New" pitchFamily="34" charset="0"/>
                <a:ea typeface="Courier New" pitchFamily="34" charset="-122"/>
                <a:cs typeface="Courier New" pitchFamily="34" charset="-120"/>
              </a:rPr>
              <a:t>metrics_scraper.py</a:t>
            </a:r>
            <a:endParaRPr lang="en-US" sz="1000" dirty="0"/>
          </a:p>
        </p:txBody>
      </p:sp>
      <p:sp>
        <p:nvSpPr>
          <p:cNvPr id="18" name="Text 16"/>
          <p:cNvSpPr txBox="1"/>
          <p:nvPr/>
        </p:nvSpPr>
        <p:spPr>
          <a:xfrm>
            <a:off x="4846320" y="3703320"/>
            <a:ext cx="3657600" cy="8229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Every 2 seconds reads each replica's /health and /metrics; the sidecar also reports GPU memory and temperature.</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Implementation: events and the console</a:t>
            </a:r>
            <a:endParaRPr lang="en-US" sz="3200" dirty="0"/>
          </a:p>
        </p:txBody>
      </p:sp>
      <p:sp>
        <p:nvSpPr>
          <p:cNvPr id="3" name="Text 1"/>
          <p:cNvSpPr txBox="1"/>
          <p:nvPr/>
        </p:nvSpPr>
        <p:spPr>
          <a:xfrm>
            <a:off x="457200" y="1097280"/>
            <a:ext cx="8229600" cy="2651760"/>
          </a:xfrm>
          <a:prstGeom prst="rect">
            <a:avLst/>
          </a:prstGeom>
          <a:noFill/>
          <a:ln/>
        </p:spPr>
        <p:txBody>
          <a:bodyPr wrap="square" lIns="0" tIns="0" rIns="0" bIns="0" rtlCol="0" anchor="t"/>
          <a:lstStyle/>
          <a:p>
            <a:pPr marL="342900" indent="-342900">
              <a:spcAft>
                <a:spcPts val="600"/>
              </a:spcAft>
              <a:buSzPct val="100000"/>
              <a:buChar char="•"/>
            </a:pPr>
            <a:r>
              <a:rPr lang="en-US" sz="1300" b="1" dirty="0">
                <a:solidFill>
                  <a:schemeClr val="tx1"/>
                </a:solidFill>
                <a:latin typeface="Calibri" pitchFamily="34" charset="0"/>
                <a:ea typeface="Calibri" pitchFamily="34" charset="-122"/>
                <a:cs typeface="Calibri" pitchFamily="34" charset="-120"/>
              </a:rPr>
              <a:t>Events. </a:t>
            </a:r>
            <a:pPr indent="0" marL="0">
              <a:spcAft>
                <a:spcPts val="600"/>
              </a:spcAft>
              <a:buNone/>
            </a:pPr>
            <a:r>
              <a:rPr lang="en-US" sz="1300" dirty="0">
                <a:solidFill>
                  <a:schemeClr val="tx1"/>
                </a:solidFill>
                <a:latin typeface="Calibri" pitchFamily="34" charset="0"/>
                <a:ea typeface="Calibri" pitchFamily="34" charset="-122"/>
                <a:cs typeface="Calibri" pitchFamily="34" charset="-120"/>
              </a:rPr>
              <a:t>Every step of a request is published to an in-process EventBus (a ring buffer with bounded subscriber queues) that never blocks or raises.</a:t>
            </a:r>
            <a:endParaRPr lang="en-US" sz="1300" dirty="0"/>
          </a:p>
          <a:p>
            <a:pPr marL="342900" indent="-342900">
              <a:spcAft>
                <a:spcPts val="600"/>
              </a:spcAft>
              <a:buSzPct val="100000"/>
              <a:buChar char="•"/>
            </a:pPr>
            <a:r>
              <a:rPr lang="en-US" sz="1300" b="1" dirty="0">
                <a:solidFill>
                  <a:schemeClr val="tx1"/>
                </a:solidFill>
                <a:latin typeface="Calibri" pitchFamily="34" charset="0"/>
                <a:ea typeface="Calibri" pitchFamily="34" charset="-122"/>
                <a:cs typeface="Calibri" pitchFamily="34" charset="-120"/>
              </a:rPr>
              <a:t>Traces. </a:t>
            </a:r>
            <a:pPr indent="0" marL="0">
              <a:spcAft>
                <a:spcPts val="600"/>
              </a:spcAft>
              <a:buNone/>
            </a:pPr>
            <a:r>
              <a:rPr lang="en-US" sz="1300" dirty="0">
                <a:solidFill>
                  <a:schemeClr val="tx1"/>
                </a:solidFill>
                <a:latin typeface="Calibri" pitchFamily="34" charset="0"/>
                <a:ea typeface="Calibri" pitchFamily="34" charset="-122"/>
                <a:cs typeface="Calibri" pitchFamily="34" charset="-120"/>
              </a:rPr>
              <a:t>A RequestTrace per request records the selected, dispatched and served replica separately, with the decision, retries and timings.</a:t>
            </a:r>
            <a:endParaRPr lang="en-US" sz="1300" dirty="0"/>
          </a:p>
          <a:p>
            <a:pPr marL="342900" indent="-342900">
              <a:spcAft>
                <a:spcPts val="600"/>
              </a:spcAft>
              <a:buSzPct val="100000"/>
              <a:buChar char="•"/>
            </a:pPr>
            <a:r>
              <a:rPr lang="en-US" sz="1300" b="1" dirty="0">
                <a:solidFill>
                  <a:schemeClr val="tx1"/>
                </a:solidFill>
                <a:latin typeface="Calibri" pitchFamily="34" charset="0"/>
                <a:ea typeface="Calibri" pitchFamily="34" charset="-122"/>
                <a:cs typeface="Calibri" pitchFamily="34" charset="-120"/>
              </a:rPr>
              <a:t>Streaming to the browser. </a:t>
            </a:r>
            <a:pPr indent="0" marL="0">
              <a:spcAft>
                <a:spcPts val="600"/>
              </a:spcAft>
              <a:buNone/>
            </a:pPr>
            <a:r>
              <a:rPr lang="en-US" sz="1300" dirty="0">
                <a:solidFill>
                  <a:schemeClr val="tx1"/>
                </a:solidFill>
                <a:latin typeface="Calibri" pitchFamily="34" charset="0"/>
                <a:ea typeface="Calibri" pitchFamily="34" charset="-122"/>
                <a:cs typeface="Calibri" pitchFamily="34" charset="-120"/>
              </a:rPr>
              <a:t>The console subscribes to /api/events/stream (server-sent events) and can resume from the last event it saw.</a:t>
            </a:r>
            <a:endParaRPr lang="en-US" sz="1300" dirty="0"/>
          </a:p>
          <a:p>
            <a:pPr marL="342900" indent="-342900">
              <a:spcAft>
                <a:spcPts val="600"/>
              </a:spcAft>
              <a:buSzPct val="100000"/>
              <a:buChar char="•"/>
            </a:pPr>
            <a:r>
              <a:rPr lang="en-US" sz="1300" b="1" dirty="0">
                <a:solidFill>
                  <a:schemeClr val="tx1"/>
                </a:solidFill>
                <a:latin typeface="Calibri" pitchFamily="34" charset="0"/>
                <a:ea typeface="Calibri" pitchFamily="34" charset="-122"/>
                <a:cs typeface="Calibri" pitchFamily="34" charset="-120"/>
              </a:rPr>
              <a:t>Console. </a:t>
            </a:r>
            <a:pPr indent="0" marL="0">
              <a:spcAft>
                <a:spcPts val="600"/>
              </a:spcAft>
              <a:buNone/>
            </a:pPr>
            <a:r>
              <a:rPr lang="en-US" sz="1300" dirty="0">
                <a:solidFill>
                  <a:schemeClr val="tx1"/>
                </a:solidFill>
                <a:latin typeface="Calibri" pitchFamily="34" charset="0"/>
                <a:ea typeface="Calibri" pitchFamily="34" charset="-122"/>
                <a:cs typeface="Calibri" pitchFamily="34" charset="-120"/>
              </a:rPr>
              <a:t>Playground, Load test, Compare, Live routing and Dashboard are plain JavaScript modules with no framework.</a:t>
            </a:r>
            <a:endParaRPr lang="en-US" sz="1300" dirty="0"/>
          </a:p>
          <a:p>
            <a:pPr marL="342900" indent="-342900">
              <a:spcAft>
                <a:spcPts val="600"/>
              </a:spcAft>
              <a:buSzPct val="100000"/>
              <a:buChar char="•"/>
            </a:pPr>
            <a:r>
              <a:rPr lang="en-US" sz="1300" b="1" dirty="0">
                <a:solidFill>
                  <a:schemeClr val="tx1"/>
                </a:solidFill>
                <a:latin typeface="Calibri" pitchFamily="34" charset="0"/>
                <a:ea typeface="Calibri" pitchFamily="34" charset="-122"/>
                <a:cs typeface="Calibri" pitchFamily="34" charset="-120"/>
              </a:rPr>
              <a:t>Compare. </a:t>
            </a:r>
            <a:pPr indent="0" marL="0">
              <a:spcAft>
                <a:spcPts val="600"/>
              </a:spcAft>
              <a:buNone/>
            </a:pPr>
            <a:r>
              <a:rPr lang="en-US" sz="1300" dirty="0">
                <a:solidFill>
                  <a:schemeClr val="tx1"/>
                </a:solidFill>
                <a:latin typeface="Calibri" pitchFamily="34" charset="0"/>
                <a:ea typeface="Calibri" pitchFamily="34" charset="-122"/>
                <a:cs typeface="Calibri" pitchFamily="34" charset="-120"/>
              </a:rPr>
              <a:t>POST /api/policy swaps in a fresh policy (off by default; the dev launcher enables it on localhost). The Compare tab runs one seeded workload through each policy.</a:t>
            </a:r>
            <a:endParaRPr lang="en-US" sz="1300" dirty="0"/>
          </a:p>
        </p:txBody>
      </p:sp>
      <p:sp>
        <p:nvSpPr>
          <p:cNvPr id="4" name="Event 1"/>
          <p:cNvSpPr/>
          <p:nvPr/>
        </p:nvSpPr>
        <p:spPr>
          <a:xfrm>
            <a:off x="457200" y="3977640"/>
            <a:ext cx="1463040" cy="548640"/>
          </a:xfrm>
          <a:prstGeom prst="roundRect">
            <a:avLst>
              <a:gd name="adj" fmla="val 10000"/>
            </a:avLst>
          </a:prstGeom>
          <a:solidFill>
            <a:schemeClr val="tx1"/>
          </a:solidFill>
          <a:ln w="12700">
            <a:solidFill>
              <a:schemeClr val="tx1"/>
            </a:solidFill>
            <a:prstDash val="solid"/>
          </a:ln>
        </p:spPr>
      </p:sp>
      <p:sp>
        <p:nvSpPr>
          <p:cNvPr id="5" name="Text 3"/>
          <p:cNvSpPr txBox="1"/>
          <p:nvPr/>
        </p:nvSpPr>
        <p:spPr>
          <a:xfrm>
            <a:off x="457200" y="3977640"/>
            <a:ext cx="1463040" cy="548640"/>
          </a:xfrm>
          <a:prstGeom prst="rect">
            <a:avLst/>
          </a:prstGeom>
          <a:no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request.received</a:t>
            </a:r>
            <a:endParaRPr lang="en-US" sz="1000" dirty="0"/>
          </a:p>
        </p:txBody>
      </p:sp>
      <p:sp>
        <p:nvSpPr>
          <p:cNvPr id="6" name="Event arrow 1"/>
          <p:cNvSpPr/>
          <p:nvPr/>
        </p:nvSpPr>
        <p:spPr>
          <a:xfrm>
            <a:off x="1938528" y="4251960"/>
            <a:ext cx="164592" cy="0"/>
          </a:xfrm>
          <a:prstGeom prst="line">
            <a:avLst/>
          </a:prstGeom>
          <a:noFill/>
          <a:ln w="22225">
            <a:solidFill>
              <a:schemeClr val="accent4"/>
            </a:solidFill>
            <a:prstDash val="solid"/>
            <a:tailEnd type="triangle"/>
          </a:ln>
        </p:spPr>
      </p:sp>
      <p:sp>
        <p:nvSpPr>
          <p:cNvPr id="7" name="Event 2"/>
          <p:cNvSpPr/>
          <p:nvPr/>
        </p:nvSpPr>
        <p:spPr>
          <a:xfrm>
            <a:off x="2121408" y="3977640"/>
            <a:ext cx="1463040" cy="548640"/>
          </a:xfrm>
          <a:prstGeom prst="roundRect">
            <a:avLst>
              <a:gd name="adj" fmla="val 10000"/>
            </a:avLst>
          </a:prstGeom>
          <a:solidFill>
            <a:schemeClr val="accent1"/>
          </a:solidFill>
          <a:ln w="12700">
            <a:solidFill>
              <a:schemeClr val="accent1"/>
            </a:solidFill>
            <a:prstDash val="solid"/>
          </a:ln>
        </p:spPr>
      </p:sp>
      <p:sp>
        <p:nvSpPr>
          <p:cNvPr id="8" name="Text 6"/>
          <p:cNvSpPr txBox="1"/>
          <p:nvPr/>
        </p:nvSpPr>
        <p:spPr>
          <a:xfrm>
            <a:off x="2121408" y="3977640"/>
            <a:ext cx="1463040" cy="548640"/>
          </a:xfrm>
          <a:prstGeom prst="rect">
            <a:avLst/>
          </a:prstGeom>
          <a:no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routing.decision</a:t>
            </a:r>
            <a:endParaRPr lang="en-US" sz="1000" dirty="0"/>
          </a:p>
        </p:txBody>
      </p:sp>
      <p:sp>
        <p:nvSpPr>
          <p:cNvPr id="9" name="Event arrow 2"/>
          <p:cNvSpPr/>
          <p:nvPr/>
        </p:nvSpPr>
        <p:spPr>
          <a:xfrm>
            <a:off x="3602736" y="4251960"/>
            <a:ext cx="164592" cy="0"/>
          </a:xfrm>
          <a:prstGeom prst="line">
            <a:avLst/>
          </a:prstGeom>
          <a:noFill/>
          <a:ln w="22225">
            <a:solidFill>
              <a:schemeClr val="accent4"/>
            </a:solidFill>
            <a:prstDash val="solid"/>
            <a:tailEnd type="triangle"/>
          </a:ln>
        </p:spPr>
      </p:sp>
      <p:sp>
        <p:nvSpPr>
          <p:cNvPr id="10" name="Event 3"/>
          <p:cNvSpPr/>
          <p:nvPr/>
        </p:nvSpPr>
        <p:spPr>
          <a:xfrm>
            <a:off x="3785616" y="3977640"/>
            <a:ext cx="1463040" cy="548640"/>
          </a:xfrm>
          <a:prstGeom prst="roundRect">
            <a:avLst>
              <a:gd name="adj" fmla="val 10000"/>
            </a:avLst>
          </a:prstGeom>
          <a:solidFill>
            <a:schemeClr val="tx1"/>
          </a:solidFill>
          <a:ln w="12700">
            <a:solidFill>
              <a:schemeClr val="tx1"/>
            </a:solidFill>
            <a:prstDash val="solid"/>
          </a:ln>
        </p:spPr>
      </p:sp>
      <p:sp>
        <p:nvSpPr>
          <p:cNvPr id="11" name="Text 9"/>
          <p:cNvSpPr txBox="1"/>
          <p:nvPr/>
        </p:nvSpPr>
        <p:spPr>
          <a:xfrm>
            <a:off x="3785616" y="3977640"/>
            <a:ext cx="1463040" cy="548640"/>
          </a:xfrm>
          <a:prstGeom prst="rect">
            <a:avLst/>
          </a:prstGeom>
          <a:no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dispatch</a:t>
            </a:r>
            <a:endParaRPr lang="en-US" sz="1000" dirty="0"/>
          </a:p>
        </p:txBody>
      </p:sp>
      <p:sp>
        <p:nvSpPr>
          <p:cNvPr id="12" name="Event arrow 3"/>
          <p:cNvSpPr/>
          <p:nvPr/>
        </p:nvSpPr>
        <p:spPr>
          <a:xfrm>
            <a:off x="5266944" y="4251960"/>
            <a:ext cx="164592" cy="0"/>
          </a:xfrm>
          <a:prstGeom prst="line">
            <a:avLst/>
          </a:prstGeom>
          <a:noFill/>
          <a:ln w="22225">
            <a:solidFill>
              <a:schemeClr val="accent4"/>
            </a:solidFill>
            <a:prstDash val="solid"/>
            <a:tailEnd type="triangle"/>
          </a:ln>
        </p:spPr>
      </p:sp>
      <p:sp>
        <p:nvSpPr>
          <p:cNvPr id="13" name="Event 4"/>
          <p:cNvSpPr/>
          <p:nvPr/>
        </p:nvSpPr>
        <p:spPr>
          <a:xfrm>
            <a:off x="5449824" y="3977640"/>
            <a:ext cx="1463040" cy="548640"/>
          </a:xfrm>
          <a:prstGeom prst="roundRect">
            <a:avLst>
              <a:gd name="adj" fmla="val 10000"/>
            </a:avLst>
          </a:prstGeom>
          <a:solidFill>
            <a:schemeClr val="tx1"/>
          </a:solidFill>
          <a:ln w="12700">
            <a:solidFill>
              <a:schemeClr val="tx1"/>
            </a:solidFill>
            <a:prstDash val="solid"/>
          </a:ln>
        </p:spPr>
      </p:sp>
      <p:sp>
        <p:nvSpPr>
          <p:cNvPr id="14" name="Text 12"/>
          <p:cNvSpPr txBox="1"/>
          <p:nvPr/>
        </p:nvSpPr>
        <p:spPr>
          <a:xfrm>
            <a:off x="5449824" y="3977640"/>
            <a:ext cx="1463040" cy="548640"/>
          </a:xfrm>
          <a:prstGeom prst="rect">
            <a:avLst/>
          </a:prstGeom>
          <a:no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first_token</a:t>
            </a:r>
            <a:endParaRPr lang="en-US" sz="1000" dirty="0"/>
          </a:p>
        </p:txBody>
      </p:sp>
      <p:sp>
        <p:nvSpPr>
          <p:cNvPr id="15" name="Event arrow 4"/>
          <p:cNvSpPr/>
          <p:nvPr/>
        </p:nvSpPr>
        <p:spPr>
          <a:xfrm>
            <a:off x="6931152" y="4251960"/>
            <a:ext cx="164592" cy="0"/>
          </a:xfrm>
          <a:prstGeom prst="line">
            <a:avLst/>
          </a:prstGeom>
          <a:noFill/>
          <a:ln w="22225">
            <a:solidFill>
              <a:schemeClr val="accent4"/>
            </a:solidFill>
            <a:prstDash val="solid"/>
            <a:tailEnd type="triangle"/>
          </a:ln>
        </p:spPr>
      </p:sp>
      <p:sp>
        <p:nvSpPr>
          <p:cNvPr id="16" name="Event 5"/>
          <p:cNvSpPr/>
          <p:nvPr/>
        </p:nvSpPr>
        <p:spPr>
          <a:xfrm>
            <a:off x="7114032" y="3977640"/>
            <a:ext cx="1463040" cy="548640"/>
          </a:xfrm>
          <a:prstGeom prst="roundRect">
            <a:avLst>
              <a:gd name="adj" fmla="val 10000"/>
            </a:avLst>
          </a:prstGeom>
          <a:solidFill>
            <a:schemeClr val="tx1"/>
          </a:solidFill>
          <a:ln w="12700">
            <a:solidFill>
              <a:schemeClr val="tx1"/>
            </a:solidFill>
            <a:prstDash val="solid"/>
          </a:ln>
        </p:spPr>
      </p:sp>
      <p:sp>
        <p:nvSpPr>
          <p:cNvPr id="17" name="Text 15"/>
          <p:cNvSpPr txBox="1"/>
          <p:nvPr/>
        </p:nvSpPr>
        <p:spPr>
          <a:xfrm>
            <a:off x="7114032" y="3977640"/>
            <a:ext cx="1463040" cy="548640"/>
          </a:xfrm>
          <a:prstGeom prst="rect">
            <a:avLst/>
          </a:prstGeom>
          <a:no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request.completed</a:t>
            </a:r>
            <a:endParaRPr lang="en-US" sz="1000" dirty="0"/>
          </a:p>
        </p:txBody>
      </p:sp>
      <p:sp>
        <p:nvSpPr>
          <p:cNvPr id="18" name="Text 16"/>
          <p:cNvSpPr txBox="1"/>
          <p:nvPr/>
        </p:nvSpPr>
        <p:spPr>
          <a:xfrm>
            <a:off x="457200" y="3703320"/>
            <a:ext cx="4572000" cy="256032"/>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Events published for one request</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Implementation: testing and verification</a:t>
            </a:r>
            <a:endParaRPr lang="en-US" sz="3200" dirty="0"/>
          </a:p>
        </p:txBody>
      </p:sp>
      <p:sp>
        <p:nvSpPr>
          <p:cNvPr id="3" name="Testing panel 1"/>
          <p:cNvSpPr/>
          <p:nvPr/>
        </p:nvSpPr>
        <p:spPr>
          <a:xfrm>
            <a:off x="457200" y="1143000"/>
            <a:ext cx="2560320" cy="3108960"/>
          </a:xfrm>
          <a:prstGeom prst="roundRect">
            <a:avLst>
              <a:gd name="adj" fmla="val 285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40080" y="1261872"/>
            <a:ext cx="2240280" cy="36576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Automated tests</a:t>
            </a:r>
            <a:endParaRPr lang="en-US" sz="1600" dirty="0"/>
          </a:p>
        </p:txBody>
      </p:sp>
      <p:sp>
        <p:nvSpPr>
          <p:cNvPr id="5" name="Text 3"/>
          <p:cNvSpPr txBox="1"/>
          <p:nvPr/>
        </p:nvSpPr>
        <p:spPr>
          <a:xfrm>
            <a:off x="640080" y="1737360"/>
            <a:ext cx="2240280" cy="2834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latin typeface="Calibri" pitchFamily="34" charset="0"/>
                <a:ea typeface="Calibri" pitchFamily="34" charset="-122"/>
                <a:cs typeface="Calibri" pitchFamily="34" charset="-120"/>
              </a:rPr>
              <a:t>371 tests pass, plus a browser end-to-end test.</a:t>
            </a:r>
            <a:endParaRPr lang="en-US" sz="1200" dirty="0"/>
          </a:p>
          <a:p>
            <a:pPr marL="342900" indent="-342900">
              <a:spcAft>
                <a:spcPts val="600"/>
              </a:spcAft>
              <a:buSzPct val="100000"/>
              <a:buChar char="•"/>
            </a:pPr>
            <a:r>
              <a:rPr lang="en-US" sz="1200" dirty="0">
                <a:solidFill>
                  <a:schemeClr val="tx1"/>
                </a:solidFill>
                <a:latin typeface="Calibri" pitchFamily="34" charset="0"/>
                <a:ea typeface="Calibri" pitchFamily="34" charset="-122"/>
                <a:cs typeface="Calibri" pitchFamily="34" charset="-120"/>
              </a:rPr>
              <a:t>Replicas in the tests are mocked, or fake servers with real prefix caching and no model.</a:t>
            </a:r>
            <a:endParaRPr lang="en-US" sz="1200" dirty="0"/>
          </a:p>
          <a:p>
            <a:pPr marL="342900" indent="-342900">
              <a:spcAft>
                <a:spcPts val="600"/>
              </a:spcAft>
              <a:buSzPct val="100000"/>
              <a:buChar char="•"/>
            </a:pPr>
            <a:r>
              <a:rPr lang="en-US" sz="1200" dirty="0">
                <a:solidFill>
                  <a:schemeClr val="tx1"/>
                </a:solidFill>
                <a:latin typeface="Calibri" pitchFamily="34" charset="0"/>
                <a:ea typeface="Calibri" pitchFamily="34" charset="-122"/>
                <a:cs typeface="Calibri" pitchFamily="34" charset="-120"/>
              </a:rPr>
              <a:t>They check routing, attribution, retries, the event stream, the console and the policy switch.</a:t>
            </a:r>
            <a:endParaRPr lang="en-US" sz="1200" dirty="0"/>
          </a:p>
        </p:txBody>
      </p:sp>
      <p:sp>
        <p:nvSpPr>
          <p:cNvPr id="6" name="Testing panel 2"/>
          <p:cNvSpPr/>
          <p:nvPr/>
        </p:nvSpPr>
        <p:spPr>
          <a:xfrm>
            <a:off x="3291840" y="1143000"/>
            <a:ext cx="2560320" cy="3108960"/>
          </a:xfrm>
          <a:prstGeom prst="roundRect">
            <a:avLst>
              <a:gd name="adj" fmla="val 285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3474720" y="1261872"/>
            <a:ext cx="2240280" cy="365760"/>
          </a:xfrm>
          <a:prstGeom prst="rect">
            <a:avLst/>
          </a:prstGeom>
          <a:noFill/>
          <a:ln/>
        </p:spPr>
        <p:txBody>
          <a:bodyPr wrap="square" lIns="0" tIns="0" rIns="0" bIns="0" rtlCol="0" anchor="t"/>
          <a:lstStyle/>
          <a:p>
            <a:pPr indent="0" marL="0">
              <a:buNone/>
            </a:pPr>
            <a:r>
              <a:rPr lang="en-US" sz="1600" b="1" dirty="0">
                <a:solidFill>
                  <a:schemeClr val="accent3"/>
                </a:solidFill>
                <a:latin typeface="Cambria" pitchFamily="34" charset="0"/>
                <a:ea typeface="Cambria" pitchFamily="34" charset="-122"/>
                <a:cs typeface="Cambria" pitchFamily="34" charset="-120"/>
              </a:rPr>
              <a:t>Observed on real GPUs</a:t>
            </a:r>
            <a:endParaRPr lang="en-US" sz="1600" dirty="0"/>
          </a:p>
        </p:txBody>
      </p:sp>
      <p:sp>
        <p:nvSpPr>
          <p:cNvPr id="8" name="Text 6"/>
          <p:cNvSpPr txBox="1"/>
          <p:nvPr/>
        </p:nvSpPr>
        <p:spPr>
          <a:xfrm>
            <a:off x="3474720" y="1737360"/>
            <a:ext cx="2240280" cy="2834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latin typeface="Calibri" pitchFamily="34" charset="0"/>
                <a:ea typeface="Calibri" pitchFamily="34" charset="-122"/>
                <a:cs typeface="Calibri" pitchFamily="34" charset="-120"/>
              </a:rPr>
              <a:t>Four Colab T4 nodes behind tunnels, vLLM with Qwen2.5-3B-Instruct.</a:t>
            </a:r>
            <a:endParaRPr lang="en-US" sz="1200" dirty="0"/>
          </a:p>
          <a:p>
            <a:pPr marL="342900" indent="-342900">
              <a:spcAft>
                <a:spcPts val="600"/>
              </a:spcAft>
              <a:buSzPct val="100000"/>
              <a:buChar char="•"/>
            </a:pPr>
            <a:r>
              <a:rPr lang="en-US" sz="1200" dirty="0">
                <a:solidFill>
                  <a:schemeClr val="tx1"/>
                </a:solidFill>
                <a:latin typeface="Calibri" pitchFamily="34" charset="0"/>
                <a:ea typeface="Calibri" pitchFamily="34" charset="-122"/>
                <a:cs typeface="Calibri" pitchFamily="34" charset="-120"/>
              </a:rPr>
              <a:t>Predicted and reported cached tokens matched on a test request.</a:t>
            </a:r>
            <a:endParaRPr lang="en-US" sz="1200" dirty="0"/>
          </a:p>
          <a:p>
            <a:pPr marL="342900" indent="-342900">
              <a:spcAft>
                <a:spcPts val="600"/>
              </a:spcAft>
              <a:buSzPct val="100000"/>
              <a:buChar char="•"/>
            </a:pPr>
            <a:r>
              <a:rPr lang="en-US" sz="1200" dirty="0">
                <a:solidFill>
                  <a:schemeClr val="tx1"/>
                </a:solidFill>
                <a:latin typeface="Calibri" pitchFamily="34" charset="0"/>
                <a:ea typeface="Calibri" pitchFamily="34" charset="-122"/>
                <a:cs typeface="Calibri" pitchFamily="34" charset="-120"/>
              </a:rPr>
              <a:t>Three comparison runs of all four policies, 60 requests each.</a:t>
            </a:r>
            <a:endParaRPr lang="en-US" sz="1200" dirty="0"/>
          </a:p>
        </p:txBody>
      </p:sp>
      <p:sp>
        <p:nvSpPr>
          <p:cNvPr id="9" name="Testing panel 3"/>
          <p:cNvSpPr/>
          <p:nvPr/>
        </p:nvSpPr>
        <p:spPr>
          <a:xfrm>
            <a:off x="6126480" y="1143000"/>
            <a:ext cx="2560320" cy="3108960"/>
          </a:xfrm>
          <a:prstGeom prst="roundRect">
            <a:avLst>
              <a:gd name="adj" fmla="val 285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6309360" y="1261872"/>
            <a:ext cx="2240280" cy="365760"/>
          </a:xfrm>
          <a:prstGeom prst="rect">
            <a:avLst/>
          </a:prstGeom>
          <a:noFill/>
          <a:ln/>
        </p:spPr>
        <p:txBody>
          <a:bodyPr wrap="square" lIns="0" tIns="0" rIns="0" bIns="0" rtlCol="0" anchor="t"/>
          <a:lstStyle/>
          <a:p>
            <a:pPr indent="0" marL="0">
              <a:buNone/>
            </a:pPr>
            <a:r>
              <a:rPr lang="en-US" sz="1600" b="1" dirty="0">
                <a:solidFill>
                  <a:schemeClr val="accent5"/>
                </a:solidFill>
                <a:latin typeface="Cambria" pitchFamily="34" charset="0"/>
                <a:ea typeface="Cambria" pitchFamily="34" charset="-122"/>
                <a:cs typeface="Cambria" pitchFamily="34" charset="-120"/>
              </a:rPr>
              <a:t>Not verified</a:t>
            </a:r>
            <a:endParaRPr lang="en-US" sz="1600" dirty="0"/>
          </a:p>
        </p:txBody>
      </p:sp>
      <p:sp>
        <p:nvSpPr>
          <p:cNvPr id="11" name="Text 9"/>
          <p:cNvSpPr txBox="1"/>
          <p:nvPr/>
        </p:nvSpPr>
        <p:spPr>
          <a:xfrm>
            <a:off x="6309360" y="1737360"/>
            <a:ext cx="2240280" cy="2834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latin typeface="Calibri" pitchFamily="34" charset="0"/>
                <a:ea typeface="Calibri" pitchFamily="34" charset="-122"/>
                <a:cs typeface="Calibri" pitchFamily="34" charset="-120"/>
              </a:rPr>
              <a:t>Failover between replicas (not implemented).</a:t>
            </a:r>
            <a:endParaRPr lang="en-US" sz="1200" dirty="0"/>
          </a:p>
          <a:p>
            <a:pPr marL="342900" indent="-342900">
              <a:spcAft>
                <a:spcPts val="600"/>
              </a:spcAft>
              <a:buSzPct val="100000"/>
              <a:buChar char="•"/>
            </a:pPr>
            <a:r>
              <a:rPr lang="en-US" sz="1200" dirty="0">
                <a:solidFill>
                  <a:schemeClr val="tx1"/>
                </a:solidFill>
                <a:latin typeface="Calibri" pitchFamily="34" charset="0"/>
                <a:ea typeface="Calibri" pitchFamily="34" charset="-122"/>
                <a:cs typeface="Calibri" pitchFamily="34" charset="-120"/>
              </a:rPr>
              <a:t>Why the tail latency of prefix_aware varied between runs.</a:t>
            </a:r>
            <a:endParaRPr lang="en-US" sz="1200" dirty="0"/>
          </a:p>
          <a:p>
            <a:pPr marL="342900" indent="-342900">
              <a:spcAft>
                <a:spcPts val="600"/>
              </a:spcAft>
              <a:buSzPct val="100000"/>
              <a:buChar char="•"/>
            </a:pPr>
            <a:r>
              <a:rPr lang="en-US" sz="1200" dirty="0">
                <a:solidFill>
                  <a:schemeClr val="tx1"/>
                </a:solidFill>
                <a:latin typeface="Calibri" pitchFamily="34" charset="0"/>
                <a:ea typeface="Calibri" pitchFamily="34" charset="-122"/>
                <a:cs typeface="Calibri" pitchFamily="34" charset="-120"/>
              </a:rPr>
              <a:t>Behaviour with other models, other cache sizes or much longer runs.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Graphite Teal">
  <a:themeElements>
    <a:clrScheme name="Graphite Teal">
      <a:dk1>
        <a:srgbClr val="1B1F2A"/>
      </a:dk1>
      <a:lt1>
        <a:srgbClr val="FFFFFF"/>
      </a:lt1>
      <a:dk2>
        <a:srgbClr val="3A4457"/>
      </a:dk2>
      <a:lt2>
        <a:srgbClr val="F1F3F6"/>
      </a:lt2>
      <a:accent1>
        <a:srgbClr val="0E8F7E"/>
      </a:accent1>
      <a:accent2>
        <a:srgbClr val="E8A23B"/>
      </a:accent2>
      <a:accent3>
        <a:srgbClr val="5878A8"/>
      </a:accent3>
      <a:accent4>
        <a:srgbClr val="8B95A7"/>
      </a:accent4>
      <a:accent5>
        <a:srgbClr val="C8445A"/>
      </a:accent5>
      <a:accent6>
        <a:srgbClr val="3E9E5F"/>
      </a:accent6>
      <a:hlink>
        <a:srgbClr val="0E8F7E"/>
      </a:hlink>
      <a:folHlink>
        <a:srgbClr val="8B95A7"/>
      </a:folHlink>
    </a:clrScheme>
    <a:fontScheme name="Graphite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Implementation and Routing Policies</dc:title>
  <dc:subject>How the router chooses a replica and how it is built</dc:subject>
  <dc:creator> </dc:creator>
  <cp:lastModifiedBy> </cp:lastModifiedBy>
  <cp:revision>1</cp:revision>
  <dcterms:created xsi:type="dcterms:W3CDTF">2026-10-12T16:31:48Z</dcterms:created>
  <dcterms:modified xsi:type="dcterms:W3CDTF">2026-10-12T16:31:48Z</dcterms:modified>
</cp:coreProperties>
</file>