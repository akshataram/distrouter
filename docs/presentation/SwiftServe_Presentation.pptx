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 id="{c539bc58-b576-c4e8-691c-a65f60ba4970}">
          <p14:sldIdLst>
            <p14:sldId id="256"/>
            <p14:sldId id="257"/>
            <p14:sldId id="258"/>
          </p14:sldIdLst>
        </p14:section>
        <p14:section name="Approach" id="{231248a7-a401-9724-f437-67100ae3fc62}">
          <p14:sldIdLst>
            <p14:sldId id="259"/>
            <p14:sldId id="260"/>
            <p14:sldId id="261"/>
            <p14:sldId id="262"/>
          </p14:sldIdLst>
        </p14:section>
        <p14:section name="Evidence" id="{89166efa-3671-1b49-87ea-85854a37e707}">
          <p14:sldIdLst>
            <p14:sldId id="263"/>
            <p14:sldId id="264"/>
            <p14:sldId id="265"/>
            <p14:sldId id="266"/>
          </p14:sldIdLst>
        </p14:section>
        <p14:section name="Close" id="{1f3e8ba1-22f0-ab92-dab9-b000bc733957}">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A"/>
                </a:solidFill>
                <a:latin typeface="+mn-lt"/>
              </a:defRPr>
            </a:pPr>
            <a:r>
              <a:rPr sz="1400" b="0" i="0" u="none" strike="noStrike">
                <a:solidFill>
                  <a:srgbClr val="1B1F2A"/>
                </a:solidFill>
                <a:latin typeface="+mn-lt"/>
              </a:rPr>
              <a:t>Requests served per replica</a:t>
            </a:r>
          </a:p>
        </c:rich>
      </c:tx>
      <c:layout/>
      <c:overlay val="0"/>
    </c:title>
    <c:autoTitleDeleted val="0"/>
    <c:plotArea>
      <c:layout/>
      <c:barChart>
        <c:barDir val="col"/>
        <c:grouping val="clustered"/>
        <c:varyColors val="0"/>
        <c:ser>
          <c:idx val="0"/>
          <c:order val="0"/>
          <c:tx>
            <c:strRef>
              <c:f>Sheet1!$B$1</c:f>
              <c:strCache>
                <c:ptCount val="1"/>
                <c:pt idx="0">
                  <c:v>Requests</c:v>
                </c:pt>
              </c:strCache>
            </c:strRef>
          </c:tx>
          <c:spPr>
            <a:solidFill>
              <a:srgbClr val="0E8F7E"/>
            </a:solidFill>
            <a:effectLst/>
          </c:spPr>
          <c:invertIfNegative val="0"/>
          <c:dLbls>
            <c:numFmt formatCode="#,##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cat>
            <c:multiLvlStrRef>
              <c:f>Sheet1!$A$2:$A$5</c:f>
              <c:multiLvlStrCache>
                <c:ptCount val="4"/>
                <c:lvl>
                  <c:pt idx="0">
                    <c:v>GPU A</c:v>
                  </c:pt>
                  <c:pt idx="1">
                    <c:v>GPU B</c:v>
                  </c:pt>
                  <c:pt idx="2">
                    <c:v>GPU C</c:v>
                  </c:pt>
                  <c:pt idx="3">
                    <c:v>GPU D</c:v>
                  </c:pt>
                </c:lvl>
              </c:multiLvlStrCache>
            </c:multiLvlStrRef>
          </c:cat>
          <c:val>
            <c:numRef>
              <c:f>Sheet1!$B$2:$B$5</c:f>
              <c:numCache>
                <c:formatCode>General</c:formatCode>
                <c:ptCount val="4"/>
                <c:pt idx="0">
                  <c:v>18</c:v>
                </c:pt>
                <c:pt idx="1">
                  <c:v>12</c:v>
                </c:pt>
                <c:pt idx="2">
                  <c:v>22</c:v>
                </c:pt>
                <c:pt idx="3">
                  <c:v>8</c:v>
                </c:pt>
              </c:numCache>
            </c:numRef>
          </c:val>
        </c:ser>
        <c:dLbls>
          <c:numFmt formatCode="#,##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457"/>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1E4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A445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a request router that sits in front of several GPU servers running the same language model. The goal is simple: when a prompt shares its beginning with an earlier prompt, send it to the GPU that already processed that beginning, so the work is not repeated. The highlighted tile on the right represents the one GPU that holds the cached prefix.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two phases of generating text. Prefill is the cost of reading the prompt, and it grows with prompt length. vLLM can reuse earlier prefill work if a new prompt begins with exactly the same tokens, in whole blocks of sixteen. The catch is that each GPU keeps its own cache. If four replicas serve traffic and a repeated prompt lands on the wrong one, the saved work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direct measurement on one of the GPU nodes, calling the model server without the router. The first request had to process the whole prompt and took about two seconds to produce the first token. The next two requests reused sixteen hundred of the sixteen hundred and seventeen prompt tokens and took about seventy-four milliseconds. The bars are drawn to scale. This gap is what a cache-aware router tries to capture.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has three parts. First, remember: the router tracks which replica has seen which prompt blocks. Second, match: among the replicas, prefer the one with the longest shared prefix. Third, protect: a cached replica that is overloaded is worse than an idle one, so a latency estimate can veto the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console sends requests to the router. The router applies admission control, runs the routing policy to pick a replica, and proxies the request, retrying connection errors. Each replica is a Colab T4 GPU running vLLM, reached through an HTTPS tunnel because the nodes have no public address. In parallel, the router publishes an event for every step so the console can show what happened to each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steps. The prompt is split into blocks of sixteen tokens. Each block is hashed together with the previous hash, which means a single hash stands for everything before it too. The router looks those hashes up in its index to see which replica holds the longest run. A match is only used if it is large enough to matter and if the replica is predicted to answer within the response-time target. Otherwise the router picks the least-loaded replica. After choosing, it records the prompt's blocks against that replica so that similar requests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routing policies implemented in the router. Round robin and least connections are the baselines: neither knows anything about the cache. Swiftserve is the earlier policy, which tracks conversations and a trie of whole messages, so it needs at least two shared messages before it can match. Prefix-aware matches at the level of 16-token blocks, so it can reuse a shared system prompt across different users and different conversations.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request gets an identifier, and the router records what it decided and what happened. The screenshot shows one request: the policy chose the replica because it held the prompt's first block, and the router's predicted cache reuse matched what vLLM reported afterward. Selected, dispatched and served are kept separate because they can differ when a request is retried.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first token is how long the user waits before anything appears; it contains the prefill, which is exactly what caching shortens. Inter-token latency describes the pace once generation starts. Network tunnels can bunch several tokens into one chunk, so single gaps are not reliable, but the mean over the whole span is. Cache reuse comes from the engine's usage report, so it is a measurement and not an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run sent sixty requests at a concurrency of eight through the router to the four Colab GPUs, using the prefix-aware policy. All sixty completed. The distribution shows work spreading over all four replicas. The 95th percentile time to first token is much higher than the median, which points to the first requests reaching cold replicas and to queueing; that has not been broken down further. The prompts were very short, so this run is evidence that routing and measurement work end to end, not evidence of a cache speedup.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demonstration in this order. Start on the dashboard to show the real GPUs. Then use the playground to send the same long system prompt twice and point at the cached token count and the time to first token. Finish with the load test and the live routing view to show concurrent requests being spread across replicas.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about the limitations. The index is a belief about what each replica holds, and it can drift after cache evictions or failed requests. Retries stay on the same replica. The measurements so far are short and on one model. The next steps address each of these, starting with a fair comparison of all four policies on the same workload.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points. Caches are per replica. Routing by prefix and protecting with a latency check lets the router reuse cached work without overloading a replica. And every request is measured, so the claims in this presentation can be checked against the recorded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1F2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234440"/>
            <a:ext cx="5669280" cy="1737360"/>
          </a:xfrm>
          <a:prstGeom prst="rect">
            <a:avLst/>
          </a:prstGeom>
          <a:noFill/>
          <a:ln/>
        </p:spPr>
        <p:txBody>
          <a:bodyPr wrap="square" lIns="0" tIns="0" rIns="0" bIns="0" rtlCol="0" anchor="t"/>
          <a:lstStyle/>
          <a:p>
            <a:pPr indent="0" marL="0">
              <a:buNone/>
            </a:pPr>
            <a:r>
              <a:rPr lang="en-US" sz="3800" b="1" dirty="0">
                <a:solidFill>
                  <a:schemeClr val="bg1"/>
                </a:solidFill>
                <a:latin typeface="Cambria" pitchFamily="34" charset="0"/>
                <a:ea typeface="Cambria" pitchFamily="34" charset="-122"/>
                <a:cs typeface="Cambria" pitchFamily="34" charset="-120"/>
              </a:rPr>
              <a:t>Cache-Aware Request Routing for LLM Replicas</a:t>
            </a:r>
            <a:endParaRPr lang="en-US" sz="3800" dirty="0"/>
          </a:p>
        </p:txBody>
      </p:sp>
      <p:sp>
        <p:nvSpPr>
          <p:cNvPr id="3" name="Text 1"/>
          <p:cNvSpPr txBox="1"/>
          <p:nvPr/>
        </p:nvSpPr>
        <p:spPr>
          <a:xfrm>
            <a:off x="640080" y="3154680"/>
            <a:ext cx="5120640" cy="822960"/>
          </a:xfrm>
          <a:prstGeom prst="rect">
            <a:avLst/>
          </a:prstGeom>
          <a:noFill/>
          <a:ln/>
        </p:spPr>
        <p:txBody>
          <a:bodyPr wrap="square" lIns="0" tIns="0" rIns="0" bIns="0" rtlCol="0" anchor="t"/>
          <a:lstStyle/>
          <a:p>
            <a:pPr indent="0" marL="0">
              <a:buNone/>
            </a:pPr>
            <a:r>
              <a:rPr lang="en-US" sz="1800" dirty="0">
                <a:solidFill>
                  <a:schemeClr val="accent4"/>
                </a:solidFill>
                <a:latin typeface="Calibri" pitchFamily="34" charset="0"/>
                <a:ea typeface="Calibri" pitchFamily="34" charset="-122"/>
                <a:cs typeface="Calibri" pitchFamily="34" charset="-120"/>
              </a:rPr>
              <a:t>Sending each request to the GPU that already holds the beginning of its prompt</a:t>
            </a:r>
            <a:endParaRPr lang="en-US" sz="1800" dirty="0"/>
          </a:p>
        </p:txBody>
      </p:sp>
      <p:sp>
        <p:nvSpPr>
          <p:cNvPr id="4" name="Replica tile 1"/>
          <p:cNvSpPr/>
          <p:nvPr/>
        </p:nvSpPr>
        <p:spPr>
          <a:xfrm>
            <a:off x="6720840" y="1417320"/>
            <a:ext cx="914400" cy="914400"/>
          </a:xfrm>
          <a:prstGeom prst="roundRect">
            <a:avLst>
              <a:gd name="adj" fmla="val 10000"/>
            </a:avLst>
          </a:prstGeom>
          <a:solidFill>
            <a:schemeClr val="accent1"/>
          </a:solidFill>
          <a:ln w="12700">
            <a:solidFill>
              <a:schemeClr val="accent1"/>
            </a:solidFill>
            <a:prstDash val="solid"/>
          </a:ln>
        </p:spPr>
      </p:sp>
      <p:sp>
        <p:nvSpPr>
          <p:cNvPr id="5" name="Text 3"/>
          <p:cNvSpPr txBox="1"/>
          <p:nvPr/>
        </p:nvSpPr>
        <p:spPr>
          <a:xfrm>
            <a:off x="6720840" y="1737360"/>
            <a:ext cx="914400" cy="274320"/>
          </a:xfrm>
          <a:prstGeom prst="rect">
            <a:avLst/>
          </a:prstGeom>
          <a:noFill/>
          <a:ln/>
        </p:spPr>
        <p:txBody>
          <a:bodyPr wrap="square" lIns="0" tIns="0" rIns="0" bIns="0" rtlCol="0" anchor="t"/>
          <a:lstStyle/>
          <a:p>
            <a:pPr algn="ctr" indent="0" marL="0">
              <a:buNone/>
            </a:pPr>
            <a:r>
              <a:rPr lang="en-US" sz="1400" b="1" dirty="0">
                <a:solidFill>
                  <a:schemeClr val="bg1"/>
                </a:solidFill>
                <a:latin typeface="Calibri" pitchFamily="34" charset="0"/>
                <a:ea typeface="Calibri" pitchFamily="34" charset="-122"/>
                <a:cs typeface="Calibri" pitchFamily="34" charset="-120"/>
              </a:rPr>
              <a:t>GPU A</a:t>
            </a:r>
            <a:endParaRPr lang="en-US" sz="1400" dirty="0"/>
          </a:p>
        </p:txBody>
      </p:sp>
      <p:sp>
        <p:nvSpPr>
          <p:cNvPr id="6" name="Replica tile 2"/>
          <p:cNvSpPr/>
          <p:nvPr/>
        </p:nvSpPr>
        <p:spPr>
          <a:xfrm>
            <a:off x="7818120" y="1417320"/>
            <a:ext cx="914400" cy="914400"/>
          </a:xfrm>
          <a:prstGeom prst="roundRect">
            <a:avLst>
              <a:gd name="adj" fmla="val 10000"/>
            </a:avLst>
          </a:prstGeom>
          <a:solidFill>
            <a:schemeClr val="tx2"/>
          </a:solidFill>
          <a:ln w="12700">
            <a:solidFill>
              <a:schemeClr val="tx2"/>
            </a:solidFill>
            <a:prstDash val="solid"/>
          </a:ln>
        </p:spPr>
      </p:sp>
      <p:sp>
        <p:nvSpPr>
          <p:cNvPr id="7" name="Text 5"/>
          <p:cNvSpPr txBox="1"/>
          <p:nvPr/>
        </p:nvSpPr>
        <p:spPr>
          <a:xfrm>
            <a:off x="7818120" y="1737360"/>
            <a:ext cx="914400" cy="274320"/>
          </a:xfrm>
          <a:prstGeom prst="rect">
            <a:avLst/>
          </a:prstGeom>
          <a:noFill/>
          <a:ln/>
        </p:spPr>
        <p:txBody>
          <a:bodyPr wrap="square" lIns="0" tIns="0" rIns="0" bIns="0" rtlCol="0" anchor="t"/>
          <a:lstStyle/>
          <a:p>
            <a:pPr algn="ctr" indent="0" marL="0">
              <a:buNone/>
            </a:pPr>
            <a:r>
              <a:rPr lang="en-US" sz="1400" b="1" dirty="0">
                <a:solidFill>
                  <a:schemeClr val="bg1"/>
                </a:solidFill>
                <a:latin typeface="Calibri" pitchFamily="34" charset="0"/>
                <a:ea typeface="Calibri" pitchFamily="34" charset="-122"/>
                <a:cs typeface="Calibri" pitchFamily="34" charset="-120"/>
              </a:rPr>
              <a:t>GPU B</a:t>
            </a:r>
            <a:endParaRPr lang="en-US" sz="1400" dirty="0"/>
          </a:p>
        </p:txBody>
      </p:sp>
      <p:sp>
        <p:nvSpPr>
          <p:cNvPr id="8" name="Replica tile 3"/>
          <p:cNvSpPr/>
          <p:nvPr/>
        </p:nvSpPr>
        <p:spPr>
          <a:xfrm>
            <a:off x="6720840" y="2514600"/>
            <a:ext cx="914400" cy="914400"/>
          </a:xfrm>
          <a:prstGeom prst="roundRect">
            <a:avLst>
              <a:gd name="adj" fmla="val 10000"/>
            </a:avLst>
          </a:prstGeom>
          <a:solidFill>
            <a:schemeClr val="tx2"/>
          </a:solidFill>
          <a:ln w="12700">
            <a:solidFill>
              <a:schemeClr val="tx2"/>
            </a:solidFill>
            <a:prstDash val="solid"/>
          </a:ln>
        </p:spPr>
      </p:sp>
      <p:sp>
        <p:nvSpPr>
          <p:cNvPr id="9" name="Text 7"/>
          <p:cNvSpPr txBox="1"/>
          <p:nvPr/>
        </p:nvSpPr>
        <p:spPr>
          <a:xfrm>
            <a:off x="6720840" y="2834640"/>
            <a:ext cx="914400" cy="274320"/>
          </a:xfrm>
          <a:prstGeom prst="rect">
            <a:avLst/>
          </a:prstGeom>
          <a:noFill/>
          <a:ln/>
        </p:spPr>
        <p:txBody>
          <a:bodyPr wrap="square" lIns="0" tIns="0" rIns="0" bIns="0" rtlCol="0" anchor="t"/>
          <a:lstStyle/>
          <a:p>
            <a:pPr algn="ctr" indent="0" marL="0">
              <a:buNone/>
            </a:pPr>
            <a:r>
              <a:rPr lang="en-US" sz="1400" b="1" dirty="0">
                <a:solidFill>
                  <a:schemeClr val="bg1"/>
                </a:solidFill>
                <a:latin typeface="Calibri" pitchFamily="34" charset="0"/>
                <a:ea typeface="Calibri" pitchFamily="34" charset="-122"/>
                <a:cs typeface="Calibri" pitchFamily="34" charset="-120"/>
              </a:rPr>
              <a:t>GPU C</a:t>
            </a:r>
            <a:endParaRPr lang="en-US" sz="1400" dirty="0"/>
          </a:p>
        </p:txBody>
      </p:sp>
      <p:sp>
        <p:nvSpPr>
          <p:cNvPr id="10" name="Replica tile 4"/>
          <p:cNvSpPr/>
          <p:nvPr/>
        </p:nvSpPr>
        <p:spPr>
          <a:xfrm>
            <a:off x="7818120" y="2514600"/>
            <a:ext cx="914400" cy="914400"/>
          </a:xfrm>
          <a:prstGeom prst="roundRect">
            <a:avLst>
              <a:gd name="adj" fmla="val 10000"/>
            </a:avLst>
          </a:prstGeom>
          <a:solidFill>
            <a:schemeClr val="tx2"/>
          </a:solidFill>
          <a:ln w="12700">
            <a:solidFill>
              <a:schemeClr val="tx2"/>
            </a:solidFill>
            <a:prstDash val="solid"/>
          </a:ln>
        </p:spPr>
      </p:sp>
      <p:sp>
        <p:nvSpPr>
          <p:cNvPr id="11" name="Text 9"/>
          <p:cNvSpPr txBox="1"/>
          <p:nvPr/>
        </p:nvSpPr>
        <p:spPr>
          <a:xfrm>
            <a:off x="7818120" y="2834640"/>
            <a:ext cx="914400" cy="274320"/>
          </a:xfrm>
          <a:prstGeom prst="rect">
            <a:avLst/>
          </a:prstGeom>
          <a:noFill/>
          <a:ln/>
        </p:spPr>
        <p:txBody>
          <a:bodyPr wrap="square" lIns="0" tIns="0" rIns="0" bIns="0" rtlCol="0" anchor="t"/>
          <a:lstStyle/>
          <a:p>
            <a:pPr algn="ctr" indent="0" marL="0">
              <a:buNone/>
            </a:pPr>
            <a:r>
              <a:rPr lang="en-US" sz="1400" b="1" dirty="0">
                <a:solidFill>
                  <a:schemeClr val="bg1"/>
                </a:solidFill>
                <a:latin typeface="Calibri" pitchFamily="34" charset="0"/>
                <a:ea typeface="Calibri" pitchFamily="34" charset="-122"/>
                <a:cs typeface="Calibri" pitchFamily="34" charset="-120"/>
              </a:rPr>
              <a:t>GPU 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Each GPU keeps its own cache</a:t>
            </a:r>
            <a:endParaRPr lang="en-US" sz="3200" dirty="0"/>
          </a:p>
        </p:txBody>
      </p:sp>
      <p:sp>
        <p:nvSpPr>
          <p:cNvPr id="3" name="Text 1"/>
          <p:cNvSpPr txBox="1"/>
          <p:nvPr/>
        </p:nvSpPr>
        <p:spPr>
          <a:xfrm>
            <a:off x="457200" y="1234440"/>
            <a:ext cx="4206240" cy="3291840"/>
          </a:xfrm>
          <a:prstGeom prst="rect">
            <a:avLst/>
          </a:prstGeom>
          <a:noFill/>
          <a:ln/>
        </p:spPr>
        <p:txBody>
          <a:bodyPr wrap="square" lIns="0" tIns="0" rIns="0" bIns="0" rtlCol="0" anchor="t"/>
          <a:lstStyle/>
          <a:p>
            <a:pPr indent="0" marL="0">
              <a:spcAft>
                <a:spcPts val="1000"/>
              </a:spcAft>
              <a:buNone/>
            </a:pPr>
            <a:r>
              <a:rPr lang="en-US" sz="1400" b="1" dirty="0">
                <a:solidFill>
                  <a:schemeClr val="tx1"/>
                </a:solidFill>
                <a:latin typeface="Calibri" pitchFamily="34" charset="0"/>
                <a:ea typeface="Calibri" pitchFamily="34" charset="-122"/>
                <a:cs typeface="Calibri" pitchFamily="34" charset="-120"/>
              </a:rPr>
              <a:t>Prefill reads the whole prompt. </a:t>
            </a:r>
            <a:pPr indent="0" marL="0">
              <a:spcAft>
                <a:spcPts val="1000"/>
              </a:spcAft>
              <a:buNone/>
            </a:pPr>
            <a:r>
              <a:rPr lang="en-US" sz="1400" dirty="0">
                <a:solidFill>
                  <a:schemeClr val="tx1"/>
                </a:solidFill>
                <a:latin typeface="Calibri" pitchFamily="34" charset="0"/>
                <a:ea typeface="Calibri" pitchFamily="34" charset="-122"/>
                <a:cs typeface="Calibri" pitchFamily="34" charset="-120"/>
              </a:rPr>
              <a:t>The model processes every prompt token and stores the attention state it will reuse while generating, called the KV cache.</a:t>
            </a:r>
            <a:endParaRPr lang="en-US" sz="1400" dirty="0"/>
          </a:p>
          <a:p>
            <a:pPr indent="0" marL="0">
              <a:spcAft>
                <a:spcPts val="1000"/>
              </a:spcAft>
              <a:buNone/>
            </a:pPr>
            <a:r>
              <a:rPr lang="en-US" sz="1400" b="1" dirty="0">
                <a:solidFill>
                  <a:schemeClr val="tx1"/>
                </a:solidFill>
                <a:latin typeface="Calibri" pitchFamily="34" charset="0"/>
                <a:ea typeface="Calibri" pitchFamily="34" charset="-122"/>
                <a:cs typeface="Calibri" pitchFamily="34" charset="-120"/>
              </a:rPr>
              <a:t>Prefix caching skips repeated work. </a:t>
            </a:r>
            <a:pPr indent="0" marL="0">
              <a:spcAft>
                <a:spcPts val="1000"/>
              </a:spcAft>
              <a:buNone/>
            </a:pPr>
            <a:r>
              <a:rPr lang="en-US" sz="1400" dirty="0">
                <a:solidFill>
                  <a:schemeClr val="tx1"/>
                </a:solidFill>
                <a:latin typeface="Calibri" pitchFamily="34" charset="0"/>
                <a:ea typeface="Calibri" pitchFamily="34" charset="-122"/>
                <a:cs typeface="Calibri" pitchFamily="34" charset="-120"/>
              </a:rPr>
              <a:t>vLLM keeps the KV cache for finished prompts. A new prompt that starts with the same full 16-token blocks skips that part of prefill.</a:t>
            </a:r>
            <a:endParaRPr lang="en-US" sz="1400" dirty="0"/>
          </a:p>
          <a:p>
            <a:pPr indent="0" marL="0">
              <a:spcAft>
                <a:spcPts val="1000"/>
              </a:spcAft>
              <a:buNone/>
            </a:pPr>
            <a:r>
              <a:rPr lang="en-US" sz="1400" b="1" dirty="0">
                <a:solidFill>
                  <a:schemeClr val="tx1"/>
                </a:solidFill>
                <a:latin typeface="Calibri" pitchFamily="34" charset="0"/>
                <a:ea typeface="Calibri" pitchFamily="34" charset="-122"/>
                <a:cs typeface="Calibri" pitchFamily="34" charset="-120"/>
              </a:rPr>
              <a:t>Caches are not shared. </a:t>
            </a:r>
            <a:pPr indent="0" marL="0">
              <a:spcAft>
                <a:spcPts val="1000"/>
              </a:spcAft>
              <a:buNone/>
            </a:pPr>
            <a:r>
              <a:rPr lang="en-US" sz="1400" dirty="0">
                <a:solidFill>
                  <a:schemeClr val="tx1"/>
                </a:solidFill>
                <a:latin typeface="Calibri" pitchFamily="34" charset="0"/>
                <a:ea typeface="Calibri" pitchFamily="34" charset="-122"/>
                <a:cs typeface="Calibri" pitchFamily="34" charset="-120"/>
              </a:rPr>
              <a:t>With several replicas, only the one that handled the earlier prompt holds it. A balancer that ignores this sends the request to a replica that must start from scratch.</a:t>
            </a:r>
            <a:endParaRPr lang="en-US" sz="1400" dirty="0"/>
          </a:p>
        </p:txBody>
      </p:sp>
      <p:sp>
        <p:nvSpPr>
          <p:cNvPr id="4" name="Problem diagram panel"/>
          <p:cNvSpPr/>
          <p:nvPr/>
        </p:nvSpPr>
        <p:spPr>
          <a:xfrm>
            <a:off x="4937760" y="1188720"/>
            <a:ext cx="3749040" cy="3429000"/>
          </a:xfrm>
          <a:prstGeom prst="roundRect">
            <a:avLst>
              <a:gd name="adj" fmla="val 213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5" name="Request box"/>
          <p:cNvSpPr/>
          <p:nvPr/>
        </p:nvSpPr>
        <p:spPr>
          <a:xfrm>
            <a:off x="5486400" y="1371600"/>
            <a:ext cx="2651760" cy="548640"/>
          </a:xfrm>
          <a:prstGeom prst="roundRect">
            <a:avLst>
              <a:gd name="adj" fmla="val 13333"/>
            </a:avLst>
          </a:prstGeom>
          <a:solidFill>
            <a:schemeClr val="tx1"/>
          </a:solidFill>
          <a:ln w="12700">
            <a:solidFill>
              <a:schemeClr val="tx1"/>
            </a:solidFill>
            <a:prstDash val="solid"/>
          </a:ln>
        </p:spPr>
      </p:sp>
      <p:sp>
        <p:nvSpPr>
          <p:cNvPr id="6" name="Text 4"/>
          <p:cNvSpPr txBox="1"/>
          <p:nvPr/>
        </p:nvSpPr>
        <p:spPr>
          <a:xfrm>
            <a:off x="5486400" y="1371600"/>
            <a:ext cx="2651760" cy="54864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Request with a shared prefix</a:t>
            </a:r>
            <a:endParaRPr lang="en-US" sz="1400" dirty="0"/>
          </a:p>
        </p:txBody>
      </p:sp>
      <p:sp>
        <p:nvSpPr>
          <p:cNvPr id="7" name="Arrow to GPU A"/>
          <p:cNvSpPr/>
          <p:nvPr/>
        </p:nvSpPr>
        <p:spPr>
          <a:xfrm>
            <a:off x="5486400" y="1920240"/>
            <a:ext cx="1325880" cy="822960"/>
          </a:xfrm>
          <a:prstGeom prst="line">
            <a:avLst/>
          </a:prstGeom>
          <a:noFill/>
          <a:ln w="22225">
            <a:solidFill>
              <a:schemeClr val="accent1"/>
            </a:solidFill>
            <a:prstDash val="solid"/>
            <a:tailEnd type="triangle"/>
          </a:ln>
        </p:spPr>
      </p:sp>
      <p:sp>
        <p:nvSpPr>
          <p:cNvPr id="8" name="GPU A"/>
          <p:cNvSpPr/>
          <p:nvPr/>
        </p:nvSpPr>
        <p:spPr>
          <a:xfrm>
            <a:off x="5120640" y="2743200"/>
            <a:ext cx="731520" cy="731520"/>
          </a:xfrm>
          <a:prstGeom prst="roundRect">
            <a:avLst>
              <a:gd name="adj" fmla="val 10000"/>
            </a:avLst>
          </a:prstGeom>
          <a:solidFill>
            <a:schemeClr val="accent1"/>
          </a:solidFill>
          <a:ln w="12700">
            <a:solidFill>
              <a:schemeClr val="accent1"/>
            </a:solidFill>
            <a:prstDash val="solid"/>
          </a:ln>
        </p:spPr>
      </p:sp>
      <p:sp>
        <p:nvSpPr>
          <p:cNvPr id="9" name="Text 7"/>
          <p:cNvSpPr txBox="1"/>
          <p:nvPr/>
        </p:nvSpPr>
        <p:spPr>
          <a:xfrm>
            <a:off x="5120640" y="2743200"/>
            <a:ext cx="731520" cy="7315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GPU A</a:t>
            </a:r>
            <a:endParaRPr lang="en-US" sz="1400" dirty="0"/>
          </a:p>
        </p:txBody>
      </p:sp>
      <p:sp>
        <p:nvSpPr>
          <p:cNvPr id="10" name="Text 8"/>
          <p:cNvSpPr txBox="1"/>
          <p:nvPr/>
        </p:nvSpPr>
        <p:spPr>
          <a:xfrm>
            <a:off x="5029200" y="3547872"/>
            <a:ext cx="914400" cy="274320"/>
          </a:xfrm>
          <a:prstGeom prst="rect">
            <a:avLst/>
          </a:prstGeom>
          <a:noFill/>
          <a:ln/>
        </p:spPr>
        <p:txBody>
          <a:bodyPr wrap="square" lIns="0" tIns="0" rIns="0" bIns="0" rtlCol="0" anchor="t"/>
          <a:lstStyle/>
          <a:p>
            <a:pPr algn="ctr" indent="0" marL="0">
              <a:buNone/>
            </a:pPr>
            <a:r>
              <a:rPr lang="en-US" sz="1100" b="1" dirty="0">
                <a:solidFill>
                  <a:schemeClr val="accent1"/>
                </a:solidFill>
                <a:latin typeface="Calibri" pitchFamily="34" charset="0"/>
                <a:ea typeface="Calibri" pitchFamily="34" charset="-122"/>
                <a:cs typeface="Calibri" pitchFamily="34" charset="-120"/>
              </a:rPr>
              <a:t>prefix cached</a:t>
            </a:r>
            <a:endParaRPr lang="en-US" sz="1100" dirty="0"/>
          </a:p>
        </p:txBody>
      </p:sp>
      <p:sp>
        <p:nvSpPr>
          <p:cNvPr id="11" name="Arrow to GPU B"/>
          <p:cNvSpPr/>
          <p:nvPr/>
        </p:nvSpPr>
        <p:spPr>
          <a:xfrm>
            <a:off x="6400800" y="1920240"/>
            <a:ext cx="411480" cy="822960"/>
          </a:xfrm>
          <a:prstGeom prst="line">
            <a:avLst/>
          </a:prstGeom>
          <a:noFill/>
          <a:ln w="22225">
            <a:solidFill>
              <a:schemeClr val="accent4"/>
            </a:solidFill>
            <a:prstDash val="solid"/>
            <a:tailEnd type="triangle"/>
          </a:ln>
        </p:spPr>
      </p:sp>
      <p:sp>
        <p:nvSpPr>
          <p:cNvPr id="12" name="GPU B"/>
          <p:cNvSpPr/>
          <p:nvPr/>
        </p:nvSpPr>
        <p:spPr>
          <a:xfrm>
            <a:off x="6035040" y="2743200"/>
            <a:ext cx="731520" cy="731520"/>
          </a:xfrm>
          <a:prstGeom prst="roundRect">
            <a:avLst>
              <a:gd name="adj" fmla="val 10000"/>
            </a:avLst>
          </a:prstGeom>
          <a:solidFill>
            <a:schemeClr val="bg1"/>
          </a:solidFill>
          <a:ln w="12700">
            <a:solidFill>
              <a:schemeClr val="accent4"/>
            </a:solidFill>
            <a:prstDash val="solid"/>
          </a:ln>
        </p:spPr>
      </p:sp>
      <p:sp>
        <p:nvSpPr>
          <p:cNvPr id="13" name="Text 11"/>
          <p:cNvSpPr txBox="1"/>
          <p:nvPr/>
        </p:nvSpPr>
        <p:spPr>
          <a:xfrm>
            <a:off x="6035040" y="2743200"/>
            <a:ext cx="731520" cy="73152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GPU B</a:t>
            </a:r>
            <a:endParaRPr lang="en-US" sz="1400" dirty="0"/>
          </a:p>
        </p:txBody>
      </p:sp>
      <p:sp>
        <p:nvSpPr>
          <p:cNvPr id="14" name="Text 12"/>
          <p:cNvSpPr txBox="1"/>
          <p:nvPr/>
        </p:nvSpPr>
        <p:spPr>
          <a:xfrm>
            <a:off x="5943600" y="3547872"/>
            <a:ext cx="914400" cy="274320"/>
          </a:xfrm>
          <a:prstGeom prst="rect">
            <a:avLst/>
          </a:prstGeom>
          <a:noFill/>
          <a:ln/>
        </p:spPr>
        <p:txBody>
          <a:bodyPr wrap="square" lIns="0" tIns="0" rIns="0" bIns="0" rtlCol="0" anchor="t"/>
          <a:lstStyle/>
          <a:p>
            <a:pPr algn="ctr" indent="0" marL="0">
              <a:buNone/>
            </a:pPr>
            <a:r>
              <a:rPr lang="en-US" sz="1100" dirty="0">
                <a:solidFill>
                  <a:schemeClr val="accent4"/>
                </a:solidFill>
                <a:latin typeface="Calibri" pitchFamily="34" charset="0"/>
                <a:ea typeface="Calibri" pitchFamily="34" charset="-122"/>
                <a:cs typeface="Calibri" pitchFamily="34" charset="-120"/>
              </a:rPr>
              <a:t>no cache</a:t>
            </a:r>
            <a:endParaRPr lang="en-US" sz="1100" dirty="0"/>
          </a:p>
        </p:txBody>
      </p:sp>
      <p:sp>
        <p:nvSpPr>
          <p:cNvPr id="15" name="Arrow to GPU C"/>
          <p:cNvSpPr/>
          <p:nvPr/>
        </p:nvSpPr>
        <p:spPr>
          <a:xfrm>
            <a:off x="6812280" y="1920240"/>
            <a:ext cx="502920" cy="822960"/>
          </a:xfrm>
          <a:prstGeom prst="line">
            <a:avLst/>
          </a:prstGeom>
          <a:noFill/>
          <a:ln w="22225">
            <a:solidFill>
              <a:schemeClr val="accent4"/>
            </a:solidFill>
            <a:prstDash val="solid"/>
            <a:tailEnd type="triangle"/>
          </a:ln>
        </p:spPr>
      </p:sp>
      <p:sp>
        <p:nvSpPr>
          <p:cNvPr id="16" name="GPU C"/>
          <p:cNvSpPr/>
          <p:nvPr/>
        </p:nvSpPr>
        <p:spPr>
          <a:xfrm>
            <a:off x="6949440" y="2743200"/>
            <a:ext cx="731520" cy="731520"/>
          </a:xfrm>
          <a:prstGeom prst="roundRect">
            <a:avLst>
              <a:gd name="adj" fmla="val 10000"/>
            </a:avLst>
          </a:prstGeom>
          <a:solidFill>
            <a:schemeClr val="bg1"/>
          </a:solidFill>
          <a:ln w="12700">
            <a:solidFill>
              <a:schemeClr val="accent4"/>
            </a:solidFill>
            <a:prstDash val="solid"/>
          </a:ln>
        </p:spPr>
      </p:sp>
      <p:sp>
        <p:nvSpPr>
          <p:cNvPr id="17" name="Text 15"/>
          <p:cNvSpPr txBox="1"/>
          <p:nvPr/>
        </p:nvSpPr>
        <p:spPr>
          <a:xfrm>
            <a:off x="6949440" y="2743200"/>
            <a:ext cx="731520" cy="73152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GPU C</a:t>
            </a:r>
            <a:endParaRPr lang="en-US" sz="1400" dirty="0"/>
          </a:p>
        </p:txBody>
      </p:sp>
      <p:sp>
        <p:nvSpPr>
          <p:cNvPr id="18" name="Text 16"/>
          <p:cNvSpPr txBox="1"/>
          <p:nvPr/>
        </p:nvSpPr>
        <p:spPr>
          <a:xfrm>
            <a:off x="6858000" y="3547872"/>
            <a:ext cx="914400" cy="274320"/>
          </a:xfrm>
          <a:prstGeom prst="rect">
            <a:avLst/>
          </a:prstGeom>
          <a:noFill/>
          <a:ln/>
        </p:spPr>
        <p:txBody>
          <a:bodyPr wrap="square" lIns="0" tIns="0" rIns="0" bIns="0" rtlCol="0" anchor="t"/>
          <a:lstStyle/>
          <a:p>
            <a:pPr algn="ctr" indent="0" marL="0">
              <a:buNone/>
            </a:pPr>
            <a:r>
              <a:rPr lang="en-US" sz="1100" dirty="0">
                <a:solidFill>
                  <a:schemeClr val="accent4"/>
                </a:solidFill>
                <a:latin typeface="Calibri" pitchFamily="34" charset="0"/>
                <a:ea typeface="Calibri" pitchFamily="34" charset="-122"/>
                <a:cs typeface="Calibri" pitchFamily="34" charset="-120"/>
              </a:rPr>
              <a:t>no cache</a:t>
            </a:r>
            <a:endParaRPr lang="en-US" sz="1100" dirty="0"/>
          </a:p>
        </p:txBody>
      </p:sp>
      <p:sp>
        <p:nvSpPr>
          <p:cNvPr id="19" name="Arrow to GPU D"/>
          <p:cNvSpPr/>
          <p:nvPr/>
        </p:nvSpPr>
        <p:spPr>
          <a:xfrm>
            <a:off x="6812280" y="1920240"/>
            <a:ext cx="1417320" cy="822960"/>
          </a:xfrm>
          <a:prstGeom prst="line">
            <a:avLst/>
          </a:prstGeom>
          <a:noFill/>
          <a:ln w="22225">
            <a:solidFill>
              <a:schemeClr val="accent4"/>
            </a:solidFill>
            <a:prstDash val="solid"/>
            <a:tailEnd type="triangle"/>
          </a:ln>
        </p:spPr>
      </p:sp>
      <p:sp>
        <p:nvSpPr>
          <p:cNvPr id="20" name="GPU D"/>
          <p:cNvSpPr/>
          <p:nvPr/>
        </p:nvSpPr>
        <p:spPr>
          <a:xfrm>
            <a:off x="7863840" y="2743200"/>
            <a:ext cx="731520" cy="731520"/>
          </a:xfrm>
          <a:prstGeom prst="roundRect">
            <a:avLst>
              <a:gd name="adj" fmla="val 10000"/>
            </a:avLst>
          </a:prstGeom>
          <a:solidFill>
            <a:schemeClr val="bg1"/>
          </a:solidFill>
          <a:ln w="12700">
            <a:solidFill>
              <a:schemeClr val="accent4"/>
            </a:solidFill>
            <a:prstDash val="solid"/>
          </a:ln>
        </p:spPr>
      </p:sp>
      <p:sp>
        <p:nvSpPr>
          <p:cNvPr id="21" name="Text 19"/>
          <p:cNvSpPr txBox="1"/>
          <p:nvPr/>
        </p:nvSpPr>
        <p:spPr>
          <a:xfrm>
            <a:off x="7863840" y="2743200"/>
            <a:ext cx="731520" cy="73152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GPU D</a:t>
            </a:r>
            <a:endParaRPr lang="en-US" sz="1400" dirty="0"/>
          </a:p>
        </p:txBody>
      </p:sp>
      <p:sp>
        <p:nvSpPr>
          <p:cNvPr id="22" name="Text 20"/>
          <p:cNvSpPr txBox="1"/>
          <p:nvPr/>
        </p:nvSpPr>
        <p:spPr>
          <a:xfrm>
            <a:off x="7772400" y="3547872"/>
            <a:ext cx="914400" cy="274320"/>
          </a:xfrm>
          <a:prstGeom prst="rect">
            <a:avLst/>
          </a:prstGeom>
          <a:noFill/>
          <a:ln/>
        </p:spPr>
        <p:txBody>
          <a:bodyPr wrap="square" lIns="0" tIns="0" rIns="0" bIns="0" rtlCol="0" anchor="t"/>
          <a:lstStyle/>
          <a:p>
            <a:pPr algn="ctr" indent="0" marL="0">
              <a:buNone/>
            </a:pPr>
            <a:r>
              <a:rPr lang="en-US" sz="1100" dirty="0">
                <a:solidFill>
                  <a:schemeClr val="accent4"/>
                </a:solidFill>
                <a:latin typeface="Calibri" pitchFamily="34" charset="0"/>
                <a:ea typeface="Calibri" pitchFamily="34" charset="-122"/>
                <a:cs typeface="Calibri" pitchFamily="34" charset="-120"/>
              </a:rPr>
              <a:t>no cache</a:t>
            </a:r>
            <a:endParaRPr lang="en-US" sz="1100" dirty="0"/>
          </a:p>
        </p:txBody>
      </p:sp>
      <p:sp>
        <p:nvSpPr>
          <p:cNvPr id="23" name="Text 21"/>
          <p:cNvSpPr txBox="1"/>
          <p:nvPr/>
        </p:nvSpPr>
        <p:spPr>
          <a:xfrm>
            <a:off x="5166360" y="3886200"/>
            <a:ext cx="3291840" cy="59436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Only one replica can skip the repeated prefill. Where the request lands decides whether the cache is used.</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What a cache hit is worth</a:t>
            </a:r>
            <a:endParaRPr lang="en-US" sz="3200" dirty="0"/>
          </a:p>
        </p:txBody>
      </p:sp>
      <p:sp>
        <p:nvSpPr>
          <p:cNvPr id="3" name="Stat card 1"/>
          <p:cNvSpPr/>
          <p:nvPr/>
        </p:nvSpPr>
        <p:spPr>
          <a:xfrm>
            <a:off x="457200" y="1188720"/>
            <a:ext cx="256032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594360" y="1325880"/>
            <a:ext cx="2286000" cy="685800"/>
          </a:xfrm>
          <a:prstGeom prst="rect">
            <a:avLst/>
          </a:prstGeom>
          <a:noFill/>
          <a:ln/>
        </p:spPr>
        <p:txBody>
          <a:bodyPr wrap="square" lIns="0" tIns="0" rIns="0" bIns="0" rtlCol="0" anchor="ctr"/>
          <a:lstStyle/>
          <a:p>
            <a:pPr algn="ctr" indent="0" marL="0">
              <a:buNone/>
            </a:pPr>
            <a:r>
              <a:rPr lang="en-US" sz="3400" b="1" dirty="0">
                <a:solidFill>
                  <a:schemeClr val="tx1"/>
                </a:solidFill>
                <a:latin typeface="Cambria" pitchFamily="34" charset="0"/>
                <a:ea typeface="Cambria" pitchFamily="34" charset="-122"/>
                <a:cs typeface="Cambria" pitchFamily="34" charset="-120"/>
              </a:rPr>
              <a:t>2,061 ms</a:t>
            </a:r>
            <a:endParaRPr lang="en-US" sz="3400" dirty="0"/>
          </a:p>
        </p:txBody>
      </p:sp>
      <p:sp>
        <p:nvSpPr>
          <p:cNvPr id="5" name="Text 3"/>
          <p:cNvSpPr txBox="1"/>
          <p:nvPr/>
        </p:nvSpPr>
        <p:spPr>
          <a:xfrm>
            <a:off x="594360" y="2011680"/>
            <a:ext cx="2286000" cy="50292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time to first token, empty cache</a:t>
            </a:r>
            <a:endParaRPr lang="en-US" sz="1400" dirty="0"/>
          </a:p>
        </p:txBody>
      </p:sp>
      <p:sp>
        <p:nvSpPr>
          <p:cNvPr id="6" name="Stat card 2"/>
          <p:cNvSpPr/>
          <p:nvPr/>
        </p:nvSpPr>
        <p:spPr>
          <a:xfrm>
            <a:off x="3291840" y="1188720"/>
            <a:ext cx="256032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3429000" y="1325880"/>
            <a:ext cx="2286000" cy="685800"/>
          </a:xfrm>
          <a:prstGeom prst="rect">
            <a:avLst/>
          </a:prstGeom>
          <a:noFill/>
          <a:ln/>
        </p:spPr>
        <p:txBody>
          <a:bodyPr wrap="square" lIns="0" tIns="0" rIns="0" bIns="0" rtlCol="0" anchor="ctr"/>
          <a:lstStyle/>
          <a:p>
            <a:pPr algn="ctr" indent="0" marL="0">
              <a:buNone/>
            </a:pPr>
            <a:r>
              <a:rPr lang="en-US" sz="3400" b="1" dirty="0">
                <a:solidFill>
                  <a:schemeClr val="accent1"/>
                </a:solidFill>
                <a:latin typeface="Cambria" pitchFamily="34" charset="0"/>
                <a:ea typeface="Cambria" pitchFamily="34" charset="-122"/>
                <a:cs typeface="Cambria" pitchFamily="34" charset="-120"/>
              </a:rPr>
              <a:t>74 ms</a:t>
            </a:r>
            <a:endParaRPr lang="en-US" sz="3400" dirty="0"/>
          </a:p>
        </p:txBody>
      </p:sp>
      <p:sp>
        <p:nvSpPr>
          <p:cNvPr id="8" name="Text 6"/>
          <p:cNvSpPr txBox="1"/>
          <p:nvPr/>
        </p:nvSpPr>
        <p:spPr>
          <a:xfrm>
            <a:off x="3429000" y="2011680"/>
            <a:ext cx="2286000" cy="50292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time to first token, prefix cached</a:t>
            </a:r>
            <a:endParaRPr lang="en-US" sz="1400" dirty="0"/>
          </a:p>
        </p:txBody>
      </p:sp>
      <p:sp>
        <p:nvSpPr>
          <p:cNvPr id="9" name="Stat card 3"/>
          <p:cNvSpPr/>
          <p:nvPr/>
        </p:nvSpPr>
        <p:spPr>
          <a:xfrm>
            <a:off x="6126480" y="1188720"/>
            <a:ext cx="256032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0" name="Text 8"/>
          <p:cNvSpPr txBox="1"/>
          <p:nvPr/>
        </p:nvSpPr>
        <p:spPr>
          <a:xfrm>
            <a:off x="6263640" y="1325880"/>
            <a:ext cx="2286000" cy="685800"/>
          </a:xfrm>
          <a:prstGeom prst="rect">
            <a:avLst/>
          </a:prstGeom>
          <a:noFill/>
          <a:ln/>
        </p:spPr>
        <p:txBody>
          <a:bodyPr wrap="square" lIns="0" tIns="0" rIns="0" bIns="0" rtlCol="0" anchor="ctr"/>
          <a:lstStyle/>
          <a:p>
            <a:pPr algn="ctr" indent="0" marL="0">
              <a:buNone/>
            </a:pPr>
            <a:r>
              <a:rPr lang="en-US" sz="2600" b="1" dirty="0">
                <a:solidFill>
                  <a:schemeClr val="tx1"/>
                </a:solidFill>
                <a:latin typeface="Cambria" pitchFamily="34" charset="0"/>
                <a:ea typeface="Cambria" pitchFamily="34" charset="-122"/>
                <a:cs typeface="Cambria" pitchFamily="34" charset="-120"/>
              </a:rPr>
              <a:t>1,600 of 1,617</a:t>
            </a:r>
            <a:endParaRPr lang="en-US" sz="2600" dirty="0"/>
          </a:p>
        </p:txBody>
      </p:sp>
      <p:sp>
        <p:nvSpPr>
          <p:cNvPr id="11" name="Text 9"/>
          <p:cNvSpPr txBox="1"/>
          <p:nvPr/>
        </p:nvSpPr>
        <p:spPr>
          <a:xfrm>
            <a:off x="6263640" y="2011680"/>
            <a:ext cx="2286000" cy="50292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prompt tokens reused from cache</a:t>
            </a:r>
            <a:endParaRPr lang="en-US" sz="1400" dirty="0"/>
          </a:p>
        </p:txBody>
      </p:sp>
      <p:sp>
        <p:nvSpPr>
          <p:cNvPr id="12" name="Text 10"/>
          <p:cNvSpPr txBox="1"/>
          <p:nvPr/>
        </p:nvSpPr>
        <p:spPr>
          <a:xfrm>
            <a:off x="457200" y="2880360"/>
            <a:ext cx="274320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Time to first token</a:t>
            </a:r>
            <a:endParaRPr lang="en-US" sz="1400" dirty="0"/>
          </a:p>
        </p:txBody>
      </p:sp>
      <p:sp>
        <p:nvSpPr>
          <p:cNvPr id="13" name="Cold bar"/>
          <p:cNvSpPr/>
          <p:nvPr/>
        </p:nvSpPr>
        <p:spPr>
          <a:xfrm>
            <a:off x="1828800" y="3246120"/>
            <a:ext cx="6583680" cy="384048"/>
          </a:xfrm>
          <a:prstGeom prst="rect">
            <a:avLst/>
          </a:prstGeom>
          <a:solidFill>
            <a:schemeClr val="accent5"/>
          </a:solidFill>
          <a:ln w="12700">
            <a:solidFill>
              <a:schemeClr val="accent5"/>
            </a:solidFill>
            <a:prstDash val="solid"/>
          </a:ln>
        </p:spPr>
      </p:sp>
      <p:sp>
        <p:nvSpPr>
          <p:cNvPr id="14" name="Warm bar"/>
          <p:cNvSpPr/>
          <p:nvPr/>
        </p:nvSpPr>
        <p:spPr>
          <a:xfrm>
            <a:off x="1828800" y="3794760"/>
            <a:ext cx="236386" cy="384048"/>
          </a:xfrm>
          <a:prstGeom prst="rect">
            <a:avLst/>
          </a:prstGeom>
          <a:solidFill>
            <a:schemeClr val="accent1"/>
          </a:solidFill>
          <a:ln w="12700">
            <a:solidFill>
              <a:schemeClr val="accent1"/>
            </a:solidFill>
            <a:prstDash val="solid"/>
          </a:ln>
        </p:spPr>
      </p:sp>
      <p:sp>
        <p:nvSpPr>
          <p:cNvPr id="15" name="Text 13"/>
          <p:cNvSpPr txBox="1"/>
          <p:nvPr/>
        </p:nvSpPr>
        <p:spPr>
          <a:xfrm>
            <a:off x="457200" y="3246120"/>
            <a:ext cx="1280160" cy="384048"/>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Cold</a:t>
            </a:r>
            <a:endParaRPr lang="en-US" sz="1400" dirty="0"/>
          </a:p>
        </p:txBody>
      </p:sp>
      <p:sp>
        <p:nvSpPr>
          <p:cNvPr id="16" name="Text 14"/>
          <p:cNvSpPr txBox="1"/>
          <p:nvPr/>
        </p:nvSpPr>
        <p:spPr>
          <a:xfrm>
            <a:off x="457200" y="3794760"/>
            <a:ext cx="1280160" cy="384048"/>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Cached</a:t>
            </a:r>
            <a:endParaRPr lang="en-US" sz="1400" dirty="0"/>
          </a:p>
        </p:txBody>
      </p:sp>
      <p:sp>
        <p:nvSpPr>
          <p:cNvPr id="17" name="Text 15"/>
          <p:cNvSpPr txBox="1"/>
          <p:nvPr/>
        </p:nvSpPr>
        <p:spPr>
          <a:xfrm>
            <a:off x="2174914" y="3794760"/>
            <a:ext cx="1097280" cy="384048"/>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74 ms</a:t>
            </a:r>
            <a:endParaRPr lang="en-US" sz="1400" dirty="0"/>
          </a:p>
        </p:txBody>
      </p:sp>
      <p:sp>
        <p:nvSpPr>
          <p:cNvPr id="18" name="Text 16"/>
          <p:cNvSpPr txBox="1"/>
          <p:nvPr/>
        </p:nvSpPr>
        <p:spPr>
          <a:xfrm>
            <a:off x="457200" y="4343400"/>
            <a:ext cx="7680960" cy="50292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Measured on one Tesla T4 running vLLM with Qwen2.5-3B-Instruct. The same system prompt of about 1,600 tokens was sent in three requests; only the first met an empty cache.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The idea</a:t>
            </a:r>
            <a:endParaRPr lang="en-US" sz="3200" dirty="0"/>
          </a:p>
        </p:txBody>
      </p:sp>
      <p:sp>
        <p:nvSpPr>
          <p:cNvPr id="3" name="Text 1"/>
          <p:cNvSpPr txBox="1"/>
          <p:nvPr/>
        </p:nvSpPr>
        <p:spPr>
          <a:xfrm>
            <a:off x="457200" y="1188720"/>
            <a:ext cx="8229600" cy="960120"/>
          </a:xfrm>
          <a:prstGeom prst="rect">
            <a:avLst/>
          </a:prstGeom>
          <a:noFill/>
          <a:ln/>
        </p:spPr>
        <p:txBody>
          <a:bodyPr wrap="square" lIns="0" tIns="0" rIns="0" bIns="0" rtlCol="0" anchor="t"/>
          <a:lstStyle/>
          <a:p>
            <a:pPr indent="0" marL="0">
              <a:buNone/>
            </a:pPr>
            <a:r>
              <a:rPr lang="en-US" sz="2400" dirty="0">
                <a:solidFill>
                  <a:schemeClr val="tx1"/>
                </a:solidFill>
                <a:latin typeface="Cambria" pitchFamily="34" charset="0"/>
                <a:ea typeface="Cambria" pitchFamily="34" charset="-122"/>
                <a:cs typeface="Cambria" pitchFamily="34" charset="-120"/>
              </a:rPr>
              <a:t>Send each request to the replica that already holds the start of its prompt, unless that replica is too busy.</a:t>
            </a:r>
            <a:endParaRPr lang="en-US" sz="2400" dirty="0"/>
          </a:p>
        </p:txBody>
      </p:sp>
      <p:sp>
        <p:nvSpPr>
          <p:cNvPr id="4" name="Principle card 1"/>
          <p:cNvSpPr/>
          <p:nvPr/>
        </p:nvSpPr>
        <p:spPr>
          <a:xfrm>
            <a:off x="457200" y="2377440"/>
            <a:ext cx="2560320" cy="2148840"/>
          </a:xfrm>
          <a:prstGeom prst="roundRect">
            <a:avLst>
              <a:gd name="adj" fmla="val 3404"/>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5" name="Principle 1 badge"/>
          <p:cNvSpPr/>
          <p:nvPr/>
        </p:nvSpPr>
        <p:spPr>
          <a:xfrm>
            <a:off x="640080" y="2560320"/>
            <a:ext cx="548640" cy="548640"/>
          </a:xfrm>
          <a:prstGeom prst="ellipse">
            <a:avLst/>
          </a:prstGeom>
          <a:solidFill>
            <a:srgbClr val="0E8F7E"/>
          </a:solidFill>
          <a:ln w="12700">
            <a:solidFill>
              <a:srgbClr val="0E8F7E"/>
            </a:solidFill>
            <a:prstDash val="solid"/>
          </a:ln>
        </p:spPr>
      </p:sp>
      <p:pic>
        <p:nvPicPr>
          <p:cNvPr id="6" name="Principle 1 icon" descr="preencoded.png">    </p:cNvPr>
          <p:cNvPicPr>
            <a:picLocks noChangeAspect="1"/>
          </p:cNvPicPr>
          <p:nvPr/>
        </p:nvPicPr>
        <p:blipFill>
          <a:blip r:embed="rId1"/>
          <a:stretch>
            <a:fillRect/>
          </a:stretch>
        </p:blipFill>
        <p:spPr>
          <a:xfrm>
            <a:off x="782726" y="2702966"/>
            <a:ext cx="263347" cy="263347"/>
          </a:xfrm>
          <a:prstGeom prst="rect">
            <a:avLst/>
          </a:prstGeom>
        </p:spPr>
      </p:pic>
      <p:sp>
        <p:nvSpPr>
          <p:cNvPr id="7" name="Text 4"/>
          <p:cNvSpPr txBox="1"/>
          <p:nvPr/>
        </p:nvSpPr>
        <p:spPr>
          <a:xfrm>
            <a:off x="640080" y="3200400"/>
            <a:ext cx="2194560" cy="32004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Remember</a:t>
            </a:r>
            <a:endParaRPr lang="en-US" sz="1800" dirty="0"/>
          </a:p>
        </p:txBody>
      </p:sp>
      <p:sp>
        <p:nvSpPr>
          <p:cNvPr id="8" name="Text 5"/>
          <p:cNvSpPr txBox="1"/>
          <p:nvPr/>
        </p:nvSpPr>
        <p:spPr>
          <a:xfrm>
            <a:off x="640080" y="3566160"/>
            <a:ext cx="2194560" cy="8686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The router keeps an index of which replica holds which blocks of which prompts.</a:t>
            </a:r>
            <a:endParaRPr lang="en-US" sz="1400" dirty="0"/>
          </a:p>
        </p:txBody>
      </p:sp>
      <p:sp>
        <p:nvSpPr>
          <p:cNvPr id="9" name="Principle card 2"/>
          <p:cNvSpPr/>
          <p:nvPr/>
        </p:nvSpPr>
        <p:spPr>
          <a:xfrm>
            <a:off x="3291840" y="2377440"/>
            <a:ext cx="2560320" cy="2148840"/>
          </a:xfrm>
          <a:prstGeom prst="roundRect">
            <a:avLst>
              <a:gd name="adj" fmla="val 3404"/>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0" name="Principle 2 badge"/>
          <p:cNvSpPr/>
          <p:nvPr/>
        </p:nvSpPr>
        <p:spPr>
          <a:xfrm>
            <a:off x="3474720" y="2560320"/>
            <a:ext cx="548640" cy="548640"/>
          </a:xfrm>
          <a:prstGeom prst="ellipse">
            <a:avLst/>
          </a:prstGeom>
          <a:solidFill>
            <a:srgbClr val="0E8F7E"/>
          </a:solidFill>
          <a:ln w="12700">
            <a:solidFill>
              <a:srgbClr val="0E8F7E"/>
            </a:solidFill>
            <a:prstDash val="solid"/>
          </a:ln>
        </p:spPr>
      </p:sp>
      <p:pic>
        <p:nvPicPr>
          <p:cNvPr id="11" name="Principle 2 icon" descr="preencoded.png">    </p:cNvPr>
          <p:cNvPicPr>
            <a:picLocks noChangeAspect="1"/>
          </p:cNvPicPr>
          <p:nvPr/>
        </p:nvPicPr>
        <p:blipFill>
          <a:blip r:embed="rId2"/>
          <a:stretch>
            <a:fillRect/>
          </a:stretch>
        </p:blipFill>
        <p:spPr>
          <a:xfrm>
            <a:off x="3617366" y="2702966"/>
            <a:ext cx="263347" cy="263347"/>
          </a:xfrm>
          <a:prstGeom prst="rect">
            <a:avLst/>
          </a:prstGeom>
        </p:spPr>
      </p:pic>
      <p:sp>
        <p:nvSpPr>
          <p:cNvPr id="12" name="Text 8"/>
          <p:cNvSpPr txBox="1"/>
          <p:nvPr/>
        </p:nvSpPr>
        <p:spPr>
          <a:xfrm>
            <a:off x="3474720" y="3200400"/>
            <a:ext cx="2194560" cy="32004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Match</a:t>
            </a:r>
            <a:endParaRPr lang="en-US" sz="1800" dirty="0"/>
          </a:p>
        </p:txBody>
      </p:sp>
      <p:sp>
        <p:nvSpPr>
          <p:cNvPr id="13" name="Text 9"/>
          <p:cNvSpPr txBox="1"/>
          <p:nvPr/>
        </p:nvSpPr>
        <p:spPr>
          <a:xfrm>
            <a:off x="3474720" y="3566160"/>
            <a:ext cx="2194560" cy="8686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The replica with the longest shared prefix is the best candidate.</a:t>
            </a:r>
            <a:endParaRPr lang="en-US" sz="1400" dirty="0"/>
          </a:p>
        </p:txBody>
      </p:sp>
      <p:sp>
        <p:nvSpPr>
          <p:cNvPr id="14" name="Principle card 3"/>
          <p:cNvSpPr/>
          <p:nvPr/>
        </p:nvSpPr>
        <p:spPr>
          <a:xfrm>
            <a:off x="6126480" y="2377440"/>
            <a:ext cx="2560320" cy="2148840"/>
          </a:xfrm>
          <a:prstGeom prst="roundRect">
            <a:avLst>
              <a:gd name="adj" fmla="val 3404"/>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5" name="Principle 3 badge"/>
          <p:cNvSpPr/>
          <p:nvPr/>
        </p:nvSpPr>
        <p:spPr>
          <a:xfrm>
            <a:off x="6309360" y="2560320"/>
            <a:ext cx="548640" cy="548640"/>
          </a:xfrm>
          <a:prstGeom prst="ellipse">
            <a:avLst/>
          </a:prstGeom>
          <a:solidFill>
            <a:srgbClr val="0E8F7E"/>
          </a:solidFill>
          <a:ln w="12700">
            <a:solidFill>
              <a:srgbClr val="0E8F7E"/>
            </a:solidFill>
            <a:prstDash val="solid"/>
          </a:ln>
        </p:spPr>
      </p:sp>
      <p:pic>
        <p:nvPicPr>
          <p:cNvPr id="16" name="Principle 3 icon" descr="preencoded.png">    </p:cNvPr>
          <p:cNvPicPr>
            <a:picLocks noChangeAspect="1"/>
          </p:cNvPicPr>
          <p:nvPr/>
        </p:nvPicPr>
        <p:blipFill>
          <a:blip r:embed="rId3"/>
          <a:stretch>
            <a:fillRect/>
          </a:stretch>
        </p:blipFill>
        <p:spPr>
          <a:xfrm>
            <a:off x="6452006" y="2702966"/>
            <a:ext cx="263347" cy="263347"/>
          </a:xfrm>
          <a:prstGeom prst="rect">
            <a:avLst/>
          </a:prstGeom>
        </p:spPr>
      </p:pic>
      <p:sp>
        <p:nvSpPr>
          <p:cNvPr id="17" name="Text 12"/>
          <p:cNvSpPr txBox="1"/>
          <p:nvPr/>
        </p:nvSpPr>
        <p:spPr>
          <a:xfrm>
            <a:off x="6309360" y="3200400"/>
            <a:ext cx="2194560" cy="32004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Protect</a:t>
            </a:r>
            <a:endParaRPr lang="en-US" sz="1800" dirty="0"/>
          </a:p>
        </p:txBody>
      </p:sp>
      <p:sp>
        <p:nvSpPr>
          <p:cNvPr id="18" name="Text 13"/>
          <p:cNvSpPr txBox="1"/>
          <p:nvPr/>
        </p:nvSpPr>
        <p:spPr>
          <a:xfrm>
            <a:off x="6309360" y="3566160"/>
            <a:ext cx="2194560" cy="8686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A latency estimate rules out a candidate that would miss the response-time target.</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System architecture</a:t>
            </a:r>
            <a:endParaRPr lang="en-US" sz="3200" dirty="0"/>
          </a:p>
        </p:txBody>
      </p:sp>
      <p:sp>
        <p:nvSpPr>
          <p:cNvPr id="3" name="Console panel"/>
          <p:cNvSpPr/>
          <p:nvPr/>
        </p:nvSpPr>
        <p:spPr>
          <a:xfrm>
            <a:off x="457200" y="1371600"/>
            <a:ext cx="1828800" cy="2194560"/>
          </a:xfrm>
          <a:prstGeom prst="roundRect">
            <a:avLst>
              <a:gd name="adj" fmla="val 40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594360" y="1481328"/>
            <a:ext cx="155448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Web console</a:t>
            </a:r>
            <a:endParaRPr lang="en-US" sz="1600" dirty="0"/>
          </a:p>
        </p:txBody>
      </p:sp>
      <p:sp>
        <p:nvSpPr>
          <p:cNvPr id="5" name="Text 3"/>
          <p:cNvSpPr txBox="1"/>
          <p:nvPr/>
        </p:nvSpPr>
        <p:spPr>
          <a:xfrm>
            <a:off x="594360" y="1874520"/>
            <a:ext cx="1554480" cy="1463040"/>
          </a:xfrm>
          <a:prstGeom prst="rect">
            <a:avLst/>
          </a:prstGeom>
          <a:noFill/>
          <a:ln/>
        </p:spPr>
        <p:txBody>
          <a:bodyPr wrap="square" lIns="0" tIns="0" rIns="0" bIns="0" rtlCol="0" anchor="t"/>
          <a:lstStyle/>
          <a:p>
            <a:pPr indent="0" marL="0">
              <a:spcAft>
                <a:spcPts val="600"/>
              </a:spcAft>
              <a:buNone/>
            </a:pPr>
            <a:r>
              <a:rPr lang="en-US" sz="1400" dirty="0">
                <a:solidFill>
                  <a:schemeClr val="tx2"/>
                </a:solidFill>
                <a:latin typeface="Calibri" pitchFamily="34" charset="0"/>
                <a:ea typeface="Calibri" pitchFamily="34" charset="-122"/>
                <a:cs typeface="Calibri" pitchFamily="34" charset="-120"/>
              </a:rPr>
              <a:t>Playground</a:t>
            </a:r>
            <a:endParaRPr lang="en-US" sz="1400" dirty="0"/>
          </a:p>
          <a:p>
            <a:pPr indent="0" marL="0">
              <a:spcAft>
                <a:spcPts val="600"/>
              </a:spcAft>
              <a:buNone/>
            </a:pPr>
            <a:r>
              <a:rPr lang="en-US" sz="1400" dirty="0">
                <a:solidFill>
                  <a:schemeClr val="tx2"/>
                </a:solidFill>
                <a:latin typeface="Calibri" pitchFamily="34" charset="0"/>
                <a:ea typeface="Calibri" pitchFamily="34" charset="-122"/>
                <a:cs typeface="Calibri" pitchFamily="34" charset="-120"/>
              </a:rPr>
              <a:t>Load test</a:t>
            </a:r>
            <a:endParaRPr lang="en-US" sz="1400" dirty="0"/>
          </a:p>
          <a:p>
            <a:pPr indent="0" marL="0">
              <a:spcAft>
                <a:spcPts val="600"/>
              </a:spcAft>
              <a:buNone/>
            </a:pPr>
            <a:r>
              <a:rPr lang="en-US" sz="1400" dirty="0">
                <a:solidFill>
                  <a:schemeClr val="tx2"/>
                </a:solidFill>
                <a:latin typeface="Calibri" pitchFamily="34" charset="0"/>
                <a:ea typeface="Calibri" pitchFamily="34" charset="-122"/>
                <a:cs typeface="Calibri" pitchFamily="34" charset="-120"/>
              </a:rPr>
              <a:t>Live routing</a:t>
            </a:r>
            <a:endParaRPr lang="en-US" sz="1400" dirty="0"/>
          </a:p>
          <a:p>
            <a:pPr indent="0" marL="0">
              <a:spcAft>
                <a:spcPts val="600"/>
              </a:spcAft>
              <a:buNone/>
            </a:pPr>
            <a:r>
              <a:rPr lang="en-US" sz="1400" dirty="0">
                <a:solidFill>
                  <a:schemeClr val="tx2"/>
                </a:solidFill>
                <a:latin typeface="Calibri" pitchFamily="34" charset="0"/>
                <a:ea typeface="Calibri" pitchFamily="34" charset="-122"/>
                <a:cs typeface="Calibri" pitchFamily="34" charset="-120"/>
              </a:rPr>
              <a:t>Dashboard</a:t>
            </a:r>
            <a:endParaRPr lang="en-US" sz="1400" dirty="0"/>
          </a:p>
        </p:txBody>
      </p:sp>
      <p:sp>
        <p:nvSpPr>
          <p:cNvPr id="6" name="Router panel"/>
          <p:cNvSpPr/>
          <p:nvPr/>
        </p:nvSpPr>
        <p:spPr>
          <a:xfrm>
            <a:off x="2834640" y="1051560"/>
            <a:ext cx="2834640" cy="2834640"/>
          </a:xfrm>
          <a:prstGeom prst="roundRect">
            <a:avLst>
              <a:gd name="adj" fmla="val 2581"/>
            </a:avLst>
          </a:prstGeom>
          <a:solidFill>
            <a:schemeClr val="tx1"/>
          </a:solidFill>
          <a:ln w="12700">
            <a:solidFill>
              <a:schemeClr val="tx1"/>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3017520" y="1143000"/>
            <a:ext cx="2468880" cy="32004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Router</a:t>
            </a:r>
            <a:endParaRPr lang="en-US" sz="1600" dirty="0"/>
          </a:p>
        </p:txBody>
      </p:sp>
      <p:sp>
        <p:nvSpPr>
          <p:cNvPr id="8" name="Admission control"/>
          <p:cNvSpPr/>
          <p:nvPr/>
        </p:nvSpPr>
        <p:spPr>
          <a:xfrm>
            <a:off x="3017520" y="1554480"/>
            <a:ext cx="2468880" cy="603504"/>
          </a:xfrm>
          <a:prstGeom prst="roundRect">
            <a:avLst>
              <a:gd name="adj" fmla="val 9091"/>
            </a:avLst>
          </a:prstGeom>
          <a:solidFill>
            <a:schemeClr val="tx2"/>
          </a:solidFill>
          <a:ln w="12700">
            <a:solidFill>
              <a:schemeClr val="tx2"/>
            </a:solidFill>
            <a:prstDash val="solid"/>
          </a:ln>
        </p:spPr>
      </p:sp>
      <p:sp>
        <p:nvSpPr>
          <p:cNvPr id="9" name="Text 7"/>
          <p:cNvSpPr txBox="1"/>
          <p:nvPr/>
        </p:nvSpPr>
        <p:spPr>
          <a:xfrm>
            <a:off x="3017520" y="1554480"/>
            <a:ext cx="2468880" cy="60350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Admission control</a:t>
            </a:r>
            <a:endParaRPr lang="en-US" sz="1400" dirty="0"/>
          </a:p>
        </p:txBody>
      </p:sp>
      <p:sp>
        <p:nvSpPr>
          <p:cNvPr id="10" name="Routing policy"/>
          <p:cNvSpPr/>
          <p:nvPr/>
        </p:nvSpPr>
        <p:spPr>
          <a:xfrm>
            <a:off x="3017520" y="2304288"/>
            <a:ext cx="2468880" cy="603504"/>
          </a:xfrm>
          <a:prstGeom prst="roundRect">
            <a:avLst>
              <a:gd name="adj" fmla="val 9091"/>
            </a:avLst>
          </a:prstGeom>
          <a:solidFill>
            <a:schemeClr val="accent1"/>
          </a:solidFill>
          <a:ln w="12700">
            <a:solidFill>
              <a:schemeClr val="accent1"/>
            </a:solidFill>
            <a:prstDash val="solid"/>
          </a:ln>
        </p:spPr>
      </p:sp>
      <p:sp>
        <p:nvSpPr>
          <p:cNvPr id="11" name="Text 9"/>
          <p:cNvSpPr txBox="1"/>
          <p:nvPr/>
        </p:nvSpPr>
        <p:spPr>
          <a:xfrm>
            <a:off x="3017520" y="2304288"/>
            <a:ext cx="2468880" cy="60350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Routing policy</a:t>
            </a:r>
            <a:endParaRPr lang="en-US" sz="1400" dirty="0"/>
          </a:p>
        </p:txBody>
      </p:sp>
      <p:sp>
        <p:nvSpPr>
          <p:cNvPr id="12" name="Proxy with retries"/>
          <p:cNvSpPr/>
          <p:nvPr/>
        </p:nvSpPr>
        <p:spPr>
          <a:xfrm>
            <a:off x="3017520" y="3054096"/>
            <a:ext cx="2468880" cy="603504"/>
          </a:xfrm>
          <a:prstGeom prst="roundRect">
            <a:avLst>
              <a:gd name="adj" fmla="val 9091"/>
            </a:avLst>
          </a:prstGeom>
          <a:solidFill>
            <a:schemeClr val="tx2"/>
          </a:solidFill>
          <a:ln w="12700">
            <a:solidFill>
              <a:schemeClr val="tx2"/>
            </a:solidFill>
            <a:prstDash val="solid"/>
          </a:ln>
        </p:spPr>
      </p:sp>
      <p:sp>
        <p:nvSpPr>
          <p:cNvPr id="13" name="Text 11"/>
          <p:cNvSpPr txBox="1"/>
          <p:nvPr/>
        </p:nvSpPr>
        <p:spPr>
          <a:xfrm>
            <a:off x="3017520" y="3054096"/>
            <a:ext cx="2468880" cy="60350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Proxy with retries</a:t>
            </a:r>
            <a:endParaRPr lang="en-US" sz="1400" dirty="0"/>
          </a:p>
        </p:txBody>
      </p:sp>
      <p:sp>
        <p:nvSpPr>
          <p:cNvPr id="14" name="Replica A"/>
          <p:cNvSpPr/>
          <p:nvPr/>
        </p:nvSpPr>
        <p:spPr>
          <a:xfrm>
            <a:off x="6720840" y="914400"/>
            <a:ext cx="1965960" cy="640080"/>
          </a:xfrm>
          <a:prstGeom prst="roundRect">
            <a:avLst>
              <a:gd name="adj" fmla="val 8571"/>
            </a:avLst>
          </a:prstGeom>
          <a:solidFill>
            <a:schemeClr val="bg2"/>
          </a:solidFill>
          <a:ln w="12700">
            <a:solidFill>
              <a:schemeClr val="accent4"/>
            </a:solidFill>
            <a:prstDash val="solid"/>
          </a:ln>
        </p:spPr>
      </p:sp>
      <p:sp>
        <p:nvSpPr>
          <p:cNvPr id="15" name="Text 13"/>
          <p:cNvSpPr txBox="1"/>
          <p:nvPr/>
        </p:nvSpPr>
        <p:spPr>
          <a:xfrm>
            <a:off x="6720840" y="914400"/>
            <a:ext cx="1965960" cy="64008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Replica A</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T4 GPU · vLLM</a:t>
            </a:r>
            <a:endParaRPr lang="en-US" sz="1300" dirty="0"/>
          </a:p>
        </p:txBody>
      </p:sp>
      <p:sp>
        <p:nvSpPr>
          <p:cNvPr id="16" name="Replica B"/>
          <p:cNvSpPr/>
          <p:nvPr/>
        </p:nvSpPr>
        <p:spPr>
          <a:xfrm>
            <a:off x="6720840" y="1691640"/>
            <a:ext cx="1965960" cy="640080"/>
          </a:xfrm>
          <a:prstGeom prst="roundRect">
            <a:avLst>
              <a:gd name="adj" fmla="val 8571"/>
            </a:avLst>
          </a:prstGeom>
          <a:solidFill>
            <a:schemeClr val="bg2"/>
          </a:solidFill>
          <a:ln w="12700">
            <a:solidFill>
              <a:schemeClr val="accent4"/>
            </a:solidFill>
            <a:prstDash val="solid"/>
          </a:ln>
        </p:spPr>
      </p:sp>
      <p:sp>
        <p:nvSpPr>
          <p:cNvPr id="17" name="Text 15"/>
          <p:cNvSpPr txBox="1"/>
          <p:nvPr/>
        </p:nvSpPr>
        <p:spPr>
          <a:xfrm>
            <a:off x="6720840" y="1691640"/>
            <a:ext cx="1965960" cy="64008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Replica B</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T4 GPU · vLLM</a:t>
            </a:r>
            <a:endParaRPr lang="en-US" sz="1300" dirty="0"/>
          </a:p>
        </p:txBody>
      </p:sp>
      <p:sp>
        <p:nvSpPr>
          <p:cNvPr id="18" name="Replica C"/>
          <p:cNvSpPr/>
          <p:nvPr/>
        </p:nvSpPr>
        <p:spPr>
          <a:xfrm>
            <a:off x="6720840" y="2468880"/>
            <a:ext cx="1965960" cy="640080"/>
          </a:xfrm>
          <a:prstGeom prst="roundRect">
            <a:avLst>
              <a:gd name="adj" fmla="val 8571"/>
            </a:avLst>
          </a:prstGeom>
          <a:solidFill>
            <a:schemeClr val="bg2"/>
          </a:solidFill>
          <a:ln w="12700">
            <a:solidFill>
              <a:schemeClr val="accent4"/>
            </a:solidFill>
            <a:prstDash val="solid"/>
          </a:ln>
        </p:spPr>
      </p:sp>
      <p:sp>
        <p:nvSpPr>
          <p:cNvPr id="19" name="Text 17"/>
          <p:cNvSpPr txBox="1"/>
          <p:nvPr/>
        </p:nvSpPr>
        <p:spPr>
          <a:xfrm>
            <a:off x="6720840" y="2468880"/>
            <a:ext cx="1965960" cy="64008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Replica C</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T4 GPU · vLLM</a:t>
            </a:r>
            <a:endParaRPr lang="en-US" sz="1300" dirty="0"/>
          </a:p>
        </p:txBody>
      </p:sp>
      <p:sp>
        <p:nvSpPr>
          <p:cNvPr id="20" name="Replica D"/>
          <p:cNvSpPr/>
          <p:nvPr/>
        </p:nvSpPr>
        <p:spPr>
          <a:xfrm>
            <a:off x="6720840" y="3246120"/>
            <a:ext cx="1965960" cy="640080"/>
          </a:xfrm>
          <a:prstGeom prst="roundRect">
            <a:avLst>
              <a:gd name="adj" fmla="val 8571"/>
            </a:avLst>
          </a:prstGeom>
          <a:solidFill>
            <a:schemeClr val="bg2"/>
          </a:solidFill>
          <a:ln w="12700">
            <a:solidFill>
              <a:schemeClr val="accent4"/>
            </a:solidFill>
            <a:prstDash val="solid"/>
          </a:ln>
        </p:spPr>
      </p:sp>
      <p:sp>
        <p:nvSpPr>
          <p:cNvPr id="21" name="Text 19"/>
          <p:cNvSpPr txBox="1"/>
          <p:nvPr/>
        </p:nvSpPr>
        <p:spPr>
          <a:xfrm>
            <a:off x="6720840" y="3246120"/>
            <a:ext cx="1965960" cy="64008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Replica D</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T4 GPU · vLLM</a:t>
            </a:r>
            <a:endParaRPr lang="en-US" sz="1300" dirty="0"/>
          </a:p>
        </p:txBody>
      </p:sp>
      <p:sp>
        <p:nvSpPr>
          <p:cNvPr id="22" name="Console to router"/>
          <p:cNvSpPr/>
          <p:nvPr/>
        </p:nvSpPr>
        <p:spPr>
          <a:xfrm>
            <a:off x="2331720" y="2468880"/>
            <a:ext cx="457200" cy="0"/>
          </a:xfrm>
          <a:prstGeom prst="line">
            <a:avLst/>
          </a:prstGeom>
          <a:noFill/>
          <a:ln w="22225">
            <a:solidFill>
              <a:schemeClr val="tx1"/>
            </a:solidFill>
            <a:prstDash val="solid"/>
            <a:tailEnd type="triangle"/>
          </a:ln>
        </p:spPr>
      </p:sp>
      <p:sp>
        <p:nvSpPr>
          <p:cNvPr id="23" name="Router to replicas"/>
          <p:cNvSpPr/>
          <p:nvPr/>
        </p:nvSpPr>
        <p:spPr>
          <a:xfrm>
            <a:off x="5715000" y="2468880"/>
            <a:ext cx="960120" cy="0"/>
          </a:xfrm>
          <a:prstGeom prst="line">
            <a:avLst/>
          </a:prstGeom>
          <a:noFill/>
          <a:ln w="22225">
            <a:solidFill>
              <a:schemeClr val="tx1"/>
            </a:solidFill>
            <a:prstDash val="solid"/>
            <a:tailEnd type="triangle"/>
          </a:ln>
        </p:spPr>
      </p:sp>
      <p:sp>
        <p:nvSpPr>
          <p:cNvPr id="24" name="Text 22"/>
          <p:cNvSpPr txBox="1"/>
          <p:nvPr/>
        </p:nvSpPr>
        <p:spPr>
          <a:xfrm>
            <a:off x="5577840" y="2697480"/>
            <a:ext cx="1188720" cy="457200"/>
          </a:xfrm>
          <a:prstGeom prst="rect">
            <a:avLst/>
          </a:prstGeom>
          <a:noFill/>
          <a:ln/>
        </p:spPr>
        <p:txBody>
          <a:bodyPr wrap="square" lIns="0" tIns="0" rIns="0" bIns="0" rtlCol="0" anchor="t"/>
          <a:lstStyle/>
          <a:p>
            <a:pPr algn="ctr" indent="0" marL="0">
              <a:buNone/>
            </a:pPr>
            <a:r>
              <a:rPr lang="en-US" sz="1100" dirty="0">
                <a:solidFill>
                  <a:schemeClr val="tx2"/>
                </a:solidFill>
                <a:latin typeface="Calibri" pitchFamily="34" charset="0"/>
                <a:ea typeface="Calibri" pitchFamily="34" charset="-122"/>
                <a:cs typeface="Calibri" pitchFamily="34" charset="-120"/>
              </a:rPr>
              <a:t>HTTPS tunnels</a:t>
            </a:r>
            <a:endParaRPr lang="en-US" sz="1100" dirty="0"/>
          </a:p>
        </p:txBody>
      </p:sp>
      <p:sp>
        <p:nvSpPr>
          <p:cNvPr id="25" name="Text 23"/>
          <p:cNvSpPr txBox="1"/>
          <p:nvPr/>
        </p:nvSpPr>
        <p:spPr>
          <a:xfrm>
            <a:off x="457200" y="4206240"/>
            <a:ext cx="7680960"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Requests flow left to right. Each routing step is also published as an event that the console draws live.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How the router decides</a:t>
            </a:r>
            <a:endParaRPr lang="en-US" sz="3200" dirty="0"/>
          </a:p>
        </p:txBody>
      </p:sp>
      <p:sp>
        <p:nvSpPr>
          <p:cNvPr id="3" name="Step 1 number"/>
          <p:cNvSpPr/>
          <p:nvPr/>
        </p:nvSpPr>
        <p:spPr>
          <a:xfrm>
            <a:off x="457200" y="1216152"/>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457200" y="121615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097280" y="1143000"/>
            <a:ext cx="2331720" cy="603504"/>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Split the prompt</a:t>
            </a:r>
            <a:endParaRPr lang="en-US" sz="1500" dirty="0"/>
          </a:p>
        </p:txBody>
      </p:sp>
      <p:sp>
        <p:nvSpPr>
          <p:cNvPr id="6" name="Text 4"/>
          <p:cNvSpPr txBox="1"/>
          <p:nvPr/>
        </p:nvSpPr>
        <p:spPr>
          <a:xfrm>
            <a:off x="3520440" y="1143000"/>
            <a:ext cx="5166360" cy="603504"/>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The chat is tokenized and cut into 16-token blocks, matching the block size vLLM caches.</a:t>
            </a:r>
            <a:endParaRPr lang="en-US" sz="1400" dirty="0"/>
          </a:p>
        </p:txBody>
      </p:sp>
      <p:sp>
        <p:nvSpPr>
          <p:cNvPr id="7" name="Step 2 number"/>
          <p:cNvSpPr/>
          <p:nvPr/>
        </p:nvSpPr>
        <p:spPr>
          <a:xfrm>
            <a:off x="457200" y="1929384"/>
            <a:ext cx="457200" cy="457200"/>
          </a:xfrm>
          <a:prstGeom prst="ellipse">
            <a:avLst/>
          </a:prstGeom>
          <a:solidFill>
            <a:schemeClr val="accent1"/>
          </a:solidFill>
          <a:ln w="12700">
            <a:solidFill>
              <a:schemeClr val="accent1"/>
            </a:solidFill>
            <a:prstDash val="solid"/>
          </a:ln>
        </p:spPr>
      </p:sp>
      <p:sp>
        <p:nvSpPr>
          <p:cNvPr id="8" name="Text 6"/>
          <p:cNvSpPr txBox="1"/>
          <p:nvPr/>
        </p:nvSpPr>
        <p:spPr>
          <a:xfrm>
            <a:off x="457200" y="192938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097280" y="1856232"/>
            <a:ext cx="2331720" cy="603504"/>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Chain the hashes</a:t>
            </a:r>
            <a:endParaRPr lang="en-US" sz="1500" dirty="0"/>
          </a:p>
        </p:txBody>
      </p:sp>
      <p:sp>
        <p:nvSpPr>
          <p:cNvPr id="10" name="Text 8"/>
          <p:cNvSpPr txBox="1"/>
          <p:nvPr/>
        </p:nvSpPr>
        <p:spPr>
          <a:xfrm>
            <a:off x="3520440" y="1856232"/>
            <a:ext cx="5166360" cy="603504"/>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Each block's hash includes the hash before it, so one hash identifies an entire prefix.</a:t>
            </a:r>
            <a:endParaRPr lang="en-US" sz="1400" dirty="0"/>
          </a:p>
        </p:txBody>
      </p:sp>
      <p:sp>
        <p:nvSpPr>
          <p:cNvPr id="11" name="Step 3 number"/>
          <p:cNvSpPr/>
          <p:nvPr/>
        </p:nvSpPr>
        <p:spPr>
          <a:xfrm>
            <a:off x="457200" y="2642616"/>
            <a:ext cx="457200" cy="457200"/>
          </a:xfrm>
          <a:prstGeom prst="ellipse">
            <a:avLst/>
          </a:prstGeom>
          <a:solidFill>
            <a:schemeClr val="accent1"/>
          </a:solidFill>
          <a:ln w="12700">
            <a:solidFill>
              <a:schemeClr val="accent1"/>
            </a:solidFill>
            <a:prstDash val="solid"/>
          </a:ln>
        </p:spPr>
      </p:sp>
      <p:sp>
        <p:nvSpPr>
          <p:cNvPr id="12" name="Text 10"/>
          <p:cNvSpPr txBox="1"/>
          <p:nvPr/>
        </p:nvSpPr>
        <p:spPr>
          <a:xfrm>
            <a:off x="457200" y="264261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3" name="Text 11"/>
          <p:cNvSpPr txBox="1"/>
          <p:nvPr/>
        </p:nvSpPr>
        <p:spPr>
          <a:xfrm>
            <a:off x="1097280" y="2569464"/>
            <a:ext cx="2331720" cy="603504"/>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Find the longest match</a:t>
            </a:r>
            <a:endParaRPr lang="en-US" sz="1500" dirty="0"/>
          </a:p>
        </p:txBody>
      </p:sp>
      <p:sp>
        <p:nvSpPr>
          <p:cNvPr id="14" name="Text 12"/>
          <p:cNvSpPr txBox="1"/>
          <p:nvPr/>
        </p:nvSpPr>
        <p:spPr>
          <a:xfrm>
            <a:off x="3520440" y="2569464"/>
            <a:ext cx="5166360" cy="603504"/>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The index lists which replicas hold each hash. A match counts if it covers half the prompt or at least 256 tokens.</a:t>
            </a:r>
            <a:endParaRPr lang="en-US" sz="1400" dirty="0"/>
          </a:p>
        </p:txBody>
      </p:sp>
      <p:sp>
        <p:nvSpPr>
          <p:cNvPr id="15" name="Step 4 number"/>
          <p:cNvSpPr/>
          <p:nvPr/>
        </p:nvSpPr>
        <p:spPr>
          <a:xfrm>
            <a:off x="457200" y="3355848"/>
            <a:ext cx="457200" cy="457200"/>
          </a:xfrm>
          <a:prstGeom prst="ellipse">
            <a:avLst/>
          </a:prstGeom>
          <a:solidFill>
            <a:schemeClr val="accent1"/>
          </a:solidFill>
          <a:ln w="12700">
            <a:solidFill>
              <a:schemeClr val="accent1"/>
            </a:solidFill>
            <a:prstDash val="solid"/>
          </a:ln>
        </p:spPr>
      </p:sp>
      <p:sp>
        <p:nvSpPr>
          <p:cNvPr id="16" name="Text 14"/>
          <p:cNvSpPr txBox="1"/>
          <p:nvPr/>
        </p:nvSpPr>
        <p:spPr>
          <a:xfrm>
            <a:off x="457200" y="33558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17" name="Text 15"/>
          <p:cNvSpPr txBox="1"/>
          <p:nvPr/>
        </p:nvSpPr>
        <p:spPr>
          <a:xfrm>
            <a:off x="1097280" y="3282696"/>
            <a:ext cx="2331720" cy="603504"/>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Check the response-time target</a:t>
            </a:r>
            <a:endParaRPr lang="en-US" sz="1500" dirty="0"/>
          </a:p>
        </p:txBody>
      </p:sp>
      <p:sp>
        <p:nvSpPr>
          <p:cNvPr id="18" name="Text 16"/>
          <p:cNvSpPr txBox="1"/>
          <p:nvPr/>
        </p:nvSpPr>
        <p:spPr>
          <a:xfrm>
            <a:off x="3520440" y="3282696"/>
            <a:ext cx="5166360" cy="603504"/>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A latency estimate from queue depth and recent latency rules out a replica that would be too slow.</a:t>
            </a:r>
            <a:endParaRPr lang="en-US" sz="1400" dirty="0"/>
          </a:p>
        </p:txBody>
      </p:sp>
      <p:sp>
        <p:nvSpPr>
          <p:cNvPr id="19" name="Step 5 number"/>
          <p:cNvSpPr/>
          <p:nvPr/>
        </p:nvSpPr>
        <p:spPr>
          <a:xfrm>
            <a:off x="457200" y="4069080"/>
            <a:ext cx="457200" cy="457200"/>
          </a:xfrm>
          <a:prstGeom prst="ellipse">
            <a:avLst/>
          </a:prstGeom>
          <a:solidFill>
            <a:schemeClr val="accent1"/>
          </a:solidFill>
          <a:ln w="12700">
            <a:solidFill>
              <a:schemeClr val="accent1"/>
            </a:solidFill>
            <a:prstDash val="solid"/>
          </a:ln>
        </p:spPr>
      </p:sp>
      <p:sp>
        <p:nvSpPr>
          <p:cNvPr id="20" name="Text 18"/>
          <p:cNvSpPr txBox="1"/>
          <p:nvPr/>
        </p:nvSpPr>
        <p:spPr>
          <a:xfrm>
            <a:off x="457200" y="4069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1" name="Text 19"/>
          <p:cNvSpPr txBox="1"/>
          <p:nvPr/>
        </p:nvSpPr>
        <p:spPr>
          <a:xfrm>
            <a:off x="1097280" y="3995928"/>
            <a:ext cx="2331720" cy="603504"/>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Fall back to load</a:t>
            </a:r>
            <a:endParaRPr lang="en-US" sz="1500" dirty="0"/>
          </a:p>
        </p:txBody>
      </p:sp>
      <p:sp>
        <p:nvSpPr>
          <p:cNvPr id="22" name="Text 20"/>
          <p:cNvSpPr txBox="1"/>
          <p:nvPr/>
        </p:nvSpPr>
        <p:spPr>
          <a:xfrm>
            <a:off x="3520440" y="3995928"/>
            <a:ext cx="5166360" cy="603504"/>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With no usable match, the least-loaded replica is chosen. The chosen replica's index then records the prompt's blocks.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Four policies compared</a:t>
            </a:r>
            <a:endParaRPr lang="en-US" sz="3200" dirty="0"/>
          </a:p>
        </p:txBody>
      </p:sp>
      <p:graphicFrame>
        <p:nvGraphicFramePr>
          <p:cNvPr id="8" name="Policy comparison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554480"/>
                <a:gridCol w="2377440"/>
                <a:gridCol w="2103120"/>
                <a:gridCol w="2194560"/>
              </a:tblGrid>
              <a:tr h="36576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Policy</a:t>
                      </a:r>
                      <a:endParaRPr lang="en-US" sz="1300" dirty="0">
                        <a:latin typeface="Calibri" charset="0"/>
                        <a:ea typeface="Calibri" charset="0"/>
                        <a:cs typeface="Calibri" charset="0"/>
                      </a:endParaRPr>
                    </a:p>
                  </a:txBody>
                  <a:tcPr marL="91440" marR="91440"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What it looks at</a:t>
                      </a:r>
                      <a:endParaRPr lang="en-US" sz="1300" dirty="0">
                        <a:latin typeface="Calibri" charset="0"/>
                        <a:ea typeface="Calibri" charset="0"/>
                        <a:cs typeface="Calibri" charset="0"/>
                      </a:endParaRPr>
                    </a:p>
                  </a:txBody>
                  <a:tcPr marL="91440" marR="91440"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Strength</a:t>
                      </a:r>
                      <a:endParaRPr lang="en-US" sz="1300" dirty="0">
                        <a:latin typeface="Calibri" charset="0"/>
                        <a:ea typeface="Calibri" charset="0"/>
                        <a:cs typeface="Calibri" charset="0"/>
                      </a:endParaRPr>
                    </a:p>
                  </a:txBody>
                  <a:tcPr marL="91440" marR="91440"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Weakness</a:t>
                      </a:r>
                      <a:endParaRPr lang="en-US" sz="1300" dirty="0">
                        <a:latin typeface="Calibri" charset="0"/>
                        <a:ea typeface="Calibri" charset="0"/>
                        <a:cs typeface="Calibri" charset="0"/>
                      </a:endParaRPr>
                    </a:p>
                  </a:txBody>
                  <a:tcPr marL="91440" marR="91440"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tx1"/>
                    </a:solidFill>
                  </a:tcPr>
                </a:tc>
              </a:tr>
              <a:tr h="73152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round_robin</a:t>
                      </a:r>
                      <a:endParaRPr lang="en-US" sz="1200" dirty="0">
                        <a:latin typeface="Calibri" charset="0"/>
                        <a:ea typeface="Calibri" charset="0"/>
                        <a:cs typeface="Calibri" charset="0"/>
                      </a:endParaRPr>
                    </a:p>
                  </a:txBody>
                  <a:tcPr marL="91440" marR="91440"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Nothing. Replicas take turns.</a:t>
                      </a:r>
                      <a:endParaRPr lang="en-US" sz="1200" dirty="0">
                        <a:latin typeface="Calibri" charset="0"/>
                        <a:ea typeface="Calibri" charset="0"/>
                        <a:cs typeface="Calibri" charset="0"/>
                      </a:endParaRPr>
                    </a:p>
                  </a:txBody>
                  <a:tcPr marL="91440" marR="91440"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Simple and perfectly even.</a:t>
                      </a:r>
                      <a:endParaRPr lang="en-US" sz="1200" dirty="0">
                        <a:latin typeface="Calibri" charset="0"/>
                        <a:ea typeface="Calibri" charset="0"/>
                        <a:cs typeface="Calibri" charset="0"/>
                      </a:endParaRPr>
                    </a:p>
                  </a:txBody>
                  <a:tcPr marL="91440" marR="91440"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Ignores both load and cache.</a:t>
                      </a:r>
                      <a:endParaRPr lang="en-US" sz="1200" dirty="0">
                        <a:latin typeface="Calibri" charset="0"/>
                        <a:ea typeface="Calibri" charset="0"/>
                        <a:cs typeface="Calibri" charset="0"/>
                      </a:endParaRPr>
                    </a:p>
                  </a:txBody>
                  <a:tcPr marL="91440" marR="91440"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r>
              <a:tr h="73152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least_connections</a:t>
                      </a:r>
                      <a:endParaRPr lang="en-US" sz="1200" dirty="0">
                        <a:latin typeface="Calibri" charset="0"/>
                        <a:ea typeface="Calibri" charset="0"/>
                        <a:cs typeface="Calibri" charset="0"/>
                      </a:endParaRPr>
                    </a:p>
                  </a:txBody>
                  <a:tcPr marL="91440" marR="91440"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Requests currently in flight on each replica.</a:t>
                      </a:r>
                      <a:endParaRPr lang="en-US" sz="1200" dirty="0">
                        <a:latin typeface="Calibri" charset="0"/>
                        <a:ea typeface="Calibri" charset="0"/>
                        <a:cs typeface="Calibri" charset="0"/>
                      </a:endParaRPr>
                    </a:p>
                  </a:txBody>
                  <a:tcPr marL="91440" marR="91440"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Adapts as load changes.</a:t>
                      </a:r>
                      <a:endParaRPr lang="en-US" sz="1200" dirty="0">
                        <a:latin typeface="Calibri" charset="0"/>
                        <a:ea typeface="Calibri" charset="0"/>
                        <a:cs typeface="Calibri" charset="0"/>
                      </a:endParaRPr>
                    </a:p>
                  </a:txBody>
                  <a:tcPr marL="91440" marR="91440"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Ignores which replica holds the cache.</a:t>
                      </a:r>
                      <a:endParaRPr lang="en-US" sz="1200" dirty="0">
                        <a:latin typeface="Calibri" charset="0"/>
                        <a:ea typeface="Calibri" charset="0"/>
                        <a:cs typeface="Calibri" charset="0"/>
                      </a:endParaRPr>
                    </a:p>
                  </a:txBody>
                  <a:tcPr marL="91440" marR="91440"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r>
              <a:tr h="86868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swiftserve</a:t>
                      </a:r>
                      <a:endParaRPr lang="en-US" sz="1200" dirty="0">
                        <a:latin typeface="Calibri" charset="0"/>
                        <a:ea typeface="Calibri" charset="0"/>
                        <a:cs typeface="Calibri" charset="0"/>
                      </a:endParaRPr>
                    </a:p>
                  </a:txBody>
                  <a:tcPr marL="91440" marR="91440"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Session affinity, then a prefix trie over whole messages.</a:t>
                      </a:r>
                      <a:endParaRPr lang="en-US" sz="1200" dirty="0">
                        <a:latin typeface="Calibri" charset="0"/>
                        <a:ea typeface="Calibri" charset="0"/>
                        <a:cs typeface="Calibri" charset="0"/>
                      </a:endParaRPr>
                    </a:p>
                  </a:txBody>
                  <a:tcPr marL="91440" marR="91440"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Keeps a conversation on one replica.</a:t>
                      </a:r>
                      <a:endParaRPr lang="en-US" sz="1200" dirty="0">
                        <a:latin typeface="Calibri" charset="0"/>
                        <a:ea typeface="Calibri" charset="0"/>
                        <a:cs typeface="Calibri" charset="0"/>
                      </a:endParaRPr>
                    </a:p>
                  </a:txBody>
                  <a:tcPr marL="91440" marR="91440"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Needs two shared messages. Single-turn traffic falls back to load.</a:t>
                      </a:r>
                      <a:endParaRPr lang="en-US" sz="1200" dirty="0">
                        <a:latin typeface="Calibri" charset="0"/>
                        <a:ea typeface="Calibri" charset="0"/>
                        <a:cs typeface="Calibri" charset="0"/>
                      </a:endParaRPr>
                    </a:p>
                  </a:txBody>
                  <a:tcPr marL="91440" marR="91440"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r>
              <a:tr h="86868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prefix_aware</a:t>
                      </a:r>
                      <a:endParaRPr lang="en-US" sz="1200" dirty="0">
                        <a:latin typeface="Calibri" charset="0"/>
                        <a:ea typeface="Calibri" charset="0"/>
                        <a:cs typeface="Calibri" charset="0"/>
                      </a:endParaRPr>
                    </a:p>
                  </a:txBody>
                  <a:tcPr marL="91440" marR="91440"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16-token block hashes, a load estimate and the response-time target.</a:t>
                      </a:r>
                      <a:endParaRPr lang="en-US" sz="1200" dirty="0">
                        <a:latin typeface="Calibri" charset="0"/>
                        <a:ea typeface="Calibri" charset="0"/>
                        <a:cs typeface="Calibri" charset="0"/>
                      </a:endParaRPr>
                    </a:p>
                  </a:txBody>
                  <a:tcPr marL="91440" marR="91440"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Reuses shared prefixes across different users.</a:t>
                      </a:r>
                      <a:endParaRPr lang="en-US" sz="1200" dirty="0">
                        <a:latin typeface="Calibri" charset="0"/>
                        <a:ea typeface="Calibri" charset="0"/>
                        <a:cs typeface="Calibri" charset="0"/>
                      </a:endParaRPr>
                    </a:p>
                  </a:txBody>
                  <a:tcPr marL="91440" marR="91440"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The index can go stale after cache evictions or failures.</a:t>
                      </a:r>
                      <a:endParaRPr lang="en-US" sz="1200" dirty="0">
                        <a:latin typeface="Calibri" charset="0"/>
                        <a:ea typeface="Calibri" charset="0"/>
                        <a:cs typeface="Calibri" charset="0"/>
                      </a:endParaRPr>
                    </a:p>
                  </a:txBody>
                  <a:tcPr marL="91440" marR="91440"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Every request is traceable</a:t>
            </a:r>
            <a:endParaRPr lang="en-US" sz="3200" dirty="0"/>
          </a:p>
        </p:txBody>
      </p:sp>
      <p:pic>
        <p:nvPicPr>
          <p:cNvPr id="3" name="Routing decision screenshot" descr="Routing decision screenshot">    </p:cNvPr>
          <p:cNvPicPr>
            <a:picLocks noChangeAspect="1"/>
          </p:cNvPicPr>
          <p:nvPr/>
        </p:nvPicPr>
        <p:blipFill>
          <a:blip r:embed="rId1"/>
          <a:stretch>
            <a:fillRect/>
          </a:stretch>
        </p:blipFill>
        <p:spPr>
          <a:xfrm>
            <a:off x="457200" y="1148486"/>
            <a:ext cx="5120640" cy="2457907"/>
          </a:xfrm>
          <a:prstGeom prst="rect">
            <a:avLst/>
          </a:prstGeom>
          <a:effectLst>
            <a:outerShdw sx="100000" sy="100000" kx="0" ky="0" algn="bl" rotWithShape="0" blurRad="101600" dist="25400" dir="5400000">
              <a:srgbClr val="000000">
                <a:alpha val="12000"/>
              </a:srgbClr>
            </a:outerShdw>
          </a:effectLst>
        </p:spPr>
      </p:pic>
      <p:pic>
        <p:nvPicPr>
          <p:cNvPr id="4" name="Cache tokens screenshot" descr="Cache tokens screenshot">    </p:cNvPr>
          <p:cNvPicPr>
            <a:picLocks noChangeAspect="1"/>
          </p:cNvPicPr>
          <p:nvPr/>
        </p:nvPicPr>
        <p:blipFill>
          <a:blip r:embed="rId2"/>
          <a:stretch>
            <a:fillRect/>
          </a:stretch>
        </p:blipFill>
        <p:spPr>
          <a:xfrm>
            <a:off x="457200" y="3724028"/>
            <a:ext cx="5120640" cy="1055865"/>
          </a:xfrm>
          <a:prstGeom prst="rect">
            <a:avLst/>
          </a:prstGeom>
          <a:effectLst>
            <a:outerShdw sx="100000" sy="100000" kx="0" ky="0" algn="bl" rotWithShape="0" blurRad="101600" dist="25400" dir="5400000">
              <a:srgbClr val="000000">
                <a:alpha val="12000"/>
              </a:srgbClr>
            </a:outerShdw>
          </a:effectLst>
        </p:spPr>
      </p:pic>
      <p:sp>
        <p:nvSpPr>
          <p:cNvPr id="5" name="Text 1"/>
          <p:cNvSpPr txBox="1"/>
          <p:nvPr/>
        </p:nvSpPr>
        <p:spPr>
          <a:xfrm>
            <a:off x="5852160" y="1280160"/>
            <a:ext cx="2834640" cy="33832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Which replica was selected, dispatched to and served the request</a:t>
            </a:r>
            <a:endParaRPr lang="en-US" sz="1400" dirty="0"/>
          </a:p>
          <a:p>
            <a:pPr marL="342900" indent="-3429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The routing decision and the reason for it</a:t>
            </a:r>
            <a:endParaRPr lang="en-US" sz="1400" dirty="0"/>
          </a:p>
          <a:p>
            <a:pPr marL="342900" indent="-3429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Time to first token, inter-token latency and total time, measured at the router</a:t>
            </a:r>
            <a:endParaRPr lang="en-US" sz="1400" dirty="0"/>
          </a:p>
          <a:p>
            <a:pPr marL="342900" indent="-3429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Cached tokens reported by the engine, next to the router's prediction</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How latency is measured</a:t>
            </a:r>
            <a:endParaRPr lang="en-US" sz="3200" dirty="0"/>
          </a:p>
        </p:txBody>
      </p:sp>
      <p:sp>
        <p:nvSpPr>
          <p:cNvPr id="3" name="Timeline"/>
          <p:cNvSpPr/>
          <p:nvPr/>
        </p:nvSpPr>
        <p:spPr>
          <a:xfrm>
            <a:off x="1371600" y="1965960"/>
            <a:ext cx="6583680" cy="0"/>
          </a:xfrm>
          <a:prstGeom prst="line">
            <a:avLst/>
          </a:prstGeom>
          <a:noFill/>
          <a:ln w="25400">
            <a:solidFill>
              <a:schemeClr val="accent4"/>
            </a:solidFill>
            <a:prstDash val="solid"/>
          </a:ln>
        </p:spPr>
      </p:sp>
      <p:sp>
        <p:nvSpPr>
          <p:cNvPr id="4" name="Mark 1"/>
          <p:cNvSpPr/>
          <p:nvPr/>
        </p:nvSpPr>
        <p:spPr>
          <a:xfrm>
            <a:off x="1280160" y="1874520"/>
            <a:ext cx="182880" cy="182880"/>
          </a:xfrm>
          <a:prstGeom prst="ellipse">
            <a:avLst/>
          </a:prstGeom>
          <a:solidFill>
            <a:schemeClr val="accent1"/>
          </a:solidFill>
          <a:ln w="12700">
            <a:solidFill>
              <a:schemeClr val="accent1"/>
            </a:solidFill>
            <a:prstDash val="solid"/>
          </a:ln>
        </p:spPr>
      </p:sp>
      <p:sp>
        <p:nvSpPr>
          <p:cNvPr id="5" name="Text 3"/>
          <p:cNvSpPr txBox="1"/>
          <p:nvPr/>
        </p:nvSpPr>
        <p:spPr>
          <a:xfrm>
            <a:off x="548640" y="2148840"/>
            <a:ext cx="1645920" cy="27432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Request received</a:t>
            </a:r>
            <a:endParaRPr lang="en-US" sz="1400" dirty="0"/>
          </a:p>
        </p:txBody>
      </p:sp>
      <p:sp>
        <p:nvSpPr>
          <p:cNvPr id="6" name="Mark 2"/>
          <p:cNvSpPr/>
          <p:nvPr/>
        </p:nvSpPr>
        <p:spPr>
          <a:xfrm>
            <a:off x="3291840" y="1874520"/>
            <a:ext cx="182880" cy="182880"/>
          </a:xfrm>
          <a:prstGeom prst="ellipse">
            <a:avLst/>
          </a:prstGeom>
          <a:solidFill>
            <a:schemeClr val="accent1"/>
          </a:solidFill>
          <a:ln w="12700">
            <a:solidFill>
              <a:schemeClr val="accent1"/>
            </a:solidFill>
            <a:prstDash val="solid"/>
          </a:ln>
        </p:spPr>
      </p:sp>
      <p:sp>
        <p:nvSpPr>
          <p:cNvPr id="7" name="Text 5"/>
          <p:cNvSpPr txBox="1"/>
          <p:nvPr/>
        </p:nvSpPr>
        <p:spPr>
          <a:xfrm>
            <a:off x="2560320" y="2148840"/>
            <a:ext cx="1645920" cy="27432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First token</a:t>
            </a:r>
            <a:endParaRPr lang="en-US" sz="1400" dirty="0"/>
          </a:p>
        </p:txBody>
      </p:sp>
      <p:sp>
        <p:nvSpPr>
          <p:cNvPr id="8" name="Mark 3"/>
          <p:cNvSpPr/>
          <p:nvPr/>
        </p:nvSpPr>
        <p:spPr>
          <a:xfrm>
            <a:off x="7406640" y="1874520"/>
            <a:ext cx="182880" cy="182880"/>
          </a:xfrm>
          <a:prstGeom prst="ellipse">
            <a:avLst/>
          </a:prstGeom>
          <a:solidFill>
            <a:schemeClr val="accent1"/>
          </a:solidFill>
          <a:ln w="12700">
            <a:solidFill>
              <a:schemeClr val="accent1"/>
            </a:solidFill>
            <a:prstDash val="solid"/>
          </a:ln>
        </p:spPr>
      </p:sp>
      <p:sp>
        <p:nvSpPr>
          <p:cNvPr id="9" name="Text 7"/>
          <p:cNvSpPr txBox="1"/>
          <p:nvPr/>
        </p:nvSpPr>
        <p:spPr>
          <a:xfrm>
            <a:off x="6675120" y="2148840"/>
            <a:ext cx="1645920" cy="27432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Last token</a:t>
            </a:r>
            <a:endParaRPr lang="en-US" sz="1400" dirty="0"/>
          </a:p>
        </p:txBody>
      </p:sp>
      <p:sp>
        <p:nvSpPr>
          <p:cNvPr id="10" name="Text 8"/>
          <p:cNvSpPr txBox="1"/>
          <p:nvPr/>
        </p:nvSpPr>
        <p:spPr>
          <a:xfrm>
            <a:off x="1371600" y="1417320"/>
            <a:ext cx="2011680" cy="320040"/>
          </a:xfrm>
          <a:prstGeom prst="rect">
            <a:avLst/>
          </a:prstGeom>
          <a:noFill/>
          <a:ln/>
        </p:spPr>
        <p:txBody>
          <a:bodyPr wrap="square" lIns="0" tIns="0" rIns="0" bIns="0" rtlCol="0" anchor="t"/>
          <a:lstStyle/>
          <a:p>
            <a:pPr algn="ctr" indent="0" marL="0">
              <a:buNone/>
            </a:pPr>
            <a:r>
              <a:rPr lang="en-US" sz="1600" b="1" dirty="0">
                <a:solidFill>
                  <a:schemeClr val="accent1"/>
                </a:solidFill>
                <a:latin typeface="Calibri" pitchFamily="34" charset="0"/>
                <a:ea typeface="Calibri" pitchFamily="34" charset="-122"/>
                <a:cs typeface="Calibri" pitchFamily="34" charset="-120"/>
              </a:rPr>
              <a:t>TTFT</a:t>
            </a:r>
            <a:endParaRPr lang="en-US" sz="1600" dirty="0"/>
          </a:p>
        </p:txBody>
      </p:sp>
      <p:sp>
        <p:nvSpPr>
          <p:cNvPr id="11" name="Text 9"/>
          <p:cNvSpPr txBox="1"/>
          <p:nvPr/>
        </p:nvSpPr>
        <p:spPr>
          <a:xfrm>
            <a:off x="3383280" y="1417320"/>
            <a:ext cx="4114800" cy="320040"/>
          </a:xfrm>
          <a:prstGeom prst="rect">
            <a:avLst/>
          </a:prstGeom>
          <a:noFill/>
          <a:ln/>
        </p:spPr>
        <p:txBody>
          <a:bodyPr wrap="square" lIns="0" tIns="0" rIns="0" bIns="0" rtlCol="0" anchor="t"/>
          <a:lstStyle/>
          <a:p>
            <a:pPr algn="ctr" indent="0" marL="0">
              <a:buNone/>
            </a:pPr>
            <a:r>
              <a:rPr lang="en-US" sz="1600" b="1" dirty="0">
                <a:solidFill>
                  <a:schemeClr val="accent3"/>
                </a:solidFill>
                <a:latin typeface="Calibri" pitchFamily="34" charset="0"/>
                <a:ea typeface="Calibri" pitchFamily="34" charset="-122"/>
                <a:cs typeface="Calibri" pitchFamily="34" charset="-120"/>
              </a:rPr>
              <a:t>ITL: gaps between tokens</a:t>
            </a:r>
            <a:endParaRPr lang="en-US" sz="1600" dirty="0"/>
          </a:p>
        </p:txBody>
      </p:sp>
      <p:sp>
        <p:nvSpPr>
          <p:cNvPr id="12" name="Definition card 1"/>
          <p:cNvSpPr/>
          <p:nvPr/>
        </p:nvSpPr>
        <p:spPr>
          <a:xfrm>
            <a:off x="457200" y="2743200"/>
            <a:ext cx="2560320" cy="1965960"/>
          </a:xfrm>
          <a:prstGeom prst="roundRect">
            <a:avLst>
              <a:gd name="adj" fmla="val 3721"/>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3" name="Text 11"/>
          <p:cNvSpPr txBox="1"/>
          <p:nvPr/>
        </p:nvSpPr>
        <p:spPr>
          <a:xfrm>
            <a:off x="640080" y="2852928"/>
            <a:ext cx="2194560" cy="32004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TTFT</a:t>
            </a:r>
            <a:endParaRPr lang="en-US" sz="1800" dirty="0"/>
          </a:p>
        </p:txBody>
      </p:sp>
      <p:sp>
        <p:nvSpPr>
          <p:cNvPr id="14" name="Text 12"/>
          <p:cNvSpPr txBox="1"/>
          <p:nvPr/>
        </p:nvSpPr>
        <p:spPr>
          <a:xfrm>
            <a:off x="640080" y="3200400"/>
            <a:ext cx="219456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Time to first token</a:t>
            </a:r>
            <a:endParaRPr lang="en-US" sz="1400" dirty="0"/>
          </a:p>
        </p:txBody>
      </p:sp>
      <p:sp>
        <p:nvSpPr>
          <p:cNvPr id="15" name="Text 13"/>
          <p:cNvSpPr txBox="1"/>
          <p:nvPr/>
        </p:nvSpPr>
        <p:spPr>
          <a:xfrm>
            <a:off x="640080" y="3520440"/>
            <a:ext cx="2194560" cy="114300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From the request arriving at the router to the first response chunk that contains text.</a:t>
            </a:r>
            <a:endParaRPr lang="en-US" sz="1300" dirty="0"/>
          </a:p>
        </p:txBody>
      </p:sp>
      <p:sp>
        <p:nvSpPr>
          <p:cNvPr id="16" name="Definition card 2"/>
          <p:cNvSpPr/>
          <p:nvPr/>
        </p:nvSpPr>
        <p:spPr>
          <a:xfrm>
            <a:off x="3291840" y="2743200"/>
            <a:ext cx="2560320" cy="1965960"/>
          </a:xfrm>
          <a:prstGeom prst="roundRect">
            <a:avLst>
              <a:gd name="adj" fmla="val 3721"/>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7" name="Text 15"/>
          <p:cNvSpPr txBox="1"/>
          <p:nvPr/>
        </p:nvSpPr>
        <p:spPr>
          <a:xfrm>
            <a:off x="3474720" y="2852928"/>
            <a:ext cx="2194560" cy="32004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ITL</a:t>
            </a:r>
            <a:endParaRPr lang="en-US" sz="1800" dirty="0"/>
          </a:p>
        </p:txBody>
      </p:sp>
      <p:sp>
        <p:nvSpPr>
          <p:cNvPr id="18" name="Text 16"/>
          <p:cNvSpPr txBox="1"/>
          <p:nvPr/>
        </p:nvSpPr>
        <p:spPr>
          <a:xfrm>
            <a:off x="3474720" y="3200400"/>
            <a:ext cx="219456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Inter-token latency</a:t>
            </a:r>
            <a:endParaRPr lang="en-US" sz="1400" dirty="0"/>
          </a:p>
        </p:txBody>
      </p:sp>
      <p:sp>
        <p:nvSpPr>
          <p:cNvPr id="19" name="Text 17"/>
          <p:cNvSpPr txBox="1"/>
          <p:nvPr/>
        </p:nvSpPr>
        <p:spPr>
          <a:xfrm>
            <a:off x="3474720" y="3520440"/>
            <a:ext cx="2194560" cy="114300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Time between the first and last text chunks divided by the number of gaps. Reported as a mean, because tunnels deliver chunks in bursts.</a:t>
            </a:r>
            <a:endParaRPr lang="en-US" sz="1300" dirty="0"/>
          </a:p>
        </p:txBody>
      </p:sp>
      <p:sp>
        <p:nvSpPr>
          <p:cNvPr id="20" name="Definition card 3"/>
          <p:cNvSpPr/>
          <p:nvPr/>
        </p:nvSpPr>
        <p:spPr>
          <a:xfrm>
            <a:off x="6126480" y="2743200"/>
            <a:ext cx="2560320" cy="1965960"/>
          </a:xfrm>
          <a:prstGeom prst="roundRect">
            <a:avLst>
              <a:gd name="adj" fmla="val 3721"/>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1" name="Text 19"/>
          <p:cNvSpPr txBox="1"/>
          <p:nvPr/>
        </p:nvSpPr>
        <p:spPr>
          <a:xfrm>
            <a:off x="6309360" y="2852928"/>
            <a:ext cx="2194560" cy="32004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Cache reuse</a:t>
            </a:r>
            <a:endParaRPr lang="en-US" sz="1800" dirty="0"/>
          </a:p>
        </p:txBody>
      </p:sp>
      <p:sp>
        <p:nvSpPr>
          <p:cNvPr id="22" name="Text 20"/>
          <p:cNvSpPr txBox="1"/>
          <p:nvPr/>
        </p:nvSpPr>
        <p:spPr>
          <a:xfrm>
            <a:off x="6309360" y="3200400"/>
            <a:ext cx="219456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Prompt tokens reused</a:t>
            </a:r>
            <a:endParaRPr lang="en-US" sz="1400" dirty="0"/>
          </a:p>
        </p:txBody>
      </p:sp>
      <p:sp>
        <p:nvSpPr>
          <p:cNvPr id="23" name="Text 21"/>
          <p:cNvSpPr txBox="1"/>
          <p:nvPr/>
        </p:nvSpPr>
        <p:spPr>
          <a:xfrm>
            <a:off x="6309360" y="3520440"/>
            <a:ext cx="2194560" cy="114300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Taken from the engine's own usage report and compared with the router's prediction.</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A run through the router on four GPUs</a:t>
            </a:r>
            <a:endParaRPr lang="en-US" sz="3200" dirty="0"/>
          </a:p>
        </p:txBody>
      </p:sp>
      <p:graphicFrame>
        <p:nvGraphicFramePr>
          <p:cNvPr id="3" name="Chart 0" descr=""/>
          <p:cNvGraphicFramePr/>
          <p:nvPr/>
        </p:nvGraphicFramePr>
        <p:xfrm>
          <a:off x="457200" y="1143000"/>
          <a:ext cx="4206240" cy="2834640"/>
        </p:xfrm>
        <a:graphic xmlns:a="http://schemas.openxmlformats.org/drawingml/2006/main">
          <a:graphicData uri="http://schemas.openxmlformats.org/drawingml/2006/chart">
            <c:chart xmlns:c="http://schemas.openxmlformats.org/drawingml/2006/chart" r:id="rId1"/>
          </a:graphicData>
        </a:graphic>
      </p:graphicFrame>
      <p:sp>
        <p:nvSpPr>
          <p:cNvPr id="4" name="Result card 1"/>
          <p:cNvSpPr/>
          <p:nvPr/>
        </p:nvSpPr>
        <p:spPr>
          <a:xfrm>
            <a:off x="4937760" y="1143000"/>
            <a:ext cx="3749040" cy="621792"/>
          </a:xfrm>
          <a:prstGeom prst="roundRect">
            <a:avLst>
              <a:gd name="adj" fmla="val 11765"/>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5" name="Text 2"/>
          <p:cNvSpPr txBox="1"/>
          <p:nvPr/>
        </p:nvSpPr>
        <p:spPr>
          <a:xfrm>
            <a:off x="5074920" y="1143000"/>
            <a:ext cx="1600200" cy="621792"/>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60 of 60</a:t>
            </a:r>
            <a:endParaRPr lang="en-US" sz="1600" dirty="0"/>
          </a:p>
        </p:txBody>
      </p:sp>
      <p:sp>
        <p:nvSpPr>
          <p:cNvPr id="6" name="Text 3"/>
          <p:cNvSpPr txBox="1"/>
          <p:nvPr/>
        </p:nvSpPr>
        <p:spPr>
          <a:xfrm>
            <a:off x="6675120" y="1143000"/>
            <a:ext cx="1920240" cy="621792"/>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requests completed, concurrency 8</a:t>
            </a:r>
            <a:endParaRPr lang="en-US" sz="1200" dirty="0"/>
          </a:p>
        </p:txBody>
      </p:sp>
      <p:sp>
        <p:nvSpPr>
          <p:cNvPr id="7" name="Result card 2"/>
          <p:cNvSpPr/>
          <p:nvPr/>
        </p:nvSpPr>
        <p:spPr>
          <a:xfrm>
            <a:off x="4937760" y="1856232"/>
            <a:ext cx="3749040" cy="621792"/>
          </a:xfrm>
          <a:prstGeom prst="roundRect">
            <a:avLst>
              <a:gd name="adj" fmla="val 11765"/>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8" name="Text 5"/>
          <p:cNvSpPr txBox="1"/>
          <p:nvPr/>
        </p:nvSpPr>
        <p:spPr>
          <a:xfrm>
            <a:off x="5074920" y="1856232"/>
            <a:ext cx="1600200" cy="621792"/>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374 / 4,944 ms</a:t>
            </a:r>
            <a:endParaRPr lang="en-US" sz="1600" dirty="0"/>
          </a:p>
        </p:txBody>
      </p:sp>
      <p:sp>
        <p:nvSpPr>
          <p:cNvPr id="9" name="Text 6"/>
          <p:cNvSpPr txBox="1"/>
          <p:nvPr/>
        </p:nvSpPr>
        <p:spPr>
          <a:xfrm>
            <a:off x="6675120" y="1856232"/>
            <a:ext cx="1920240" cy="621792"/>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time to first token, median / 95th percentile</a:t>
            </a:r>
            <a:endParaRPr lang="en-US" sz="1200" dirty="0"/>
          </a:p>
        </p:txBody>
      </p:sp>
      <p:sp>
        <p:nvSpPr>
          <p:cNvPr id="10" name="Result card 3"/>
          <p:cNvSpPr/>
          <p:nvPr/>
        </p:nvSpPr>
        <p:spPr>
          <a:xfrm>
            <a:off x="4937760" y="2569464"/>
            <a:ext cx="3749040" cy="621792"/>
          </a:xfrm>
          <a:prstGeom prst="roundRect">
            <a:avLst>
              <a:gd name="adj" fmla="val 11765"/>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1" name="Text 8"/>
          <p:cNvSpPr txBox="1"/>
          <p:nvPr/>
        </p:nvSpPr>
        <p:spPr>
          <a:xfrm>
            <a:off x="5074920" y="2569464"/>
            <a:ext cx="1600200" cy="621792"/>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34.2 ms</a:t>
            </a:r>
            <a:endParaRPr lang="en-US" sz="1600" dirty="0"/>
          </a:p>
        </p:txBody>
      </p:sp>
      <p:sp>
        <p:nvSpPr>
          <p:cNvPr id="12" name="Text 9"/>
          <p:cNvSpPr txBox="1"/>
          <p:nvPr/>
        </p:nvSpPr>
        <p:spPr>
          <a:xfrm>
            <a:off x="6675120" y="2569464"/>
            <a:ext cx="1920240" cy="621792"/>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mean inter-token latency under load</a:t>
            </a:r>
            <a:endParaRPr lang="en-US" sz="1200" dirty="0"/>
          </a:p>
        </p:txBody>
      </p:sp>
      <p:sp>
        <p:nvSpPr>
          <p:cNvPr id="13" name="Result card 4"/>
          <p:cNvSpPr/>
          <p:nvPr/>
        </p:nvSpPr>
        <p:spPr>
          <a:xfrm>
            <a:off x="4937760" y="3282696"/>
            <a:ext cx="3749040" cy="621792"/>
          </a:xfrm>
          <a:prstGeom prst="roundRect">
            <a:avLst>
              <a:gd name="adj" fmla="val 11765"/>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4" name="Text 11"/>
          <p:cNvSpPr txBox="1"/>
          <p:nvPr/>
        </p:nvSpPr>
        <p:spPr>
          <a:xfrm>
            <a:off x="5074920" y="3282696"/>
            <a:ext cx="1600200" cy="621792"/>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16 and 16</a:t>
            </a:r>
            <a:endParaRPr lang="en-US" sz="1600" dirty="0"/>
          </a:p>
        </p:txBody>
      </p:sp>
      <p:sp>
        <p:nvSpPr>
          <p:cNvPr id="15" name="Text 12"/>
          <p:cNvSpPr txBox="1"/>
          <p:nvPr/>
        </p:nvSpPr>
        <p:spPr>
          <a:xfrm>
            <a:off x="6675120" y="3282696"/>
            <a:ext cx="1920240" cy="621792"/>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cached tokens predicted, and reported</a:t>
            </a:r>
            <a:endParaRPr lang="en-US" sz="1200" dirty="0"/>
          </a:p>
        </p:txBody>
      </p:sp>
      <p:sp>
        <p:nvSpPr>
          <p:cNvPr id="16" name="Text 13"/>
          <p:cNvSpPr txBox="1"/>
          <p:nvPr/>
        </p:nvSpPr>
        <p:spPr>
          <a:xfrm>
            <a:off x="457200" y="4114800"/>
            <a:ext cx="8229600" cy="6400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The prompts in this run were only 40 tokens, so very little could be cached. It shows load spreading across four real GPUs and the router's prediction matching the engine. It is not a cache benchmark.</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Live demonstration</a:t>
            </a:r>
            <a:endParaRPr lang="en-US" sz="3200" dirty="0"/>
          </a:p>
        </p:txBody>
      </p:sp>
      <p:sp>
        <p:nvSpPr>
          <p:cNvPr id="3" name="Demo step 1"/>
          <p:cNvSpPr/>
          <p:nvPr/>
        </p:nvSpPr>
        <p:spPr>
          <a:xfrm>
            <a:off x="457200" y="1143000"/>
            <a:ext cx="2560320" cy="1325880"/>
          </a:xfrm>
          <a:prstGeom prst="roundRect">
            <a:avLst>
              <a:gd name="adj" fmla="val 551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Demo step 1 number"/>
          <p:cNvSpPr/>
          <p:nvPr/>
        </p:nvSpPr>
        <p:spPr>
          <a:xfrm>
            <a:off x="594360" y="1252728"/>
            <a:ext cx="365760" cy="365760"/>
          </a:xfrm>
          <a:prstGeom prst="ellipse">
            <a:avLst/>
          </a:prstGeom>
          <a:solidFill>
            <a:schemeClr val="accent1"/>
          </a:solidFill>
          <a:ln w="12700">
            <a:solidFill>
              <a:schemeClr val="accent1"/>
            </a:solidFill>
            <a:prstDash val="solid"/>
          </a:ln>
        </p:spPr>
      </p:sp>
      <p:sp>
        <p:nvSpPr>
          <p:cNvPr id="5" name="Text 3"/>
          <p:cNvSpPr txBox="1"/>
          <p:nvPr/>
        </p:nvSpPr>
        <p:spPr>
          <a:xfrm>
            <a:off x="594360" y="125272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097280" y="1252728"/>
            <a:ext cx="1828800"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Dashboard</a:t>
            </a:r>
            <a:endParaRPr lang="en-US" sz="1600" dirty="0"/>
          </a:p>
        </p:txBody>
      </p:sp>
      <p:sp>
        <p:nvSpPr>
          <p:cNvPr id="7" name="Text 5"/>
          <p:cNvSpPr txBox="1"/>
          <p:nvPr/>
        </p:nvSpPr>
        <p:spPr>
          <a:xfrm>
            <a:off x="594360" y="1719072"/>
            <a:ext cx="2286000" cy="6858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four GPUs with memory and temperature reported by each node</a:t>
            </a:r>
            <a:endParaRPr lang="en-US" sz="1400" dirty="0"/>
          </a:p>
        </p:txBody>
      </p:sp>
      <p:sp>
        <p:nvSpPr>
          <p:cNvPr id="8" name="Demo step 2"/>
          <p:cNvSpPr/>
          <p:nvPr/>
        </p:nvSpPr>
        <p:spPr>
          <a:xfrm>
            <a:off x="3291840" y="1143000"/>
            <a:ext cx="2560320" cy="1325880"/>
          </a:xfrm>
          <a:prstGeom prst="roundRect">
            <a:avLst>
              <a:gd name="adj" fmla="val 551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9" name="Demo step 2 number"/>
          <p:cNvSpPr/>
          <p:nvPr/>
        </p:nvSpPr>
        <p:spPr>
          <a:xfrm>
            <a:off x="3429000" y="1252728"/>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3429000" y="125272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3931920" y="1252728"/>
            <a:ext cx="1828800"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Playground</a:t>
            </a:r>
            <a:endParaRPr lang="en-US" sz="1600" dirty="0"/>
          </a:p>
        </p:txBody>
      </p:sp>
      <p:sp>
        <p:nvSpPr>
          <p:cNvPr id="12" name="Text 10"/>
          <p:cNvSpPr txBox="1"/>
          <p:nvPr/>
        </p:nvSpPr>
        <p:spPr>
          <a:xfrm>
            <a:off x="3429000" y="1719072"/>
            <a:ext cx="2286000" cy="6858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one request twice: cold, then with the prefix cached</a:t>
            </a:r>
            <a:endParaRPr lang="en-US" sz="1400" dirty="0"/>
          </a:p>
        </p:txBody>
      </p:sp>
      <p:sp>
        <p:nvSpPr>
          <p:cNvPr id="13" name="Demo step 3"/>
          <p:cNvSpPr/>
          <p:nvPr/>
        </p:nvSpPr>
        <p:spPr>
          <a:xfrm>
            <a:off x="6126480" y="1143000"/>
            <a:ext cx="2560320" cy="1325880"/>
          </a:xfrm>
          <a:prstGeom prst="roundRect">
            <a:avLst>
              <a:gd name="adj" fmla="val 551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4" name="Demo step 3 number"/>
          <p:cNvSpPr/>
          <p:nvPr/>
        </p:nvSpPr>
        <p:spPr>
          <a:xfrm>
            <a:off x="6263640" y="1252728"/>
            <a:ext cx="365760" cy="365760"/>
          </a:xfrm>
          <a:prstGeom prst="ellipse">
            <a:avLst/>
          </a:prstGeom>
          <a:solidFill>
            <a:schemeClr val="accent1"/>
          </a:solidFill>
          <a:ln w="12700">
            <a:solidFill>
              <a:schemeClr val="accent1"/>
            </a:solidFill>
            <a:prstDash val="solid"/>
          </a:ln>
        </p:spPr>
      </p:sp>
      <p:sp>
        <p:nvSpPr>
          <p:cNvPr id="15" name="Text 13"/>
          <p:cNvSpPr txBox="1"/>
          <p:nvPr/>
        </p:nvSpPr>
        <p:spPr>
          <a:xfrm>
            <a:off x="6263640" y="125272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6766560" y="1252728"/>
            <a:ext cx="1828800"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Load test</a:t>
            </a:r>
            <a:endParaRPr lang="en-US" sz="1600" dirty="0"/>
          </a:p>
        </p:txBody>
      </p:sp>
      <p:sp>
        <p:nvSpPr>
          <p:cNvPr id="17" name="Text 15"/>
          <p:cNvSpPr txBox="1"/>
          <p:nvPr/>
        </p:nvSpPr>
        <p:spPr>
          <a:xfrm>
            <a:off x="6263640" y="1719072"/>
            <a:ext cx="2286000" cy="6858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sixty concurrent requests spread across the replicas</a:t>
            </a:r>
            <a:endParaRPr lang="en-US" sz="1400" dirty="0"/>
          </a:p>
        </p:txBody>
      </p:sp>
      <p:pic>
        <p:nvPicPr>
          <p:cNvPr id="18" name="Dashboard screenshot" descr="Dashboard screenshot">    </p:cNvPr>
          <p:cNvPicPr>
            <a:picLocks noChangeAspect="1"/>
          </p:cNvPicPr>
          <p:nvPr/>
        </p:nvPicPr>
        <p:blipFill>
          <a:blip r:embed="rId1"/>
          <a:stretch>
            <a:fillRect/>
          </a:stretch>
        </p:blipFill>
        <p:spPr>
          <a:xfrm>
            <a:off x="457200" y="2803998"/>
            <a:ext cx="8229600" cy="1707204"/>
          </a:xfrm>
          <a:prstGeom prst="rect">
            <a:avLst/>
          </a:prstGeom>
          <a:effectLst>
            <a:outerShdw sx="100000" sy="100000" kx="0" ky="0" algn="bl" rotWithShape="0" blurRad="101600" dist="25400" dir="5400000">
              <a:srgbClr val="000000">
                <a:alpha val="12000"/>
              </a:srgbClr>
            </a:outerShdw>
          </a:effectLst>
        </p:spPr>
      </p:pic>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Limits and next steps</a:t>
            </a:r>
            <a:endParaRPr lang="en-US" sz="3200" dirty="0"/>
          </a:p>
        </p:txBody>
      </p:sp>
      <p:sp>
        <p:nvSpPr>
          <p:cNvPr id="3" name="Current limits panel"/>
          <p:cNvSpPr/>
          <p:nvPr/>
        </p:nvSpPr>
        <p:spPr>
          <a:xfrm>
            <a:off x="457200" y="1188720"/>
            <a:ext cx="4023360" cy="3063240"/>
          </a:xfrm>
          <a:prstGeom prst="roundRect">
            <a:avLst>
              <a:gd name="adj" fmla="val 2388"/>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685800" y="1325880"/>
            <a:ext cx="3566160" cy="365760"/>
          </a:xfrm>
          <a:prstGeom prst="rect">
            <a:avLst/>
          </a:prstGeom>
          <a:noFill/>
          <a:ln/>
        </p:spPr>
        <p:txBody>
          <a:bodyPr wrap="square" lIns="0" tIns="0" rIns="0" bIns="0" rtlCol="0" anchor="t"/>
          <a:lstStyle/>
          <a:p>
            <a:pPr indent="0" marL="0">
              <a:buNone/>
            </a:pPr>
            <a:r>
              <a:rPr lang="en-US" sz="2000" b="1" dirty="0">
                <a:solidFill>
                  <a:schemeClr val="accent5"/>
                </a:solidFill>
                <a:latin typeface="Cambria" pitchFamily="34" charset="0"/>
                <a:ea typeface="Cambria" pitchFamily="34" charset="-122"/>
                <a:cs typeface="Cambria" pitchFamily="34" charset="-120"/>
              </a:rPr>
              <a:t>Current limits</a:t>
            </a:r>
            <a:endParaRPr lang="en-US" sz="2000" dirty="0"/>
          </a:p>
        </p:txBody>
      </p:sp>
      <p:sp>
        <p:nvSpPr>
          <p:cNvPr id="5" name="Text 3"/>
          <p:cNvSpPr txBox="1"/>
          <p:nvPr/>
        </p:nvSpPr>
        <p:spPr>
          <a:xfrm>
            <a:off x="685800" y="1828800"/>
            <a:ext cx="356616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A failed request can leave a stale entry in the router's cache index.</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Connection errors retry the same replica; there is no failover to another one.</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Latency measured through tunnels includes network delay.</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Results so far come from short runs on a single model.</a:t>
            </a:r>
            <a:endParaRPr lang="en-US" sz="1400" dirty="0"/>
          </a:p>
        </p:txBody>
      </p:sp>
      <p:sp>
        <p:nvSpPr>
          <p:cNvPr id="6" name="Next steps panel"/>
          <p:cNvSpPr/>
          <p:nvPr/>
        </p:nvSpPr>
        <p:spPr>
          <a:xfrm>
            <a:off x="4663440" y="1188720"/>
            <a:ext cx="4023360" cy="3063240"/>
          </a:xfrm>
          <a:prstGeom prst="roundRect">
            <a:avLst>
              <a:gd name="adj" fmla="val 2388"/>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4892040" y="1325880"/>
            <a:ext cx="3566160" cy="36576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Next steps</a:t>
            </a:r>
            <a:endParaRPr lang="en-US" sz="2000" dirty="0"/>
          </a:p>
        </p:txBody>
      </p:sp>
      <p:sp>
        <p:nvSpPr>
          <p:cNvPr id="8" name="Text 6"/>
          <p:cNvSpPr txBox="1"/>
          <p:nvPr/>
        </p:nvSpPr>
        <p:spPr>
          <a:xfrm>
            <a:off x="4892040" y="1828800"/>
            <a:ext cx="356616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Run every policy on one long shared-prefix workload and report the differences.</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Rebuild the index from the engine's cache events instead of predictions.</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Fail over to another replica on connection errors.</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Keep the index across router restarts.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548640"/>
            <a:ext cx="7863840" cy="731520"/>
          </a:xfrm>
          <a:prstGeom prst="rect">
            <a:avLst/>
          </a:prstGeom>
          <a:noFill/>
          <a:ln/>
        </p:spPr>
        <p:txBody>
          <a:bodyPr wrap="square" lIns="0" tIns="0" rIns="0" bIns="0" rtlCol="0" anchor="t"/>
          <a:lstStyle/>
          <a:p>
            <a:pPr indent="0" marL="0">
              <a:buNone/>
            </a:pPr>
            <a:r>
              <a:rPr lang="en-US" sz="3400" b="1" dirty="0">
                <a:solidFill>
                  <a:schemeClr val="bg1"/>
                </a:solidFill>
                <a:latin typeface="Cambria" pitchFamily="34" charset="0"/>
                <a:ea typeface="Cambria" pitchFamily="34" charset="-122"/>
                <a:cs typeface="Cambria" pitchFamily="34" charset="-120"/>
              </a:rPr>
              <a:t>Summary</a:t>
            </a:r>
            <a:endParaRPr lang="en-US" sz="3400" dirty="0"/>
          </a:p>
        </p:txBody>
      </p:sp>
      <p:sp>
        <p:nvSpPr>
          <p:cNvPr id="3" name="Summary card 1"/>
          <p:cNvSpPr/>
          <p:nvPr/>
        </p:nvSpPr>
        <p:spPr>
          <a:xfrm>
            <a:off x="640080" y="1554480"/>
            <a:ext cx="7863840" cy="868680"/>
          </a:xfrm>
          <a:prstGeom prst="roundRect">
            <a:avLst>
              <a:gd name="adj" fmla="val 8421"/>
            </a:avLst>
          </a:prstGeom>
          <a:solidFill>
            <a:schemeClr val="tx2"/>
          </a:solidFill>
          <a:ln w="12700">
            <a:solidFill>
              <a:schemeClr val="tx2"/>
            </a:solidFill>
            <a:prstDash val="solid"/>
          </a:ln>
        </p:spPr>
      </p:sp>
      <p:sp>
        <p:nvSpPr>
          <p:cNvPr id="4" name="Text 2"/>
          <p:cNvSpPr txBox="1"/>
          <p:nvPr/>
        </p:nvSpPr>
        <p:spPr>
          <a:xfrm>
            <a:off x="868680" y="1554480"/>
            <a:ext cx="3108960" cy="868680"/>
          </a:xfrm>
          <a:prstGeom prst="rect">
            <a:avLst/>
          </a:prstGeom>
          <a:noFill/>
          <a:ln/>
        </p:spPr>
        <p:txBody>
          <a:bodyPr wrap="square" lIns="0" tIns="0" rIns="0" bIns="0" rtlCol="0" anchor="ctr"/>
          <a:lstStyle/>
          <a:p>
            <a:pPr indent="0" marL="0">
              <a:buNone/>
            </a:pPr>
            <a:r>
              <a:rPr lang="en-US" sz="1500" b="1" dirty="0">
                <a:solidFill>
                  <a:schemeClr val="bg1"/>
                </a:solidFill>
                <a:latin typeface="Calibri" pitchFamily="34" charset="0"/>
                <a:ea typeface="Calibri" pitchFamily="34" charset="-122"/>
                <a:cs typeface="Calibri" pitchFamily="34" charset="-120"/>
              </a:rPr>
              <a:t>Caches are per replica</a:t>
            </a:r>
            <a:endParaRPr lang="en-US" sz="1500" dirty="0"/>
          </a:p>
        </p:txBody>
      </p:sp>
      <p:sp>
        <p:nvSpPr>
          <p:cNvPr id="5" name="Text 3"/>
          <p:cNvSpPr txBox="1"/>
          <p:nvPr/>
        </p:nvSpPr>
        <p:spPr>
          <a:xfrm>
            <a:off x="4114800" y="1554480"/>
            <a:ext cx="4206240" cy="868680"/>
          </a:xfrm>
          <a:prstGeom prst="rect">
            <a:avLst/>
          </a:prstGeom>
          <a:noFill/>
          <a:ln/>
        </p:spPr>
        <p:txBody>
          <a:bodyPr wrap="square" lIns="0" tIns="0" rIns="0" bIns="0" rtlCol="0" anchor="ctr"/>
          <a:lstStyle/>
          <a:p>
            <a:pPr indent="0" marL="0">
              <a:buNone/>
            </a:pPr>
            <a:r>
              <a:rPr lang="en-US" sz="1400" dirty="0">
                <a:solidFill>
                  <a:srgbClr val="D5DAE3"/>
                </a:solidFill>
                <a:latin typeface="Calibri" pitchFamily="34" charset="0"/>
                <a:ea typeface="Calibri" pitchFamily="34" charset="-122"/>
                <a:cs typeface="Calibri" pitchFamily="34" charset="-120"/>
              </a:rPr>
              <a:t>A balancer that ignores them wastes the work vLLM could reuse.</a:t>
            </a:r>
            <a:endParaRPr lang="en-US" sz="1400" dirty="0"/>
          </a:p>
        </p:txBody>
      </p:sp>
      <p:sp>
        <p:nvSpPr>
          <p:cNvPr id="6" name="Summary card 2"/>
          <p:cNvSpPr/>
          <p:nvPr/>
        </p:nvSpPr>
        <p:spPr>
          <a:xfrm>
            <a:off x="640080" y="2606040"/>
            <a:ext cx="7863840" cy="868680"/>
          </a:xfrm>
          <a:prstGeom prst="roundRect">
            <a:avLst>
              <a:gd name="adj" fmla="val 8421"/>
            </a:avLst>
          </a:prstGeom>
          <a:solidFill>
            <a:schemeClr val="tx2"/>
          </a:solidFill>
          <a:ln w="12700">
            <a:solidFill>
              <a:schemeClr val="tx2"/>
            </a:solidFill>
            <a:prstDash val="solid"/>
          </a:ln>
        </p:spPr>
      </p:sp>
      <p:sp>
        <p:nvSpPr>
          <p:cNvPr id="7" name="Text 5"/>
          <p:cNvSpPr txBox="1"/>
          <p:nvPr/>
        </p:nvSpPr>
        <p:spPr>
          <a:xfrm>
            <a:off x="868680" y="2606040"/>
            <a:ext cx="3108960" cy="868680"/>
          </a:xfrm>
          <a:prstGeom prst="rect">
            <a:avLst/>
          </a:prstGeom>
          <a:noFill/>
          <a:ln/>
        </p:spPr>
        <p:txBody>
          <a:bodyPr wrap="square" lIns="0" tIns="0" rIns="0" bIns="0" rtlCol="0" anchor="ctr"/>
          <a:lstStyle/>
          <a:p>
            <a:pPr indent="0" marL="0">
              <a:buNone/>
            </a:pPr>
            <a:r>
              <a:rPr lang="en-US" sz="1500" b="1" dirty="0">
                <a:solidFill>
                  <a:schemeClr val="bg1"/>
                </a:solidFill>
                <a:latin typeface="Calibri" pitchFamily="34" charset="0"/>
                <a:ea typeface="Calibri" pitchFamily="34" charset="-122"/>
                <a:cs typeface="Calibri" pitchFamily="34" charset="-120"/>
              </a:rPr>
              <a:t>Route by prefix, protect by latency</a:t>
            </a:r>
            <a:endParaRPr lang="en-US" sz="1500" dirty="0"/>
          </a:p>
        </p:txBody>
      </p:sp>
      <p:sp>
        <p:nvSpPr>
          <p:cNvPr id="8" name="Text 6"/>
          <p:cNvSpPr txBox="1"/>
          <p:nvPr/>
        </p:nvSpPr>
        <p:spPr>
          <a:xfrm>
            <a:off x="4114800" y="2606040"/>
            <a:ext cx="4206240" cy="868680"/>
          </a:xfrm>
          <a:prstGeom prst="rect">
            <a:avLst/>
          </a:prstGeom>
          <a:noFill/>
          <a:ln/>
        </p:spPr>
        <p:txBody>
          <a:bodyPr wrap="square" lIns="0" tIns="0" rIns="0" bIns="0" rtlCol="0" anchor="ctr"/>
          <a:lstStyle/>
          <a:p>
            <a:pPr indent="0" marL="0">
              <a:buNone/>
            </a:pPr>
            <a:r>
              <a:rPr lang="en-US" sz="1400" dirty="0">
                <a:solidFill>
                  <a:srgbClr val="D5DAE3"/>
                </a:solidFill>
                <a:latin typeface="Calibri" pitchFamily="34" charset="0"/>
                <a:ea typeface="Calibri" pitchFamily="34" charset="-122"/>
                <a:cs typeface="Calibri" pitchFamily="34" charset="-120"/>
              </a:rPr>
              <a:t>Hash prompts in 16-token blocks, pick the longest match, and veto replicas that would be too slow.</a:t>
            </a:r>
            <a:endParaRPr lang="en-US" sz="1400" dirty="0"/>
          </a:p>
        </p:txBody>
      </p:sp>
      <p:sp>
        <p:nvSpPr>
          <p:cNvPr id="9" name="Summary card 3"/>
          <p:cNvSpPr/>
          <p:nvPr/>
        </p:nvSpPr>
        <p:spPr>
          <a:xfrm>
            <a:off x="640080" y="3657600"/>
            <a:ext cx="7863840" cy="868680"/>
          </a:xfrm>
          <a:prstGeom prst="roundRect">
            <a:avLst>
              <a:gd name="adj" fmla="val 8421"/>
            </a:avLst>
          </a:prstGeom>
          <a:solidFill>
            <a:schemeClr val="tx2"/>
          </a:solidFill>
          <a:ln w="12700">
            <a:solidFill>
              <a:schemeClr val="tx2"/>
            </a:solidFill>
            <a:prstDash val="solid"/>
          </a:ln>
        </p:spPr>
      </p:sp>
      <p:sp>
        <p:nvSpPr>
          <p:cNvPr id="10" name="Text 8"/>
          <p:cNvSpPr txBox="1"/>
          <p:nvPr/>
        </p:nvSpPr>
        <p:spPr>
          <a:xfrm>
            <a:off x="868680" y="3657600"/>
            <a:ext cx="3108960" cy="868680"/>
          </a:xfrm>
          <a:prstGeom prst="rect">
            <a:avLst/>
          </a:prstGeom>
          <a:noFill/>
          <a:ln/>
        </p:spPr>
        <p:txBody>
          <a:bodyPr wrap="square" lIns="0" tIns="0" rIns="0" bIns="0" rtlCol="0" anchor="ctr"/>
          <a:lstStyle/>
          <a:p>
            <a:pPr indent="0" marL="0">
              <a:buNone/>
            </a:pPr>
            <a:r>
              <a:rPr lang="en-US" sz="1500" b="1" dirty="0">
                <a:solidFill>
                  <a:schemeClr val="bg1"/>
                </a:solidFill>
                <a:latin typeface="Calibri" pitchFamily="34" charset="0"/>
                <a:ea typeface="Calibri" pitchFamily="34" charset="-122"/>
                <a:cs typeface="Calibri" pitchFamily="34" charset="-120"/>
              </a:rPr>
              <a:t>Measure every step</a:t>
            </a:r>
            <a:endParaRPr lang="en-US" sz="1500" dirty="0"/>
          </a:p>
        </p:txBody>
      </p:sp>
      <p:sp>
        <p:nvSpPr>
          <p:cNvPr id="11" name="Text 9"/>
          <p:cNvSpPr txBox="1"/>
          <p:nvPr/>
        </p:nvSpPr>
        <p:spPr>
          <a:xfrm>
            <a:off x="4114800" y="3657600"/>
            <a:ext cx="4206240" cy="868680"/>
          </a:xfrm>
          <a:prstGeom prst="rect">
            <a:avLst/>
          </a:prstGeom>
          <a:noFill/>
          <a:ln/>
        </p:spPr>
        <p:txBody>
          <a:bodyPr wrap="square" lIns="0" tIns="0" rIns="0" bIns="0" rtlCol="0" anchor="ctr"/>
          <a:lstStyle/>
          <a:p>
            <a:pPr indent="0" marL="0">
              <a:buNone/>
            </a:pPr>
            <a:r>
              <a:rPr lang="en-US" sz="1400" dirty="0">
                <a:solidFill>
                  <a:srgbClr val="D5DAE3"/>
                </a:solidFill>
                <a:latin typeface="Calibri" pitchFamily="34" charset="0"/>
                <a:ea typeface="Calibri" pitchFamily="34" charset="-122"/>
                <a:cs typeface="Calibri" pitchFamily="34" charset="-120"/>
              </a:rPr>
              <a:t>Each request records its decision, its replica and its timings, so claims can be checked.</a:t>
            </a:r>
            <a:endParaRPr lang="en-US" sz="1400" dirty="0"/>
          </a:p>
        </p:txBody>
      </p:sp>
    </p:spTree>
  </p:cSld>
  <p:clrMapOvr>
    <a:masterClrMapping/>
  </p:clrMapOvr>
</p:sld>
</file>

<file path=ppt/theme/theme1.xml><?xml version="1.0" encoding="utf-8"?>
<a:theme xmlns:a="http://schemas.openxmlformats.org/drawingml/2006/main" name="Graphite Teal">
  <a:themeElements>
    <a:clrScheme name="Graphite Teal">
      <a:dk1>
        <a:srgbClr val="1B1F2A"/>
      </a:dk1>
      <a:lt1>
        <a:srgbClr val="FFFFFF"/>
      </a:lt1>
      <a:dk2>
        <a:srgbClr val="3A4457"/>
      </a:dk2>
      <a:lt2>
        <a:srgbClr val="F1F3F6"/>
      </a:lt2>
      <a:accent1>
        <a:srgbClr val="0E8F7E"/>
      </a:accent1>
      <a:accent2>
        <a:srgbClr val="E8A23B"/>
      </a:accent2>
      <a:accent3>
        <a:srgbClr val="5878A8"/>
      </a:accent3>
      <a:accent4>
        <a:srgbClr val="8B95A7"/>
      </a:accent4>
      <a:accent5>
        <a:srgbClr val="C8445A"/>
      </a:accent5>
      <a:accent6>
        <a:srgbClr val="3E9E5F"/>
      </a:accent6>
      <a:hlink>
        <a:srgbClr val="0E8F7E"/>
      </a:hlink>
      <a:folHlink>
        <a:srgbClr val="8B95A7"/>
      </a:folHlink>
    </a:clrScheme>
    <a:fontScheme name="Graphite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Cache-Aware Request Routing for LLM Replicas</dc:title>
  <dc:subject>Routing requests across GPU replicas to reuse the prefix cache</dc:subject>
  <dc:creator> </dc:creator>
  <cp:lastModifiedBy> </cp:lastModifiedBy>
  <cp:revision>1</cp:revision>
  <dcterms:created xsi:type="dcterms:W3CDTF">2026-10-12T15:29:13Z</dcterms:created>
  <dcterms:modified xsi:type="dcterms:W3CDTF">2026-10-12T15:29:13Z</dcterms:modified>
</cp:coreProperties>
</file>