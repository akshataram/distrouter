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b2b16ad6-ffa9-3e55-4992-d6e6a4d42cad}">
          <p14:sldIdLst>
            <p14:sldId id="256"/>
            <p14:sldId id="257"/>
            <p14:sldId id="258"/>
            <p14:sldId id="259"/>
          </p14:sldIdLst>
        </p14:section>
        <p14:section name="Approach" id="{92185244-638f-9da1-0851-1ef7cb271ff0}">
          <p14:sldIdLst>
            <p14:sldId id="260"/>
            <p14:sldId id="261"/>
            <p14:sldId id="262"/>
            <p14:sldId id="263"/>
            <p14:sldId id="264"/>
            <p14:sldId id="265"/>
            <p14:sldId id="266"/>
          </p14:sldIdLst>
        </p14:section>
        <p14:section name="Evidence" id="{2eaf483b-dcfc-85e4-1e0d-978627ebac02}">
          <p14:sldIdLst>
            <p14:sldId id="267"/>
            <p14:sldId id="268"/>
            <p14:sldId id="269"/>
            <p14:sldId id="270"/>
            <p14:sldId id="271"/>
            <p14:sldId id="272"/>
          </p14:sldIdLst>
        </p14:section>
        <p14:section name="Close" id="{70d909cc-2ac4-3010-abdc-93a178764890}">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Requests served per replica</a:t>
            </a:r>
          </a:p>
        </c:rich>
      </c:tx>
      <c:layout/>
      <c:overlay val="0"/>
    </c:title>
    <c:autoTitleDeleted val="0"/>
    <c:plotArea>
      <c:layout/>
      <c:barChart>
        <c:barDir val="col"/>
        <c:grouping val="clustered"/>
        <c:varyColors val="0"/>
        <c:ser>
          <c:idx val="0"/>
          <c:order val="0"/>
          <c:tx>
            <c:strRef>
              <c:f>Sheet1!$B$1</c:f>
              <c:strCache>
                <c:ptCount val="1"/>
                <c:pt idx="0">
                  <c:v>Requests</c:v>
                </c:pt>
              </c:strCache>
            </c:strRef>
          </c:tx>
          <c:spPr>
            <a:solidFill>
              <a:srgbClr val="0E8F7E"/>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GPU A</c:v>
                  </c:pt>
                  <c:pt idx="1">
                    <c:v>GPU B</c:v>
                  </c:pt>
                  <c:pt idx="2">
                    <c:v>GPU C</c:v>
                  </c:pt>
                  <c:pt idx="3">
                    <c:v>GPU D</c:v>
                  </c:pt>
                </c:lvl>
              </c:multiLvlStrCache>
            </c:multiLvlStrRef>
          </c:cat>
          <c:val>
            <c:numRef>
              <c:f>Sheet1!$B$2:$B$5</c:f>
              <c:numCache>
                <c:formatCode>General</c:formatCode>
                <c:ptCount val="4"/>
                <c:pt idx="0">
                  <c:v>18</c:v>
                </c:pt>
                <c:pt idx="1">
                  <c:v>12</c:v>
                </c:pt>
                <c:pt idx="2">
                  <c:v>22</c:v>
                </c:pt>
                <c:pt idx="3">
                  <c:v>8</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457"/>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1E4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445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TTFT median (ms)</c:v>
                </c:pt>
              </c:strCache>
            </c:strRef>
          </c:tx>
          <c:spPr>
            <a:solidFill>
              <a:srgbClr val="0E8F7E"/>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round_robin</c:v>
                  </c:pt>
                  <c:pt idx="1">
                    <c:v>least_connections</c:v>
                  </c:pt>
                  <c:pt idx="2">
                    <c:v>swiftserve</c:v>
                  </c:pt>
                  <c:pt idx="3">
                    <c:v>prefix_aware</c:v>
                  </c:pt>
                </c:lvl>
              </c:multiLvlStrCache>
            </c:multiLvlStrRef>
          </c:cat>
          <c:val>
            <c:numRef>
              <c:f>Sheet1!$B$2:$B$5</c:f>
              <c:numCache>
                <c:formatCode>General</c:formatCode>
                <c:ptCount val="4"/>
                <c:pt idx="0">
                  <c:v>966</c:v>
                </c:pt>
                <c:pt idx="1">
                  <c:v>993</c:v>
                </c:pt>
                <c:pt idx="2">
                  <c:v>765</c:v>
                </c:pt>
                <c:pt idx="3">
                  <c:v>451</c:v>
                </c:pt>
              </c:numCache>
            </c:numRef>
          </c:val>
        </c:ser>
        <c:ser>
          <c:idx val="1"/>
          <c:order val="1"/>
          <c:tx>
            <c:strRef>
              <c:f>Sheet1!$C$1</c:f>
              <c:strCache>
                <c:ptCount val="1"/>
                <c:pt idx="0">
                  <c:v>TTFT 95th percentile (ms)</c:v>
                </c:pt>
              </c:strCache>
            </c:strRef>
          </c:tx>
          <c:spPr>
            <a:solidFill>
              <a:srgbClr val="E8A23B"/>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round_robin</c:v>
                  </c:pt>
                  <c:pt idx="1">
                    <c:v>least_connections</c:v>
                  </c:pt>
                  <c:pt idx="2">
                    <c:v>swiftserve</c:v>
                  </c:pt>
                  <c:pt idx="3">
                    <c:v>prefix_aware</c:v>
                  </c:pt>
                </c:lvl>
              </c:multiLvlStrCache>
            </c:multiLvlStrRef>
          </c:cat>
          <c:val>
            <c:numRef>
              <c:f>Sheet1!$C$2:$C$5</c:f>
              <c:numCache>
                <c:formatCode>General</c:formatCode>
                <c:ptCount val="4"/>
                <c:pt idx="0">
                  <c:v>1844</c:v>
                </c:pt>
                <c:pt idx="1">
                  <c:v>1932</c:v>
                </c:pt>
                <c:pt idx="2">
                  <c:v>1719</c:v>
                </c:pt>
                <c:pt idx="3">
                  <c:v>2006</c:v>
                </c:pt>
              </c:numCache>
            </c:numRef>
          </c:val>
        </c:ser>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457"/>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1E4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445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A445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a request router that sits in front of several GPU servers running the same language model. When a prompt shares its beginning with an earlier prompt, the router sends it to the GPU that already processed that beginning, so the work is not repeated, unless that GPU is too busy. The highlighted tile represents the one GPU that holds the cached 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problem before the mechanism. Language-model services often put the same long system prompt in front of many users' questions, and they run several identical replicas of the model. vLLM can skip the work of reading a prompt prefix it has already processed, but each replica only knows its own cache. Standard policies such as round robin and least connections do not look at the cache at all, and when the caches are small the replicas evict each other's prefixes. The goal of this project is a router that sends each request to the replica most likely to hold its prefix without overloading it, and an honest measurement of whether that lowers time to first token compared with the baselines.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Prefill is the cost of reading the prompt, and it grows with prompt length. vLLM can reuse earlier prefill work if a new prompt begins with exactly the same tokens, in whole blocks of sixteen. Each GPU keeps its own cache, so a repeated prompt that lands on the wrong replica gets no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direct measurement on one GPU node, calling the model server without the router. The first request had to process the whole prompt and took about two seconds to produce its first token. The next two reused sixteen hundred of the sixteen hundred and seventeen prompt tokens and took about seventy-four milliseconds. The bars are drawn to scale. A cache hit removes prefill work, so it shortens time to first token; generation speed afterward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objective has two sides. Reuse as much cached work as possible, but never at the price of missing the response-time target. The three parts map onto that: an index that remembers where blocks live, a match that prefers the longest shared prefix, and a latency estimate that vetoes a candidate that is too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 only by cache sends popular prompts to the same replica, which then queues. Routing only by load destroys locality, and with small caches the replicas keep evicting each other's blocks. In this setup each node holds about six thousand tokens of KV cache, so a handful of long system prompts cannot all stay cached on every node. The router has to balance the two, which is why it combines a match with a latency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sends requests to the router. The router applies admission control, runs the routing policy to pick a replica, and streams the response back, retrying connection errors. Each replica is a Colab T4 running vLLM, with a small sidecar process in front that also reports the GPU's memory and temperature. The nodes have no public address, so each is reached through an HTTPS tunnel. In parallel the router publishes an event for every step so the console can show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The prompt is split into blocks of sixteen tokens, matching vLLM. Each block's hash includes the previous hash, so a single hash stands for everything before it. A match counts only if it covers at least half the prompt or at least 256 tokens, so tiny overlaps do not drag traffic around. The latency estimate is a queueing model fed by queue depth and recent latency. After the choice, the prompt's blocks are recorded against that replica immediately; that is optimistic, and it is why concurrent requests with the same prefix gather on one replica.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uses invented numbers to show the mechanism; it is not a measurement. A 600-token prompt holds 37 full 16-token blocks. Replica A holds the first 30 blocks, which is 81 percent of the prompt and 480 tokens, so it is eligible. Replica B holds 12 blocks, which is below both thresholds, so its partial match is ignored. If A's latency estimate fits the target, A wins. If it does not, the match is vetoed and the least-loaded replica is used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routing policy depends on per-replica state: how many requests are in flight, recent latency, and queue depth and cache usage scraped from each replica. Admission control caps concurrency at 256. The circuit breaker stops sending traffic to a failing replica and probes it again after a cooldown that grows. Connection errors are retried on the same replica; failing over to a different replica is not implemented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routing policies in the router. Round robin and least connections are the baselines: neither knows anything about the cache. Swiftserve is the earlier policy that tracks conversations and a trie over whole messages, so it needs at least two shared messages before it can match. Prefix-aware matches at the level of 16-token blocks, so it can reuse a shared system prompt across different users and conversations. The next slides show how each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request gets an identifier, and the router publishes an event for every step: received, routing decision, dispatch, first token and completed. The console joins those events with what the browser measured. The screenshot shows one request. The policy chose the replica because it held the prompt's first block, and the router's predicted cache reuse matched what vLLM reported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first token is how long the user waits before any text appears; it contains routing, queueing and the prefill, which is exactly what caching shortens. Inter-token latency describes the pace once generation starts. Tunnels can bunch several tokens into one chunk, so single gaps are unreliable, but the mean over the whole span is not. Cache reuse is read from the engine's own usage report, so it is a measurement and not an estimate. Non-streaming requests have no first token to observe.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run sent sixty requests at a concurrency of eight through the router to the four GPUs, using the prefix-aware policy. All sixty completed, and the work spread over all four replicas. The 95th percentile time to first token is far above the median; the likely causes are the first requests reaching cold replicas and queueing, but that has not been broken down. The prompts were very short, so this run shows that routing and measurement work end to end. It is not evidence of a cache speedup. The fair comparison is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protocol for a fair comparison. The same four GPUs and settings are used for every policy. The workload has six long shared system prompts, which is more than one node's cache can hold, so a policy that places requests well should show a higher cache reuse. Each policy runs in its own prompt namespace so none of them benefits from a cache warmed by an earlier run. The comparison is then repeated with a different seed and the policy order reversed to check the ranking holds. The command is: python scripts/demo.py with the four replica URLs, the four policies, and the json-out option. Policies run one after another, so this is a controlled demonstration rather than a publishable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policies ran the same seeded workload on the same four GPUs, one after another, each in its own prompt namespace so none benefited from a cache warmed by an earlier policy, and the router's learned latency state was reset between policies. The experiment was repeated with different seeds, and one run used the reverse policy order, so a policy that is simply lucky in its position would not win every time. Read the median first: that is where prefill savings show up, and the prefix-aware policy had the lowest median in every run. Cache reuse is the share of prompt tokens the engines reported as cached, and it ranked the policies the same way in every run. The tail is different: the 95th percentile rank of the prefix-aware policy varied between runs, so no firm claim about the tail is supported. It also had the most uneven load, since it sends a tenant back to the replica holding its cache. The swiftserve policy beat both load-based baselines on median in two runs and lost to both in the third, so its advantage over them is not established. Run 1 values were read from the console screenshot and are rounded; runs 2 and 3 are the exported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demonstration in this order. Start on the dashboard to show the real GPUs and their memory and temperature. Then use the playground to send the same long system prompt twice and point at the cached token count and the time to first token. Open the Compare tab and run all four policies on the same workload; the table shows the difference side by side. Keep the live routing view open while it runs to show requests spreading across replicas.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the limitations. The index is a belief about what each replica holds, and it can drift after evictions or failed requests. Retries stay on the same replica. The comparison runs policies one after another, so it is a controlled demonstration rather than a publishable benchmark. The next steps address each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points. Caches are per replica. Routing by prefix and protecting with a latency check lets the router reuse cached work without overloading a replica. And every request is measured, so the claims in this presentation can be checked against recorded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234440"/>
            <a:ext cx="5669280" cy="173736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Cache-Aware Request Routing for LLM Replicas</a:t>
            </a:r>
            <a:endParaRPr lang="en-US" sz="3800" dirty="0"/>
          </a:p>
        </p:txBody>
      </p:sp>
      <p:sp>
        <p:nvSpPr>
          <p:cNvPr id="3" name="Text 1"/>
          <p:cNvSpPr txBox="1"/>
          <p:nvPr/>
        </p:nvSpPr>
        <p:spPr>
          <a:xfrm>
            <a:off x="640080" y="3154680"/>
            <a:ext cx="5212080" cy="822960"/>
          </a:xfrm>
          <a:prstGeom prst="rect">
            <a:avLst/>
          </a:prstGeom>
          <a:noFill/>
          <a:ln/>
        </p:spPr>
        <p:txBody>
          <a:bodyPr wrap="square" lIns="0" tIns="0" rIns="0" bIns="0" rtlCol="0" anchor="t"/>
          <a:lstStyle/>
          <a:p>
            <a:pPr indent="0" marL="0">
              <a:buNone/>
            </a:pPr>
            <a:r>
              <a:rPr lang="en-US" sz="1800" dirty="0">
                <a:solidFill>
                  <a:schemeClr val="accent4"/>
                </a:solidFill>
                <a:latin typeface="Calibri" pitchFamily="34" charset="0"/>
                <a:ea typeface="Calibri" pitchFamily="34" charset="-122"/>
                <a:cs typeface="Calibri" pitchFamily="34" charset="-120"/>
              </a:rPr>
              <a:t>Sending each request to the GPU that already holds the beginning of its prompt, without overloading it</a:t>
            </a:r>
            <a:endParaRPr lang="en-US" sz="1800" dirty="0"/>
          </a:p>
        </p:txBody>
      </p:sp>
      <p:sp>
        <p:nvSpPr>
          <p:cNvPr id="4" name="Replica tile 1"/>
          <p:cNvSpPr/>
          <p:nvPr/>
        </p:nvSpPr>
        <p:spPr>
          <a:xfrm>
            <a:off x="6720840" y="1417320"/>
            <a:ext cx="914400" cy="914400"/>
          </a:xfrm>
          <a:prstGeom prst="roundRect">
            <a:avLst>
              <a:gd name="adj" fmla="val 10000"/>
            </a:avLst>
          </a:prstGeom>
          <a:solidFill>
            <a:schemeClr val="accent1"/>
          </a:solidFill>
          <a:ln w="12700">
            <a:solidFill>
              <a:schemeClr val="accent1"/>
            </a:solidFill>
            <a:prstDash val="solid"/>
          </a:ln>
        </p:spPr>
      </p:sp>
      <p:sp>
        <p:nvSpPr>
          <p:cNvPr id="5" name="Text 3"/>
          <p:cNvSpPr txBox="1"/>
          <p:nvPr/>
        </p:nvSpPr>
        <p:spPr>
          <a:xfrm>
            <a:off x="6720840" y="173736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A</a:t>
            </a:r>
            <a:endParaRPr lang="en-US" sz="1400" dirty="0"/>
          </a:p>
        </p:txBody>
      </p:sp>
      <p:sp>
        <p:nvSpPr>
          <p:cNvPr id="6" name="Replica tile 2"/>
          <p:cNvSpPr/>
          <p:nvPr/>
        </p:nvSpPr>
        <p:spPr>
          <a:xfrm>
            <a:off x="7818120" y="1417320"/>
            <a:ext cx="91440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7818120" y="173736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B</a:t>
            </a:r>
            <a:endParaRPr lang="en-US" sz="1400" dirty="0"/>
          </a:p>
        </p:txBody>
      </p:sp>
      <p:sp>
        <p:nvSpPr>
          <p:cNvPr id="8" name="Replica tile 3"/>
          <p:cNvSpPr/>
          <p:nvPr/>
        </p:nvSpPr>
        <p:spPr>
          <a:xfrm>
            <a:off x="6720840" y="2514600"/>
            <a:ext cx="91440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6720840" y="283464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C</a:t>
            </a:r>
            <a:endParaRPr lang="en-US" sz="1400" dirty="0"/>
          </a:p>
        </p:txBody>
      </p:sp>
      <p:sp>
        <p:nvSpPr>
          <p:cNvPr id="10" name="Replica tile 4"/>
          <p:cNvSpPr/>
          <p:nvPr/>
        </p:nvSpPr>
        <p:spPr>
          <a:xfrm>
            <a:off x="7818120" y="2514600"/>
            <a:ext cx="91440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7818120" y="283464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Problem statement</a:t>
            </a:r>
            <a:endParaRPr lang="en-US" sz="3200" dirty="0"/>
          </a:p>
        </p:txBody>
      </p:sp>
      <p:sp>
        <p:nvSpPr>
          <p:cNvPr id="3" name="Text 1"/>
          <p:cNvSpPr txBox="1"/>
          <p:nvPr/>
        </p:nvSpPr>
        <p:spPr>
          <a:xfrm>
            <a:off x="457200" y="1143000"/>
            <a:ext cx="8229600" cy="1188720"/>
          </a:xfrm>
          <a:prstGeom prst="rect">
            <a:avLst/>
          </a:prstGeom>
          <a:noFill/>
          <a:ln/>
        </p:spPr>
        <p:txBody>
          <a:bodyPr wrap="square" lIns="0" tIns="0" rIns="0" bIns="0" rtlCol="0" anchor="t"/>
          <a:lstStyle/>
          <a:p>
            <a:pPr indent="0" marL="0">
              <a:buNone/>
            </a:pPr>
            <a:r>
              <a:rPr lang="en-US" sz="2000" dirty="0">
                <a:solidFill>
                  <a:schemeClr val="tx1"/>
                </a:solidFill>
                <a:latin typeface="Cambria" pitchFamily="34" charset="0"/>
                <a:ea typeface="Cambria" pitchFamily="34" charset="-122"/>
                <a:cs typeface="Cambria" pitchFamily="34" charset="-120"/>
              </a:rPr>
              <a:t>With several GPU replicas, each keeps its own prefix cache, but standard routing ignores it. Requests that share a long prompt prefix often reach a replica that must recompute it, which raises time to first token.</a:t>
            </a:r>
            <a:endParaRPr lang="en-US" sz="2000" dirty="0"/>
          </a:p>
        </p:txBody>
      </p:sp>
      <p:sp>
        <p:nvSpPr>
          <p:cNvPr id="4" name="Problem card 1"/>
          <p:cNvSpPr/>
          <p:nvPr/>
        </p:nvSpPr>
        <p:spPr>
          <a:xfrm>
            <a:off x="457200" y="2468880"/>
            <a:ext cx="2560320" cy="1828800"/>
          </a:xfrm>
          <a:prstGeom prst="roundRect">
            <a:avLst>
              <a:gd name="adj" fmla="val 4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Problem 1 badge"/>
          <p:cNvSpPr/>
          <p:nvPr/>
        </p:nvSpPr>
        <p:spPr>
          <a:xfrm>
            <a:off x="640080" y="2606040"/>
            <a:ext cx="457200" cy="457200"/>
          </a:xfrm>
          <a:prstGeom prst="ellipse">
            <a:avLst/>
          </a:prstGeom>
          <a:solidFill>
            <a:srgbClr val="0E8F7E"/>
          </a:solidFill>
          <a:ln w="12700">
            <a:solidFill>
              <a:srgbClr val="0E8F7E"/>
            </a:solidFill>
            <a:prstDash val="solid"/>
          </a:ln>
        </p:spPr>
      </p:sp>
      <p:pic>
        <p:nvPicPr>
          <p:cNvPr id="6" name="Problem 1 icon" descr="preencoded.png">    </p:cNvPr>
          <p:cNvPicPr>
            <a:picLocks noChangeAspect="1"/>
          </p:cNvPicPr>
          <p:nvPr/>
        </p:nvPicPr>
        <p:blipFill>
          <a:blip r:embed="rId1"/>
          <a:stretch>
            <a:fillRect/>
          </a:stretch>
        </p:blipFill>
        <p:spPr>
          <a:xfrm>
            <a:off x="758952" y="2724912"/>
            <a:ext cx="219456" cy="219456"/>
          </a:xfrm>
          <a:prstGeom prst="rect">
            <a:avLst/>
          </a:prstGeom>
        </p:spPr>
      </p:pic>
      <p:sp>
        <p:nvSpPr>
          <p:cNvPr id="7" name="Text 4"/>
          <p:cNvSpPr txBox="1"/>
          <p:nvPr/>
        </p:nvSpPr>
        <p:spPr>
          <a:xfrm>
            <a:off x="1234440" y="2606040"/>
            <a:ext cx="1645920" cy="45720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Context</a:t>
            </a:r>
            <a:endParaRPr lang="en-US" sz="1800" dirty="0"/>
          </a:p>
        </p:txBody>
      </p:sp>
      <p:sp>
        <p:nvSpPr>
          <p:cNvPr id="8" name="Text 5"/>
          <p:cNvSpPr txBox="1"/>
          <p:nvPr/>
        </p:nvSpPr>
        <p:spPr>
          <a:xfrm>
            <a:off x="640080" y="320040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Chat services reuse the same long system prompts across many users and serve them from several replicas of one model.</a:t>
            </a:r>
            <a:endParaRPr lang="en-US" sz="1400" dirty="0"/>
          </a:p>
        </p:txBody>
      </p:sp>
      <p:sp>
        <p:nvSpPr>
          <p:cNvPr id="9" name="Problem card 2"/>
          <p:cNvSpPr/>
          <p:nvPr/>
        </p:nvSpPr>
        <p:spPr>
          <a:xfrm>
            <a:off x="3291840" y="2468880"/>
            <a:ext cx="2560320" cy="1828800"/>
          </a:xfrm>
          <a:prstGeom prst="roundRect">
            <a:avLst>
              <a:gd name="adj" fmla="val 4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0" name="Problem 2 badge"/>
          <p:cNvSpPr/>
          <p:nvPr/>
        </p:nvSpPr>
        <p:spPr>
          <a:xfrm>
            <a:off x="3474720" y="2606040"/>
            <a:ext cx="457200" cy="457200"/>
          </a:xfrm>
          <a:prstGeom prst="ellipse">
            <a:avLst/>
          </a:prstGeom>
          <a:solidFill>
            <a:srgbClr val="C8445A"/>
          </a:solidFill>
          <a:ln w="12700">
            <a:solidFill>
              <a:srgbClr val="C8445A"/>
            </a:solidFill>
            <a:prstDash val="solid"/>
          </a:ln>
        </p:spPr>
      </p:sp>
      <p:pic>
        <p:nvPicPr>
          <p:cNvPr id="11" name="Problem 2 icon" descr="preencoded.png">    </p:cNvPr>
          <p:cNvPicPr>
            <a:picLocks noChangeAspect="1"/>
          </p:cNvPicPr>
          <p:nvPr/>
        </p:nvPicPr>
        <p:blipFill>
          <a:blip r:embed="rId2"/>
          <a:stretch>
            <a:fillRect/>
          </a:stretch>
        </p:blipFill>
        <p:spPr>
          <a:xfrm>
            <a:off x="3593592" y="2724912"/>
            <a:ext cx="219456" cy="219456"/>
          </a:xfrm>
          <a:prstGeom prst="rect">
            <a:avLst/>
          </a:prstGeom>
        </p:spPr>
      </p:pic>
      <p:sp>
        <p:nvSpPr>
          <p:cNvPr id="12" name="Text 8"/>
          <p:cNvSpPr txBox="1"/>
          <p:nvPr/>
        </p:nvSpPr>
        <p:spPr>
          <a:xfrm>
            <a:off x="4069080" y="2606040"/>
            <a:ext cx="1645920" cy="45720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Problem</a:t>
            </a:r>
            <a:endParaRPr lang="en-US" sz="1800" dirty="0"/>
          </a:p>
        </p:txBody>
      </p:sp>
      <p:sp>
        <p:nvSpPr>
          <p:cNvPr id="13" name="Text 9"/>
          <p:cNvSpPr txBox="1"/>
          <p:nvPr/>
        </p:nvSpPr>
        <p:spPr>
          <a:xfrm>
            <a:off x="3474720" y="320040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Round robin and least connections ignore cache contents. With small caches, replicas also evict each other's prefixes.</a:t>
            </a:r>
            <a:endParaRPr lang="en-US" sz="1400" dirty="0"/>
          </a:p>
        </p:txBody>
      </p:sp>
      <p:sp>
        <p:nvSpPr>
          <p:cNvPr id="14" name="Problem card 3"/>
          <p:cNvSpPr/>
          <p:nvPr/>
        </p:nvSpPr>
        <p:spPr>
          <a:xfrm>
            <a:off x="6126480" y="2468880"/>
            <a:ext cx="2560320" cy="1828800"/>
          </a:xfrm>
          <a:prstGeom prst="roundRect">
            <a:avLst>
              <a:gd name="adj" fmla="val 4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5" name="Problem 3 badge"/>
          <p:cNvSpPr/>
          <p:nvPr/>
        </p:nvSpPr>
        <p:spPr>
          <a:xfrm>
            <a:off x="6309360" y="2606040"/>
            <a:ext cx="457200" cy="457200"/>
          </a:xfrm>
          <a:prstGeom prst="ellipse">
            <a:avLst/>
          </a:prstGeom>
          <a:solidFill>
            <a:srgbClr val="0E8F7E"/>
          </a:solidFill>
          <a:ln w="12700">
            <a:solidFill>
              <a:srgbClr val="0E8F7E"/>
            </a:solidFill>
            <a:prstDash val="solid"/>
          </a:ln>
        </p:spPr>
      </p:sp>
      <p:pic>
        <p:nvPicPr>
          <p:cNvPr id="16" name="Problem 3 icon" descr="preencoded.png">    </p:cNvPr>
          <p:cNvPicPr>
            <a:picLocks noChangeAspect="1"/>
          </p:cNvPicPr>
          <p:nvPr/>
        </p:nvPicPr>
        <p:blipFill>
          <a:blip r:embed="rId3"/>
          <a:stretch>
            <a:fillRect/>
          </a:stretch>
        </p:blipFill>
        <p:spPr>
          <a:xfrm>
            <a:off x="6428232" y="2724912"/>
            <a:ext cx="219456" cy="219456"/>
          </a:xfrm>
          <a:prstGeom prst="rect">
            <a:avLst/>
          </a:prstGeom>
        </p:spPr>
      </p:pic>
      <p:sp>
        <p:nvSpPr>
          <p:cNvPr id="17" name="Text 12"/>
          <p:cNvSpPr txBox="1"/>
          <p:nvPr/>
        </p:nvSpPr>
        <p:spPr>
          <a:xfrm>
            <a:off x="6903720" y="2606040"/>
            <a:ext cx="1645920" cy="45720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Goal</a:t>
            </a:r>
            <a:endParaRPr lang="en-US" sz="1800" dirty="0"/>
          </a:p>
        </p:txBody>
      </p:sp>
      <p:sp>
        <p:nvSpPr>
          <p:cNvPr id="18" name="Text 13"/>
          <p:cNvSpPr txBox="1"/>
          <p:nvPr/>
        </p:nvSpPr>
        <p:spPr>
          <a:xfrm>
            <a:off x="6309360" y="320040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Route each request to the replica most likely to hold its prefix without overloading it, and measure the effect against the baselines.</a:t>
            </a:r>
            <a:endParaRPr lang="en-US" sz="1400" dirty="0"/>
          </a:p>
        </p:txBody>
      </p:sp>
      <p:sp>
        <p:nvSpPr>
          <p:cNvPr id="19" name="Text 14"/>
          <p:cNvSpPr txBox="1"/>
          <p:nvPr/>
        </p:nvSpPr>
        <p:spPr>
          <a:xfrm>
            <a:off x="457200" y="4434840"/>
            <a:ext cx="7680960" cy="27432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Measured by: median and 95th-percentile time to first token, cache reuse and load balance, on four real GPUs.</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Each GPU keeps its own cache</a:t>
            </a:r>
            <a:endParaRPr lang="en-US" sz="3200" dirty="0"/>
          </a:p>
        </p:txBody>
      </p:sp>
      <p:sp>
        <p:nvSpPr>
          <p:cNvPr id="3" name="Text 1"/>
          <p:cNvSpPr txBox="1"/>
          <p:nvPr/>
        </p:nvSpPr>
        <p:spPr>
          <a:xfrm>
            <a:off x="457200" y="1188720"/>
            <a:ext cx="4297680" cy="3474720"/>
          </a:xfrm>
          <a:prstGeom prst="rect">
            <a:avLst/>
          </a:prstGeom>
          <a:noFill/>
          <a:ln/>
        </p:spPr>
        <p:txBody>
          <a:bodyPr wrap="square" lIns="0" tIns="0" rIns="0" bIns="0" rtlCol="0" anchor="t"/>
          <a:lstStyle/>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Prefill reads the whole prompt.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The model processes every prompt token and stores the attention keys and values it will reuse while generating. That store is the KV cache, and the work grows with prompt length.</a:t>
            </a:r>
            <a:endParaRPr lang="en-US" sz="1400" dirty="0"/>
          </a:p>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Prefix caching skips repeated work.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vLLM keeps the KV cache of finished prompts in blocks of 16 tokens. A new prompt that begins with the same full blocks skips prefill for them. A 1,600-token prefix is 100 blocks.</a:t>
            </a:r>
            <a:endParaRPr lang="en-US" sz="1400" dirty="0"/>
          </a:p>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Caches are not shared.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Only the replica that handled the earlier prompt holds it. A balancer that ignores this may send the request to a replica that must prefill everything again.</a:t>
            </a:r>
            <a:endParaRPr lang="en-US" sz="1400" dirty="0"/>
          </a:p>
        </p:txBody>
      </p:sp>
      <p:sp>
        <p:nvSpPr>
          <p:cNvPr id="4" name="Problem diagram panel"/>
          <p:cNvSpPr/>
          <p:nvPr/>
        </p:nvSpPr>
        <p:spPr>
          <a:xfrm>
            <a:off x="4937760" y="1188720"/>
            <a:ext cx="3749040" cy="3429000"/>
          </a:xfrm>
          <a:prstGeom prst="roundRect">
            <a:avLst>
              <a:gd name="adj" fmla="val 2133"/>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Request box"/>
          <p:cNvSpPr/>
          <p:nvPr/>
        </p:nvSpPr>
        <p:spPr>
          <a:xfrm>
            <a:off x="5486400" y="1371600"/>
            <a:ext cx="2651760" cy="548640"/>
          </a:xfrm>
          <a:prstGeom prst="roundRect">
            <a:avLst>
              <a:gd name="adj" fmla="val 13333"/>
            </a:avLst>
          </a:prstGeom>
          <a:solidFill>
            <a:schemeClr val="tx1"/>
          </a:solidFill>
          <a:ln w="12700">
            <a:solidFill>
              <a:schemeClr val="tx1"/>
            </a:solidFill>
            <a:prstDash val="solid"/>
          </a:ln>
        </p:spPr>
      </p:sp>
      <p:sp>
        <p:nvSpPr>
          <p:cNvPr id="6" name="Text 4"/>
          <p:cNvSpPr txBox="1"/>
          <p:nvPr/>
        </p:nvSpPr>
        <p:spPr>
          <a:xfrm>
            <a:off x="5486400" y="1371600"/>
            <a:ext cx="2651760"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Request with a shared prefix</a:t>
            </a:r>
            <a:endParaRPr lang="en-US" sz="1400" dirty="0"/>
          </a:p>
        </p:txBody>
      </p:sp>
      <p:sp>
        <p:nvSpPr>
          <p:cNvPr id="7" name="Arrow to GPU A"/>
          <p:cNvSpPr/>
          <p:nvPr/>
        </p:nvSpPr>
        <p:spPr>
          <a:xfrm>
            <a:off x="5486400" y="1920240"/>
            <a:ext cx="1325880" cy="822960"/>
          </a:xfrm>
          <a:prstGeom prst="line">
            <a:avLst/>
          </a:prstGeom>
          <a:noFill/>
          <a:ln w="22225">
            <a:solidFill>
              <a:schemeClr val="accent1"/>
            </a:solidFill>
            <a:prstDash val="solid"/>
            <a:tailEnd type="triangle"/>
          </a:ln>
        </p:spPr>
      </p:sp>
      <p:sp>
        <p:nvSpPr>
          <p:cNvPr id="8" name="GPU A"/>
          <p:cNvSpPr/>
          <p:nvPr/>
        </p:nvSpPr>
        <p:spPr>
          <a:xfrm>
            <a:off x="5120640" y="2743200"/>
            <a:ext cx="731520" cy="731520"/>
          </a:xfrm>
          <a:prstGeom prst="roundRect">
            <a:avLst>
              <a:gd name="adj" fmla="val 10000"/>
            </a:avLst>
          </a:prstGeom>
          <a:solidFill>
            <a:schemeClr val="accent1"/>
          </a:solidFill>
          <a:ln w="12700">
            <a:solidFill>
              <a:schemeClr val="accent1"/>
            </a:solidFill>
            <a:prstDash val="solid"/>
          </a:ln>
        </p:spPr>
      </p:sp>
      <p:sp>
        <p:nvSpPr>
          <p:cNvPr id="9" name="Text 7"/>
          <p:cNvSpPr txBox="1"/>
          <p:nvPr/>
        </p:nvSpPr>
        <p:spPr>
          <a:xfrm>
            <a:off x="5120640" y="2743200"/>
            <a:ext cx="7315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GPU A</a:t>
            </a:r>
            <a:endParaRPr lang="en-US" sz="1400" dirty="0"/>
          </a:p>
        </p:txBody>
      </p:sp>
      <p:sp>
        <p:nvSpPr>
          <p:cNvPr id="10" name="Text 8"/>
          <p:cNvSpPr txBox="1"/>
          <p:nvPr/>
        </p:nvSpPr>
        <p:spPr>
          <a:xfrm>
            <a:off x="5029200" y="3547872"/>
            <a:ext cx="914400" cy="274320"/>
          </a:xfrm>
          <a:prstGeom prst="rect">
            <a:avLst/>
          </a:prstGeom>
          <a:noFill/>
          <a:ln/>
        </p:spPr>
        <p:txBody>
          <a:bodyPr wrap="square" lIns="0" tIns="0" rIns="0" bIns="0" rtlCol="0" anchor="t"/>
          <a:lstStyle/>
          <a:p>
            <a:pPr algn="ctr" indent="0" marL="0">
              <a:buNone/>
            </a:pPr>
            <a:r>
              <a:rPr lang="en-US" sz="1100" b="1" dirty="0">
                <a:solidFill>
                  <a:schemeClr val="accent1"/>
                </a:solidFill>
                <a:latin typeface="Calibri" pitchFamily="34" charset="0"/>
                <a:ea typeface="Calibri" pitchFamily="34" charset="-122"/>
                <a:cs typeface="Calibri" pitchFamily="34" charset="-120"/>
              </a:rPr>
              <a:t>prefix cached</a:t>
            </a:r>
            <a:endParaRPr lang="en-US" sz="1100" dirty="0"/>
          </a:p>
        </p:txBody>
      </p:sp>
      <p:sp>
        <p:nvSpPr>
          <p:cNvPr id="11" name="Arrow to GPU B"/>
          <p:cNvSpPr/>
          <p:nvPr/>
        </p:nvSpPr>
        <p:spPr>
          <a:xfrm>
            <a:off x="6400800" y="1920240"/>
            <a:ext cx="411480" cy="822960"/>
          </a:xfrm>
          <a:prstGeom prst="line">
            <a:avLst/>
          </a:prstGeom>
          <a:noFill/>
          <a:ln w="22225">
            <a:solidFill>
              <a:schemeClr val="accent4"/>
            </a:solidFill>
            <a:prstDash val="solid"/>
            <a:tailEnd type="triangle"/>
          </a:ln>
        </p:spPr>
      </p:sp>
      <p:sp>
        <p:nvSpPr>
          <p:cNvPr id="12" name="GPU B"/>
          <p:cNvSpPr/>
          <p:nvPr/>
        </p:nvSpPr>
        <p:spPr>
          <a:xfrm>
            <a:off x="6035040" y="2743200"/>
            <a:ext cx="731520" cy="731520"/>
          </a:xfrm>
          <a:prstGeom prst="roundRect">
            <a:avLst>
              <a:gd name="adj" fmla="val 10000"/>
            </a:avLst>
          </a:prstGeom>
          <a:solidFill>
            <a:schemeClr val="bg1"/>
          </a:solidFill>
          <a:ln w="12700">
            <a:solidFill>
              <a:schemeClr val="accent4"/>
            </a:solidFill>
            <a:prstDash val="solid"/>
          </a:ln>
        </p:spPr>
      </p:sp>
      <p:sp>
        <p:nvSpPr>
          <p:cNvPr id="13" name="Text 11"/>
          <p:cNvSpPr txBox="1"/>
          <p:nvPr/>
        </p:nvSpPr>
        <p:spPr>
          <a:xfrm>
            <a:off x="60350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B</a:t>
            </a:r>
            <a:endParaRPr lang="en-US" sz="1400" dirty="0"/>
          </a:p>
        </p:txBody>
      </p:sp>
      <p:sp>
        <p:nvSpPr>
          <p:cNvPr id="14" name="Text 12"/>
          <p:cNvSpPr txBox="1"/>
          <p:nvPr/>
        </p:nvSpPr>
        <p:spPr>
          <a:xfrm>
            <a:off x="59436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15" name="Arrow to GPU C"/>
          <p:cNvSpPr/>
          <p:nvPr/>
        </p:nvSpPr>
        <p:spPr>
          <a:xfrm>
            <a:off x="6812280" y="1920240"/>
            <a:ext cx="502920" cy="822960"/>
          </a:xfrm>
          <a:prstGeom prst="line">
            <a:avLst/>
          </a:prstGeom>
          <a:noFill/>
          <a:ln w="22225">
            <a:solidFill>
              <a:schemeClr val="accent4"/>
            </a:solidFill>
            <a:prstDash val="solid"/>
            <a:tailEnd type="triangle"/>
          </a:ln>
        </p:spPr>
      </p:sp>
      <p:sp>
        <p:nvSpPr>
          <p:cNvPr id="16" name="GPU C"/>
          <p:cNvSpPr/>
          <p:nvPr/>
        </p:nvSpPr>
        <p:spPr>
          <a:xfrm>
            <a:off x="6949440" y="2743200"/>
            <a:ext cx="731520" cy="731520"/>
          </a:xfrm>
          <a:prstGeom prst="roundRect">
            <a:avLst>
              <a:gd name="adj" fmla="val 10000"/>
            </a:avLst>
          </a:prstGeom>
          <a:solidFill>
            <a:schemeClr val="bg1"/>
          </a:solidFill>
          <a:ln w="12700">
            <a:solidFill>
              <a:schemeClr val="accent4"/>
            </a:solidFill>
            <a:prstDash val="solid"/>
          </a:ln>
        </p:spPr>
      </p:sp>
      <p:sp>
        <p:nvSpPr>
          <p:cNvPr id="17" name="Text 15"/>
          <p:cNvSpPr txBox="1"/>
          <p:nvPr/>
        </p:nvSpPr>
        <p:spPr>
          <a:xfrm>
            <a:off x="69494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C</a:t>
            </a:r>
            <a:endParaRPr lang="en-US" sz="1400" dirty="0"/>
          </a:p>
        </p:txBody>
      </p:sp>
      <p:sp>
        <p:nvSpPr>
          <p:cNvPr id="18" name="Text 16"/>
          <p:cNvSpPr txBox="1"/>
          <p:nvPr/>
        </p:nvSpPr>
        <p:spPr>
          <a:xfrm>
            <a:off x="68580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19" name="Arrow to GPU D"/>
          <p:cNvSpPr/>
          <p:nvPr/>
        </p:nvSpPr>
        <p:spPr>
          <a:xfrm>
            <a:off x="6812280" y="1920240"/>
            <a:ext cx="1417320" cy="822960"/>
          </a:xfrm>
          <a:prstGeom prst="line">
            <a:avLst/>
          </a:prstGeom>
          <a:noFill/>
          <a:ln w="22225">
            <a:solidFill>
              <a:schemeClr val="accent4"/>
            </a:solidFill>
            <a:prstDash val="solid"/>
            <a:tailEnd type="triangle"/>
          </a:ln>
        </p:spPr>
      </p:sp>
      <p:sp>
        <p:nvSpPr>
          <p:cNvPr id="20" name="GPU D"/>
          <p:cNvSpPr/>
          <p:nvPr/>
        </p:nvSpPr>
        <p:spPr>
          <a:xfrm>
            <a:off x="7863840" y="2743200"/>
            <a:ext cx="731520" cy="731520"/>
          </a:xfrm>
          <a:prstGeom prst="roundRect">
            <a:avLst>
              <a:gd name="adj" fmla="val 10000"/>
            </a:avLst>
          </a:prstGeom>
          <a:solidFill>
            <a:schemeClr val="bg1"/>
          </a:solidFill>
          <a:ln w="12700">
            <a:solidFill>
              <a:schemeClr val="accent4"/>
            </a:solidFill>
            <a:prstDash val="solid"/>
          </a:ln>
        </p:spPr>
      </p:sp>
      <p:sp>
        <p:nvSpPr>
          <p:cNvPr id="21" name="Text 19"/>
          <p:cNvSpPr txBox="1"/>
          <p:nvPr/>
        </p:nvSpPr>
        <p:spPr>
          <a:xfrm>
            <a:off x="78638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D</a:t>
            </a:r>
            <a:endParaRPr lang="en-US" sz="1400" dirty="0"/>
          </a:p>
        </p:txBody>
      </p:sp>
      <p:sp>
        <p:nvSpPr>
          <p:cNvPr id="22" name="Text 20"/>
          <p:cNvSpPr txBox="1"/>
          <p:nvPr/>
        </p:nvSpPr>
        <p:spPr>
          <a:xfrm>
            <a:off x="77724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23" name="Text 21"/>
          <p:cNvSpPr txBox="1"/>
          <p:nvPr/>
        </p:nvSpPr>
        <p:spPr>
          <a:xfrm>
            <a:off x="5166360" y="3886200"/>
            <a:ext cx="3291840" cy="59436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Only one replica can skip the repeated prefill. Where the request lands decides whether the cache is used.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What a cache hit is worth</a:t>
            </a:r>
            <a:endParaRPr lang="en-US" sz="3200" dirty="0"/>
          </a:p>
        </p:txBody>
      </p:sp>
      <p:sp>
        <p:nvSpPr>
          <p:cNvPr id="3" name="Stat card 1"/>
          <p:cNvSpPr/>
          <p:nvPr/>
        </p:nvSpPr>
        <p:spPr>
          <a:xfrm>
            <a:off x="45720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594360" y="1325880"/>
            <a:ext cx="2286000" cy="685800"/>
          </a:xfrm>
          <a:prstGeom prst="rect">
            <a:avLst/>
          </a:prstGeom>
          <a:noFill/>
          <a:ln/>
        </p:spPr>
        <p:txBody>
          <a:bodyPr wrap="square" lIns="0" tIns="0" rIns="0" bIns="0" rtlCol="0" anchor="ctr"/>
          <a:lstStyle/>
          <a:p>
            <a:pPr algn="ctr" indent="0" marL="0">
              <a:buNone/>
            </a:pPr>
            <a:r>
              <a:rPr lang="en-US" sz="3400" b="1" dirty="0">
                <a:solidFill>
                  <a:schemeClr val="tx1"/>
                </a:solidFill>
                <a:latin typeface="Cambria" pitchFamily="34" charset="0"/>
                <a:ea typeface="Cambria" pitchFamily="34" charset="-122"/>
                <a:cs typeface="Cambria" pitchFamily="34" charset="-120"/>
              </a:rPr>
              <a:t>2,061 ms</a:t>
            </a:r>
            <a:endParaRPr lang="en-US" sz="3400" dirty="0"/>
          </a:p>
        </p:txBody>
      </p:sp>
      <p:sp>
        <p:nvSpPr>
          <p:cNvPr id="5" name="Text 3"/>
          <p:cNvSpPr txBox="1"/>
          <p:nvPr/>
        </p:nvSpPr>
        <p:spPr>
          <a:xfrm>
            <a:off x="59436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time to first token, empty cache</a:t>
            </a:r>
            <a:endParaRPr lang="en-US" sz="1400" dirty="0"/>
          </a:p>
        </p:txBody>
      </p:sp>
      <p:sp>
        <p:nvSpPr>
          <p:cNvPr id="6" name="Stat card 2"/>
          <p:cNvSpPr/>
          <p:nvPr/>
        </p:nvSpPr>
        <p:spPr>
          <a:xfrm>
            <a:off x="329184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3429000" y="1325880"/>
            <a:ext cx="2286000" cy="685800"/>
          </a:xfrm>
          <a:prstGeom prst="rect">
            <a:avLst/>
          </a:prstGeom>
          <a:noFill/>
          <a:ln/>
        </p:spPr>
        <p:txBody>
          <a:bodyPr wrap="square" lIns="0" tIns="0" rIns="0" bIns="0" rtlCol="0" anchor="ctr"/>
          <a:lstStyle/>
          <a:p>
            <a:pPr algn="ctr" indent="0" marL="0">
              <a:buNone/>
            </a:pPr>
            <a:r>
              <a:rPr lang="en-US" sz="3400" b="1" dirty="0">
                <a:solidFill>
                  <a:schemeClr val="accent1"/>
                </a:solidFill>
                <a:latin typeface="Cambria" pitchFamily="34" charset="0"/>
                <a:ea typeface="Cambria" pitchFamily="34" charset="-122"/>
                <a:cs typeface="Cambria" pitchFamily="34" charset="-120"/>
              </a:rPr>
              <a:t>74 ms</a:t>
            </a:r>
            <a:endParaRPr lang="en-US" sz="3400" dirty="0"/>
          </a:p>
        </p:txBody>
      </p:sp>
      <p:sp>
        <p:nvSpPr>
          <p:cNvPr id="8" name="Text 6"/>
          <p:cNvSpPr txBox="1"/>
          <p:nvPr/>
        </p:nvSpPr>
        <p:spPr>
          <a:xfrm>
            <a:off x="342900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time to first token, prefix cached</a:t>
            </a:r>
            <a:endParaRPr lang="en-US" sz="1400" dirty="0"/>
          </a:p>
        </p:txBody>
      </p:sp>
      <p:sp>
        <p:nvSpPr>
          <p:cNvPr id="9" name="Stat card 3"/>
          <p:cNvSpPr/>
          <p:nvPr/>
        </p:nvSpPr>
        <p:spPr>
          <a:xfrm>
            <a:off x="612648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6263640" y="1325880"/>
            <a:ext cx="2286000" cy="685800"/>
          </a:xfrm>
          <a:prstGeom prst="rect">
            <a:avLst/>
          </a:prstGeom>
          <a:noFill/>
          <a:ln/>
        </p:spPr>
        <p:txBody>
          <a:bodyPr wrap="square" lIns="0" tIns="0" rIns="0" bIns="0" rtlCol="0" anchor="ctr"/>
          <a:lstStyle/>
          <a:p>
            <a:pPr algn="ctr" indent="0" marL="0">
              <a:buNone/>
            </a:pPr>
            <a:r>
              <a:rPr lang="en-US" sz="2600" b="1" dirty="0">
                <a:solidFill>
                  <a:schemeClr val="tx1"/>
                </a:solidFill>
                <a:latin typeface="Cambria" pitchFamily="34" charset="0"/>
                <a:ea typeface="Cambria" pitchFamily="34" charset="-122"/>
                <a:cs typeface="Cambria" pitchFamily="34" charset="-120"/>
              </a:rPr>
              <a:t>1,600 of 1,617</a:t>
            </a:r>
            <a:endParaRPr lang="en-US" sz="2600" dirty="0"/>
          </a:p>
        </p:txBody>
      </p:sp>
      <p:sp>
        <p:nvSpPr>
          <p:cNvPr id="11" name="Text 9"/>
          <p:cNvSpPr txBox="1"/>
          <p:nvPr/>
        </p:nvSpPr>
        <p:spPr>
          <a:xfrm>
            <a:off x="626364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prompt tokens reused from cache</a:t>
            </a:r>
            <a:endParaRPr lang="en-US" sz="1400" dirty="0"/>
          </a:p>
        </p:txBody>
      </p:sp>
      <p:sp>
        <p:nvSpPr>
          <p:cNvPr id="12" name="Text 10"/>
          <p:cNvSpPr txBox="1"/>
          <p:nvPr/>
        </p:nvSpPr>
        <p:spPr>
          <a:xfrm>
            <a:off x="457200" y="2834640"/>
            <a:ext cx="274320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Time to first token</a:t>
            </a:r>
            <a:endParaRPr lang="en-US" sz="1400" dirty="0"/>
          </a:p>
        </p:txBody>
      </p:sp>
      <p:sp>
        <p:nvSpPr>
          <p:cNvPr id="13" name="Cold bar"/>
          <p:cNvSpPr/>
          <p:nvPr/>
        </p:nvSpPr>
        <p:spPr>
          <a:xfrm>
            <a:off x="1828800" y="3200400"/>
            <a:ext cx="6583680" cy="365760"/>
          </a:xfrm>
          <a:prstGeom prst="rect">
            <a:avLst/>
          </a:prstGeom>
          <a:solidFill>
            <a:schemeClr val="accent5"/>
          </a:solidFill>
          <a:ln w="12700">
            <a:solidFill>
              <a:schemeClr val="accent5"/>
            </a:solidFill>
            <a:prstDash val="solid"/>
          </a:ln>
        </p:spPr>
      </p:sp>
      <p:sp>
        <p:nvSpPr>
          <p:cNvPr id="14" name="Warm bar"/>
          <p:cNvSpPr/>
          <p:nvPr/>
        </p:nvSpPr>
        <p:spPr>
          <a:xfrm>
            <a:off x="1828800" y="3703320"/>
            <a:ext cx="236386" cy="365760"/>
          </a:xfrm>
          <a:prstGeom prst="rect">
            <a:avLst/>
          </a:prstGeom>
          <a:solidFill>
            <a:schemeClr val="accent1"/>
          </a:solidFill>
          <a:ln w="12700">
            <a:solidFill>
              <a:schemeClr val="accent1"/>
            </a:solidFill>
            <a:prstDash val="solid"/>
          </a:ln>
        </p:spPr>
      </p:sp>
      <p:sp>
        <p:nvSpPr>
          <p:cNvPr id="15" name="Text 13"/>
          <p:cNvSpPr txBox="1"/>
          <p:nvPr/>
        </p:nvSpPr>
        <p:spPr>
          <a:xfrm>
            <a:off x="457200" y="3200400"/>
            <a:ext cx="1280160" cy="3657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Cold</a:t>
            </a:r>
            <a:endParaRPr lang="en-US" sz="1400" dirty="0"/>
          </a:p>
        </p:txBody>
      </p:sp>
      <p:sp>
        <p:nvSpPr>
          <p:cNvPr id="16" name="Text 14"/>
          <p:cNvSpPr txBox="1"/>
          <p:nvPr/>
        </p:nvSpPr>
        <p:spPr>
          <a:xfrm>
            <a:off x="457200" y="3703320"/>
            <a:ext cx="1280160" cy="3657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Cached</a:t>
            </a:r>
            <a:endParaRPr lang="en-US" sz="1400" dirty="0"/>
          </a:p>
        </p:txBody>
      </p:sp>
      <p:sp>
        <p:nvSpPr>
          <p:cNvPr id="17" name="Text 15"/>
          <p:cNvSpPr txBox="1"/>
          <p:nvPr/>
        </p:nvSpPr>
        <p:spPr>
          <a:xfrm>
            <a:off x="2174914" y="3703320"/>
            <a:ext cx="1097280" cy="36576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74 ms</a:t>
            </a:r>
            <a:endParaRPr lang="en-US" sz="1400" dirty="0"/>
          </a:p>
        </p:txBody>
      </p:sp>
      <p:sp>
        <p:nvSpPr>
          <p:cNvPr id="18" name="Text 16"/>
          <p:cNvSpPr txBox="1"/>
          <p:nvPr/>
        </p:nvSpPr>
        <p:spPr>
          <a:xfrm>
            <a:off x="457200" y="4206240"/>
            <a:ext cx="8229600" cy="64008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One Tesla T4 running vLLM with Qwen2.5-3B-Instruct. The same system prompt of about 1,600 tokens was sent in three requests; only the first met an empty cache. The saving is the prefill of the matched blocks, so it appears in time to first token, not in the time per generated token.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idea</a:t>
            </a:r>
            <a:endParaRPr lang="en-US" sz="3200" dirty="0"/>
          </a:p>
        </p:txBody>
      </p:sp>
      <p:sp>
        <p:nvSpPr>
          <p:cNvPr id="3" name="Text 1"/>
          <p:cNvSpPr txBox="1"/>
          <p:nvPr/>
        </p:nvSpPr>
        <p:spPr>
          <a:xfrm>
            <a:off x="457200" y="1188720"/>
            <a:ext cx="8229600" cy="822960"/>
          </a:xfrm>
          <a:prstGeom prst="rect">
            <a:avLst/>
          </a:prstGeom>
          <a:noFill/>
          <a:ln/>
        </p:spPr>
        <p:txBody>
          <a:bodyPr wrap="square" lIns="0" tIns="0" rIns="0" bIns="0" rtlCol="0" anchor="t"/>
          <a:lstStyle/>
          <a:p>
            <a:pPr indent="0" marL="0">
              <a:buNone/>
            </a:pPr>
            <a:r>
              <a:rPr lang="en-US" sz="2400" dirty="0">
                <a:solidFill>
                  <a:schemeClr val="tx1"/>
                </a:solidFill>
                <a:latin typeface="Cambria" pitchFamily="34" charset="0"/>
                <a:ea typeface="Cambria" pitchFamily="34" charset="-122"/>
                <a:cs typeface="Cambria" pitchFamily="34" charset="-120"/>
              </a:rPr>
              <a:t>Maximise cache reuse while keeping every request inside its response-time target.</a:t>
            </a:r>
            <a:endParaRPr lang="en-US" sz="2400" dirty="0"/>
          </a:p>
        </p:txBody>
      </p:sp>
      <p:sp>
        <p:nvSpPr>
          <p:cNvPr id="4" name="Principle card 1"/>
          <p:cNvSpPr/>
          <p:nvPr/>
        </p:nvSpPr>
        <p:spPr>
          <a:xfrm>
            <a:off x="45720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Principle 1 badge"/>
          <p:cNvSpPr/>
          <p:nvPr/>
        </p:nvSpPr>
        <p:spPr>
          <a:xfrm>
            <a:off x="640080" y="2377440"/>
            <a:ext cx="548640" cy="548640"/>
          </a:xfrm>
          <a:prstGeom prst="ellipse">
            <a:avLst/>
          </a:prstGeom>
          <a:solidFill>
            <a:srgbClr val="0E8F7E"/>
          </a:solidFill>
          <a:ln w="12700">
            <a:solidFill>
              <a:srgbClr val="0E8F7E"/>
            </a:solidFill>
            <a:prstDash val="solid"/>
          </a:ln>
        </p:spPr>
      </p:sp>
      <p:pic>
        <p:nvPicPr>
          <p:cNvPr id="6" name="Principle 1 icon" descr="preencoded.png">    </p:cNvPr>
          <p:cNvPicPr>
            <a:picLocks noChangeAspect="1"/>
          </p:cNvPicPr>
          <p:nvPr/>
        </p:nvPicPr>
        <p:blipFill>
          <a:blip r:embed="rId1"/>
          <a:stretch>
            <a:fillRect/>
          </a:stretch>
        </p:blipFill>
        <p:spPr>
          <a:xfrm>
            <a:off x="782726" y="2520086"/>
            <a:ext cx="263347" cy="263347"/>
          </a:xfrm>
          <a:prstGeom prst="rect">
            <a:avLst/>
          </a:prstGeom>
        </p:spPr>
      </p:pic>
      <p:sp>
        <p:nvSpPr>
          <p:cNvPr id="7" name="Text 4"/>
          <p:cNvSpPr txBox="1"/>
          <p:nvPr/>
        </p:nvSpPr>
        <p:spPr>
          <a:xfrm>
            <a:off x="64008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Remember</a:t>
            </a:r>
            <a:endParaRPr lang="en-US" sz="1800" dirty="0"/>
          </a:p>
        </p:txBody>
      </p:sp>
      <p:sp>
        <p:nvSpPr>
          <p:cNvPr id="8" name="Text 5"/>
          <p:cNvSpPr txBox="1"/>
          <p:nvPr/>
        </p:nvSpPr>
        <p:spPr>
          <a:xfrm>
            <a:off x="64008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The router keeps an index from prompt-block hashes to the replicas that hold them, updated as it routes.</a:t>
            </a:r>
            <a:endParaRPr lang="en-US" sz="1400" dirty="0"/>
          </a:p>
        </p:txBody>
      </p:sp>
      <p:sp>
        <p:nvSpPr>
          <p:cNvPr id="9" name="Principle card 2"/>
          <p:cNvSpPr/>
          <p:nvPr/>
        </p:nvSpPr>
        <p:spPr>
          <a:xfrm>
            <a:off x="329184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0" name="Principle 2 badge"/>
          <p:cNvSpPr/>
          <p:nvPr/>
        </p:nvSpPr>
        <p:spPr>
          <a:xfrm>
            <a:off x="3474720" y="2377440"/>
            <a:ext cx="548640" cy="548640"/>
          </a:xfrm>
          <a:prstGeom prst="ellipse">
            <a:avLst/>
          </a:prstGeom>
          <a:solidFill>
            <a:srgbClr val="0E8F7E"/>
          </a:solidFill>
          <a:ln w="12700">
            <a:solidFill>
              <a:srgbClr val="0E8F7E"/>
            </a:solidFill>
            <a:prstDash val="solid"/>
          </a:ln>
        </p:spPr>
      </p:sp>
      <p:pic>
        <p:nvPicPr>
          <p:cNvPr id="11" name="Principle 2 icon" descr="preencoded.png">    </p:cNvPr>
          <p:cNvPicPr>
            <a:picLocks noChangeAspect="1"/>
          </p:cNvPicPr>
          <p:nvPr/>
        </p:nvPicPr>
        <p:blipFill>
          <a:blip r:embed="rId2"/>
          <a:stretch>
            <a:fillRect/>
          </a:stretch>
        </p:blipFill>
        <p:spPr>
          <a:xfrm>
            <a:off x="3617366" y="2520086"/>
            <a:ext cx="263347" cy="263347"/>
          </a:xfrm>
          <a:prstGeom prst="rect">
            <a:avLst/>
          </a:prstGeom>
        </p:spPr>
      </p:pic>
      <p:sp>
        <p:nvSpPr>
          <p:cNvPr id="12" name="Text 8"/>
          <p:cNvSpPr txBox="1"/>
          <p:nvPr/>
        </p:nvSpPr>
        <p:spPr>
          <a:xfrm>
            <a:off x="347472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Match</a:t>
            </a:r>
            <a:endParaRPr lang="en-US" sz="1800" dirty="0"/>
          </a:p>
        </p:txBody>
      </p:sp>
      <p:sp>
        <p:nvSpPr>
          <p:cNvPr id="13" name="Text 9"/>
          <p:cNvSpPr txBox="1"/>
          <p:nvPr/>
        </p:nvSpPr>
        <p:spPr>
          <a:xfrm>
            <a:off x="347472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For each request it counts how many leading blocks every replica holds. The longest match is the best candidate.</a:t>
            </a:r>
            <a:endParaRPr lang="en-US" sz="1400" dirty="0"/>
          </a:p>
        </p:txBody>
      </p:sp>
      <p:sp>
        <p:nvSpPr>
          <p:cNvPr id="14" name="Principle card 3"/>
          <p:cNvSpPr/>
          <p:nvPr/>
        </p:nvSpPr>
        <p:spPr>
          <a:xfrm>
            <a:off x="612648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5" name="Principle 3 badge"/>
          <p:cNvSpPr/>
          <p:nvPr/>
        </p:nvSpPr>
        <p:spPr>
          <a:xfrm>
            <a:off x="6309360" y="2377440"/>
            <a:ext cx="548640" cy="548640"/>
          </a:xfrm>
          <a:prstGeom prst="ellipse">
            <a:avLst/>
          </a:prstGeom>
          <a:solidFill>
            <a:srgbClr val="0E8F7E"/>
          </a:solidFill>
          <a:ln w="12700">
            <a:solidFill>
              <a:srgbClr val="0E8F7E"/>
            </a:solidFill>
            <a:prstDash val="solid"/>
          </a:ln>
        </p:spPr>
      </p:sp>
      <p:pic>
        <p:nvPicPr>
          <p:cNvPr id="16" name="Principle 3 icon" descr="preencoded.png">    </p:cNvPr>
          <p:cNvPicPr>
            <a:picLocks noChangeAspect="1"/>
          </p:cNvPicPr>
          <p:nvPr/>
        </p:nvPicPr>
        <p:blipFill>
          <a:blip r:embed="rId3"/>
          <a:stretch>
            <a:fillRect/>
          </a:stretch>
        </p:blipFill>
        <p:spPr>
          <a:xfrm>
            <a:off x="6452006" y="2520086"/>
            <a:ext cx="263347" cy="263347"/>
          </a:xfrm>
          <a:prstGeom prst="rect">
            <a:avLst/>
          </a:prstGeom>
        </p:spPr>
      </p:pic>
      <p:sp>
        <p:nvSpPr>
          <p:cNvPr id="17" name="Text 12"/>
          <p:cNvSpPr txBox="1"/>
          <p:nvPr/>
        </p:nvSpPr>
        <p:spPr>
          <a:xfrm>
            <a:off x="630936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Protect</a:t>
            </a:r>
            <a:endParaRPr lang="en-US" sz="1800" dirty="0"/>
          </a:p>
        </p:txBody>
      </p:sp>
      <p:sp>
        <p:nvSpPr>
          <p:cNvPr id="18" name="Text 13"/>
          <p:cNvSpPr txBox="1"/>
          <p:nvPr/>
        </p:nvSpPr>
        <p:spPr>
          <a:xfrm>
            <a:off x="630936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latency estimate rules out a candidate that would miss the target, so cache affinity never creates a hot spot on its own.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Why it is a trade-off</a:t>
            </a:r>
            <a:endParaRPr lang="en-US" sz="3200" dirty="0"/>
          </a:p>
        </p:txBody>
      </p:sp>
      <p:sp>
        <p:nvSpPr>
          <p:cNvPr id="3" name="Trade-off card 1"/>
          <p:cNvSpPr/>
          <p:nvPr/>
        </p:nvSpPr>
        <p:spPr>
          <a:xfrm>
            <a:off x="45720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rade-off marker 1"/>
          <p:cNvSpPr/>
          <p:nvPr/>
        </p:nvSpPr>
        <p:spPr>
          <a:xfrm>
            <a:off x="640080" y="1371600"/>
            <a:ext cx="411480" cy="411480"/>
          </a:xfrm>
          <a:prstGeom prst="ellipse">
            <a:avLst/>
          </a:prstGeom>
          <a:solidFill>
            <a:schemeClr val="accent3"/>
          </a:solidFill>
          <a:ln w="12700">
            <a:solidFill>
              <a:schemeClr val="accent3"/>
            </a:solidFill>
            <a:prstDash val="solid"/>
          </a:ln>
        </p:spPr>
      </p:sp>
      <p:sp>
        <p:nvSpPr>
          <p:cNvPr id="5" name="Text 3"/>
          <p:cNvSpPr txBox="1"/>
          <p:nvPr/>
        </p:nvSpPr>
        <p:spPr>
          <a:xfrm>
            <a:off x="118872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Stick to the cache</a:t>
            </a:r>
            <a:endParaRPr lang="en-US" sz="1700" dirty="0"/>
          </a:p>
        </p:txBody>
      </p:sp>
      <p:sp>
        <p:nvSpPr>
          <p:cNvPr id="6" name="Text 4"/>
          <p:cNvSpPr txBox="1"/>
          <p:nvPr/>
        </p:nvSpPr>
        <p:spPr>
          <a:xfrm>
            <a:off x="64008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Gain: prefill is skipped for every matched block.</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Risk: popular prefixes pile onto one replica, its queue grows and latency rises.</a:t>
            </a:r>
            <a:endParaRPr lang="en-US" sz="1400" dirty="0"/>
          </a:p>
        </p:txBody>
      </p:sp>
      <p:sp>
        <p:nvSpPr>
          <p:cNvPr id="7" name="Trade-off card 2"/>
          <p:cNvSpPr/>
          <p:nvPr/>
        </p:nvSpPr>
        <p:spPr>
          <a:xfrm>
            <a:off x="329184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8" name="Trade-off marker 2"/>
          <p:cNvSpPr/>
          <p:nvPr/>
        </p:nvSpPr>
        <p:spPr>
          <a:xfrm>
            <a:off x="3474720" y="1371600"/>
            <a:ext cx="411480" cy="411480"/>
          </a:xfrm>
          <a:prstGeom prst="ellipse">
            <a:avLst/>
          </a:prstGeom>
          <a:solidFill>
            <a:schemeClr val="accent5"/>
          </a:solidFill>
          <a:ln w="12700">
            <a:solidFill>
              <a:schemeClr val="accent5"/>
            </a:solidFill>
            <a:prstDash val="solid"/>
          </a:ln>
        </p:spPr>
      </p:sp>
      <p:sp>
        <p:nvSpPr>
          <p:cNvPr id="9" name="Text 7"/>
          <p:cNvSpPr txBox="1"/>
          <p:nvPr/>
        </p:nvSpPr>
        <p:spPr>
          <a:xfrm>
            <a:off x="402336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Spread evenly</a:t>
            </a:r>
            <a:endParaRPr lang="en-US" sz="1700" dirty="0"/>
          </a:p>
        </p:txBody>
      </p:sp>
      <p:sp>
        <p:nvSpPr>
          <p:cNvPr id="10" name="Text 8"/>
          <p:cNvSpPr txBox="1"/>
          <p:nvPr/>
        </p:nvSpPr>
        <p:spPr>
          <a:xfrm>
            <a:off x="347472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Gain: queues stay balanced.</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Risk: every replica sees every prefix, so each cache holds copies of everything and evicts useful blocks. In this setup a node caches only about 6,000 tokens.</a:t>
            </a:r>
            <a:endParaRPr lang="en-US" sz="1400" dirty="0"/>
          </a:p>
        </p:txBody>
      </p:sp>
      <p:sp>
        <p:nvSpPr>
          <p:cNvPr id="11" name="Trade-off card 3"/>
          <p:cNvSpPr/>
          <p:nvPr/>
        </p:nvSpPr>
        <p:spPr>
          <a:xfrm>
            <a:off x="612648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2" name="Trade-off marker 3"/>
          <p:cNvSpPr/>
          <p:nvPr/>
        </p:nvSpPr>
        <p:spPr>
          <a:xfrm>
            <a:off x="6309360" y="1371600"/>
            <a:ext cx="411480" cy="411480"/>
          </a:xfrm>
          <a:prstGeom prst="ellipse">
            <a:avLst/>
          </a:prstGeom>
          <a:solidFill>
            <a:schemeClr val="accent1"/>
          </a:solidFill>
          <a:ln w="12700">
            <a:solidFill>
              <a:schemeClr val="accent1"/>
            </a:solidFill>
            <a:prstDash val="solid"/>
          </a:ln>
        </p:spPr>
      </p:sp>
      <p:sp>
        <p:nvSpPr>
          <p:cNvPr id="13" name="Text 11"/>
          <p:cNvSpPr txBox="1"/>
          <p:nvPr/>
        </p:nvSpPr>
        <p:spPr>
          <a:xfrm>
            <a:off x="685800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Balance both</a:t>
            </a:r>
            <a:endParaRPr lang="en-US" sz="1700" dirty="0"/>
          </a:p>
        </p:txBody>
      </p:sp>
      <p:sp>
        <p:nvSpPr>
          <p:cNvPr id="14" name="Text 12"/>
          <p:cNvSpPr txBox="1"/>
          <p:nvPr/>
        </p:nvSpPr>
        <p:spPr>
          <a:xfrm>
            <a:off x="630936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Use the longest match unless the latency estimate says that replica would miss the target.</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Then fall back to the least-loaded replica.</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System architecture</a:t>
            </a:r>
            <a:endParaRPr lang="en-US" sz="3200" dirty="0"/>
          </a:p>
        </p:txBody>
      </p:sp>
      <p:sp>
        <p:nvSpPr>
          <p:cNvPr id="3" name="Console panel"/>
          <p:cNvSpPr/>
          <p:nvPr/>
        </p:nvSpPr>
        <p:spPr>
          <a:xfrm>
            <a:off x="457200" y="1280160"/>
            <a:ext cx="1828800" cy="2286000"/>
          </a:xfrm>
          <a:prstGeom prst="roundRect">
            <a:avLst>
              <a:gd name="adj" fmla="val 4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594360" y="1389888"/>
            <a:ext cx="1554480" cy="3200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Web console</a:t>
            </a:r>
            <a:endParaRPr lang="en-US" sz="1600" dirty="0"/>
          </a:p>
        </p:txBody>
      </p:sp>
      <p:sp>
        <p:nvSpPr>
          <p:cNvPr id="5" name="Text 3"/>
          <p:cNvSpPr txBox="1"/>
          <p:nvPr/>
        </p:nvSpPr>
        <p:spPr>
          <a:xfrm>
            <a:off x="594360" y="1783080"/>
            <a:ext cx="1554480" cy="1463040"/>
          </a:xfrm>
          <a:prstGeom prst="rect">
            <a:avLst/>
          </a:prstGeom>
          <a:noFill/>
          <a:ln/>
        </p:spPr>
        <p:txBody>
          <a:bodyPr wrap="square" lIns="0" tIns="0" rIns="0" bIns="0" rtlCol="0" anchor="t"/>
          <a:lstStyle/>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Playground</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Load test</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Live routing</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Dashboard</a:t>
            </a:r>
            <a:endParaRPr lang="en-US" sz="1400" dirty="0"/>
          </a:p>
        </p:txBody>
      </p:sp>
      <p:sp>
        <p:nvSpPr>
          <p:cNvPr id="6" name="Router panel"/>
          <p:cNvSpPr/>
          <p:nvPr/>
        </p:nvSpPr>
        <p:spPr>
          <a:xfrm>
            <a:off x="2834640" y="1051560"/>
            <a:ext cx="2834640" cy="2834640"/>
          </a:xfrm>
          <a:prstGeom prst="roundRect">
            <a:avLst>
              <a:gd name="adj" fmla="val 2581"/>
            </a:avLst>
          </a:prstGeom>
          <a:solidFill>
            <a:schemeClr val="tx1"/>
          </a:solidFill>
          <a:ln w="12700">
            <a:solidFill>
              <a:schemeClr val="tx1"/>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3017520" y="1143000"/>
            <a:ext cx="2468880" cy="3200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Router (FastAPI)</a:t>
            </a:r>
            <a:endParaRPr lang="en-US" sz="1600" dirty="0"/>
          </a:p>
        </p:txBody>
      </p:sp>
      <p:sp>
        <p:nvSpPr>
          <p:cNvPr id="8" name="Admission control"/>
          <p:cNvSpPr/>
          <p:nvPr/>
        </p:nvSpPr>
        <p:spPr>
          <a:xfrm>
            <a:off x="3017520" y="1554480"/>
            <a:ext cx="2468880" cy="603504"/>
          </a:xfrm>
          <a:prstGeom prst="roundRect">
            <a:avLst>
              <a:gd name="adj" fmla="val 9091"/>
            </a:avLst>
          </a:prstGeom>
          <a:solidFill>
            <a:schemeClr val="tx2"/>
          </a:solidFill>
          <a:ln w="12700">
            <a:solidFill>
              <a:schemeClr val="tx2"/>
            </a:solidFill>
            <a:prstDash val="solid"/>
          </a:ln>
        </p:spPr>
      </p:sp>
      <p:sp>
        <p:nvSpPr>
          <p:cNvPr id="9" name="Text 7"/>
          <p:cNvSpPr txBox="1"/>
          <p:nvPr/>
        </p:nvSpPr>
        <p:spPr>
          <a:xfrm>
            <a:off x="3017520" y="1554480"/>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Admission control</a:t>
            </a:r>
            <a:endParaRPr lang="en-US" sz="1400" dirty="0"/>
          </a:p>
        </p:txBody>
      </p:sp>
      <p:sp>
        <p:nvSpPr>
          <p:cNvPr id="10" name="Routing policy"/>
          <p:cNvSpPr/>
          <p:nvPr/>
        </p:nvSpPr>
        <p:spPr>
          <a:xfrm>
            <a:off x="3017520" y="2304288"/>
            <a:ext cx="2468880" cy="603504"/>
          </a:xfrm>
          <a:prstGeom prst="roundRect">
            <a:avLst>
              <a:gd name="adj" fmla="val 9091"/>
            </a:avLst>
          </a:prstGeom>
          <a:solidFill>
            <a:schemeClr val="accent1"/>
          </a:solidFill>
          <a:ln w="12700">
            <a:solidFill>
              <a:schemeClr val="accent1"/>
            </a:solidFill>
            <a:prstDash val="solid"/>
          </a:ln>
        </p:spPr>
      </p:sp>
      <p:sp>
        <p:nvSpPr>
          <p:cNvPr id="11" name="Text 9"/>
          <p:cNvSpPr txBox="1"/>
          <p:nvPr/>
        </p:nvSpPr>
        <p:spPr>
          <a:xfrm>
            <a:off x="3017520" y="2304288"/>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Routing policy</a:t>
            </a:r>
            <a:endParaRPr lang="en-US" sz="1400" dirty="0"/>
          </a:p>
        </p:txBody>
      </p:sp>
      <p:sp>
        <p:nvSpPr>
          <p:cNvPr id="12" name="Streaming proxy"/>
          <p:cNvSpPr/>
          <p:nvPr/>
        </p:nvSpPr>
        <p:spPr>
          <a:xfrm>
            <a:off x="3017520" y="3054096"/>
            <a:ext cx="2468880" cy="603504"/>
          </a:xfrm>
          <a:prstGeom prst="roundRect">
            <a:avLst>
              <a:gd name="adj" fmla="val 9091"/>
            </a:avLst>
          </a:prstGeom>
          <a:solidFill>
            <a:schemeClr val="tx2"/>
          </a:solidFill>
          <a:ln w="12700">
            <a:solidFill>
              <a:schemeClr val="tx2"/>
            </a:solidFill>
            <a:prstDash val="solid"/>
          </a:ln>
        </p:spPr>
      </p:sp>
      <p:sp>
        <p:nvSpPr>
          <p:cNvPr id="13" name="Text 11"/>
          <p:cNvSpPr txBox="1"/>
          <p:nvPr/>
        </p:nvSpPr>
        <p:spPr>
          <a:xfrm>
            <a:off x="3017520" y="3054096"/>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Streaming proxy</a:t>
            </a:r>
            <a:endParaRPr lang="en-US" sz="1400" dirty="0"/>
          </a:p>
        </p:txBody>
      </p:sp>
      <p:sp>
        <p:nvSpPr>
          <p:cNvPr id="14" name="Replica A"/>
          <p:cNvSpPr/>
          <p:nvPr/>
        </p:nvSpPr>
        <p:spPr>
          <a:xfrm>
            <a:off x="6720840" y="914400"/>
            <a:ext cx="1965960" cy="640080"/>
          </a:xfrm>
          <a:prstGeom prst="roundRect">
            <a:avLst>
              <a:gd name="adj" fmla="val 8571"/>
            </a:avLst>
          </a:prstGeom>
          <a:solidFill>
            <a:schemeClr val="bg2"/>
          </a:solidFill>
          <a:ln w="12700">
            <a:solidFill>
              <a:schemeClr val="accent4"/>
            </a:solidFill>
            <a:prstDash val="solid"/>
          </a:ln>
        </p:spPr>
      </p:sp>
      <p:sp>
        <p:nvSpPr>
          <p:cNvPr id="15" name="Text 13"/>
          <p:cNvSpPr txBox="1"/>
          <p:nvPr/>
        </p:nvSpPr>
        <p:spPr>
          <a:xfrm>
            <a:off x="6720840" y="91440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A</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16" name="Replica B"/>
          <p:cNvSpPr/>
          <p:nvPr/>
        </p:nvSpPr>
        <p:spPr>
          <a:xfrm>
            <a:off x="6720840" y="1691640"/>
            <a:ext cx="1965960" cy="640080"/>
          </a:xfrm>
          <a:prstGeom prst="roundRect">
            <a:avLst>
              <a:gd name="adj" fmla="val 8571"/>
            </a:avLst>
          </a:prstGeom>
          <a:solidFill>
            <a:schemeClr val="bg2"/>
          </a:solidFill>
          <a:ln w="12700">
            <a:solidFill>
              <a:schemeClr val="accent4"/>
            </a:solidFill>
            <a:prstDash val="solid"/>
          </a:ln>
        </p:spPr>
      </p:sp>
      <p:sp>
        <p:nvSpPr>
          <p:cNvPr id="17" name="Text 15"/>
          <p:cNvSpPr txBox="1"/>
          <p:nvPr/>
        </p:nvSpPr>
        <p:spPr>
          <a:xfrm>
            <a:off x="6720840" y="169164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B</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18" name="Replica C"/>
          <p:cNvSpPr/>
          <p:nvPr/>
        </p:nvSpPr>
        <p:spPr>
          <a:xfrm>
            <a:off x="6720840" y="2468880"/>
            <a:ext cx="1965960" cy="640080"/>
          </a:xfrm>
          <a:prstGeom prst="roundRect">
            <a:avLst>
              <a:gd name="adj" fmla="val 8571"/>
            </a:avLst>
          </a:prstGeom>
          <a:solidFill>
            <a:schemeClr val="bg2"/>
          </a:solidFill>
          <a:ln w="12700">
            <a:solidFill>
              <a:schemeClr val="accent4"/>
            </a:solidFill>
            <a:prstDash val="solid"/>
          </a:ln>
        </p:spPr>
      </p:sp>
      <p:sp>
        <p:nvSpPr>
          <p:cNvPr id="19" name="Text 17"/>
          <p:cNvSpPr txBox="1"/>
          <p:nvPr/>
        </p:nvSpPr>
        <p:spPr>
          <a:xfrm>
            <a:off x="6720840" y="246888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C</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20" name="Replica D"/>
          <p:cNvSpPr/>
          <p:nvPr/>
        </p:nvSpPr>
        <p:spPr>
          <a:xfrm>
            <a:off x="6720840" y="3246120"/>
            <a:ext cx="1965960" cy="640080"/>
          </a:xfrm>
          <a:prstGeom prst="roundRect">
            <a:avLst>
              <a:gd name="adj" fmla="val 8571"/>
            </a:avLst>
          </a:prstGeom>
          <a:solidFill>
            <a:schemeClr val="bg2"/>
          </a:solidFill>
          <a:ln w="12700">
            <a:solidFill>
              <a:schemeClr val="accent4"/>
            </a:solidFill>
            <a:prstDash val="solid"/>
          </a:ln>
        </p:spPr>
      </p:sp>
      <p:sp>
        <p:nvSpPr>
          <p:cNvPr id="21" name="Text 19"/>
          <p:cNvSpPr txBox="1"/>
          <p:nvPr/>
        </p:nvSpPr>
        <p:spPr>
          <a:xfrm>
            <a:off x="6720840" y="324612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D</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22" name="Console to router"/>
          <p:cNvSpPr/>
          <p:nvPr/>
        </p:nvSpPr>
        <p:spPr>
          <a:xfrm>
            <a:off x="2331720" y="2468880"/>
            <a:ext cx="457200" cy="0"/>
          </a:xfrm>
          <a:prstGeom prst="line">
            <a:avLst/>
          </a:prstGeom>
          <a:noFill/>
          <a:ln w="22225">
            <a:solidFill>
              <a:schemeClr val="tx1"/>
            </a:solidFill>
            <a:prstDash val="solid"/>
            <a:tailEnd type="triangle"/>
          </a:ln>
        </p:spPr>
      </p:sp>
      <p:sp>
        <p:nvSpPr>
          <p:cNvPr id="23" name="Router to replicas"/>
          <p:cNvSpPr/>
          <p:nvPr/>
        </p:nvSpPr>
        <p:spPr>
          <a:xfrm>
            <a:off x="5715000" y="2468880"/>
            <a:ext cx="960120" cy="0"/>
          </a:xfrm>
          <a:prstGeom prst="line">
            <a:avLst/>
          </a:prstGeom>
          <a:noFill/>
          <a:ln w="22225">
            <a:solidFill>
              <a:schemeClr val="tx1"/>
            </a:solidFill>
            <a:prstDash val="solid"/>
            <a:tailEnd type="triangle"/>
          </a:ln>
        </p:spPr>
      </p:sp>
      <p:sp>
        <p:nvSpPr>
          <p:cNvPr id="24" name="Text 22"/>
          <p:cNvSpPr txBox="1"/>
          <p:nvPr/>
        </p:nvSpPr>
        <p:spPr>
          <a:xfrm>
            <a:off x="5577840" y="2697480"/>
            <a:ext cx="1188720" cy="457200"/>
          </a:xfrm>
          <a:prstGeom prst="rect">
            <a:avLst/>
          </a:prstGeom>
          <a:noFill/>
          <a:ln/>
        </p:spPr>
        <p:txBody>
          <a:bodyPr wrap="square" lIns="0" tIns="0" rIns="0" bIns="0" rtlCol="0" anchor="t"/>
          <a:lstStyle/>
          <a:p>
            <a:pPr algn="ctr" indent="0" marL="0">
              <a:buNone/>
            </a:pPr>
            <a:r>
              <a:rPr lang="en-US" sz="1100" dirty="0">
                <a:solidFill>
                  <a:schemeClr val="tx2"/>
                </a:solidFill>
                <a:latin typeface="Calibri" pitchFamily="34" charset="0"/>
                <a:ea typeface="Calibri" pitchFamily="34" charset="-122"/>
                <a:cs typeface="Calibri" pitchFamily="34" charset="-120"/>
              </a:rPr>
              <a:t>HTTPS tunnels</a:t>
            </a:r>
            <a:endParaRPr lang="en-US" sz="1100" dirty="0"/>
          </a:p>
        </p:txBody>
      </p:sp>
      <p:sp>
        <p:nvSpPr>
          <p:cNvPr id="25" name="Text 23"/>
          <p:cNvSpPr txBox="1"/>
          <p:nvPr/>
        </p:nvSpPr>
        <p:spPr>
          <a:xfrm>
            <a:off x="457200" y="4069080"/>
            <a:ext cx="8229600" cy="7772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Router: </a:t>
            </a:r>
            <a:pPr indent="0" marL="0">
              <a:buNone/>
            </a:pPr>
            <a:r>
              <a:rPr lang="en-US" sz="1400" dirty="0">
                <a:solidFill>
                  <a:schemeClr val="tx2"/>
                </a:solidFill>
                <a:latin typeface="Calibri" pitchFamily="34" charset="0"/>
                <a:ea typeface="Calibri" pitchFamily="34" charset="-122"/>
                <a:cs typeface="Calibri" pitchFamily="34" charset="-120"/>
              </a:rPr>
              <a:t>chooses a replica and streams its response back. </a:t>
            </a:r>
            <a:pPr indent="0" marL="0">
              <a:buNone/>
            </a:pPr>
            <a:r>
              <a:rPr lang="en-US" sz="1400" b="1" dirty="0">
                <a:solidFill>
                  <a:schemeClr val="tx2"/>
                </a:solidFill>
                <a:latin typeface="Calibri" pitchFamily="34" charset="0"/>
                <a:ea typeface="Calibri" pitchFamily="34" charset="-122"/>
                <a:cs typeface="Calibri" pitchFamily="34" charset="-120"/>
              </a:rPr>
              <a:t>Replicas: </a:t>
            </a:r>
            <a:pPr indent="0" marL="0">
              <a:buNone/>
            </a:pPr>
            <a:r>
              <a:rPr lang="en-US" sz="1400" dirty="0">
                <a:solidFill>
                  <a:schemeClr val="tx2"/>
                </a:solidFill>
                <a:latin typeface="Calibri" pitchFamily="34" charset="0"/>
                <a:ea typeface="Calibri" pitchFamily="34" charset="-122"/>
                <a:cs typeface="Calibri" pitchFamily="34" charset="-120"/>
              </a:rPr>
              <a:t>vLLM with an OpenAI-compatible API, behind a small sidecar that also reports GPU use. </a:t>
            </a:r>
            <a:pPr indent="0" marL="0">
              <a:buNone/>
            </a:pPr>
            <a:r>
              <a:rPr lang="en-US" sz="1400" b="1" dirty="0">
                <a:solidFill>
                  <a:schemeClr val="tx2"/>
                </a:solidFill>
                <a:latin typeface="Calibri" pitchFamily="34" charset="0"/>
                <a:ea typeface="Calibri" pitchFamily="34" charset="-122"/>
                <a:cs typeface="Calibri" pitchFamily="34" charset="-120"/>
              </a:rPr>
              <a:t>Console: </a:t>
            </a:r>
            <a:pPr indent="0" marL="0">
              <a:buNone/>
            </a:pPr>
            <a:r>
              <a:rPr lang="en-US" sz="1400" dirty="0">
                <a:solidFill>
                  <a:schemeClr val="tx2"/>
                </a:solidFill>
                <a:latin typeface="Calibri" pitchFamily="34" charset="0"/>
                <a:ea typeface="Calibri" pitchFamily="34" charset="-122"/>
                <a:cs typeface="Calibri" pitchFamily="34" charset="-120"/>
              </a:rPr>
              <a:t>shows each routing step live from the router's event stream.</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the router decides</a:t>
            </a:r>
            <a:endParaRPr lang="en-US" sz="3200" dirty="0"/>
          </a:p>
        </p:txBody>
      </p:sp>
      <p:sp>
        <p:nvSpPr>
          <p:cNvPr id="3" name="Number 1"/>
          <p:cNvSpPr/>
          <p:nvPr/>
        </p:nvSpPr>
        <p:spPr>
          <a:xfrm>
            <a:off x="457200" y="1133856"/>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457200" y="11338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097280" y="107899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Split the prompt</a:t>
            </a:r>
            <a:endParaRPr lang="en-US" sz="1500" dirty="0"/>
          </a:p>
        </p:txBody>
      </p:sp>
      <p:sp>
        <p:nvSpPr>
          <p:cNvPr id="6" name="Text 4"/>
          <p:cNvSpPr txBox="1"/>
          <p:nvPr/>
        </p:nvSpPr>
        <p:spPr>
          <a:xfrm>
            <a:off x="3429000" y="107899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Tokenize the chat with the model's own tokenizer and cut it into 16-token blocks. Only full blocks are cacheable, as in vLLM.</a:t>
            </a:r>
            <a:endParaRPr lang="en-US" sz="1400" dirty="0"/>
          </a:p>
        </p:txBody>
      </p:sp>
      <p:sp>
        <p:nvSpPr>
          <p:cNvPr id="7" name="Number 2"/>
          <p:cNvSpPr/>
          <p:nvPr/>
        </p:nvSpPr>
        <p:spPr>
          <a:xfrm>
            <a:off x="457200" y="1865376"/>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457200" y="18653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097280" y="181051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Chain the hashes</a:t>
            </a:r>
            <a:endParaRPr lang="en-US" sz="1500" dirty="0"/>
          </a:p>
        </p:txBody>
      </p:sp>
      <p:sp>
        <p:nvSpPr>
          <p:cNvPr id="10" name="Text 8"/>
          <p:cNvSpPr txBox="1"/>
          <p:nvPr/>
        </p:nvSpPr>
        <p:spPr>
          <a:xfrm>
            <a:off x="3429000" y="181051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hash(block i) combines hash(block i-1) with the tokens of block i, so each hash identifies the whole prefix up to that block.</a:t>
            </a:r>
            <a:endParaRPr lang="en-US" sz="1400" dirty="0"/>
          </a:p>
        </p:txBody>
      </p:sp>
      <p:sp>
        <p:nvSpPr>
          <p:cNvPr id="11" name="Number 3"/>
          <p:cNvSpPr/>
          <p:nvPr/>
        </p:nvSpPr>
        <p:spPr>
          <a:xfrm>
            <a:off x="457200" y="2596896"/>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457200" y="25968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097280" y="254203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Find the longest match</a:t>
            </a:r>
            <a:endParaRPr lang="en-US" sz="1500" dirty="0"/>
          </a:p>
        </p:txBody>
      </p:sp>
      <p:sp>
        <p:nvSpPr>
          <p:cNvPr id="14" name="Text 12"/>
          <p:cNvSpPr txBox="1"/>
          <p:nvPr/>
        </p:nvSpPr>
        <p:spPr>
          <a:xfrm>
            <a:off x="3429000" y="254203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Count the leading blocks each replica holds. A match is eligible at 50% of the prompt or 256 tokens. Longest wins; ties go to the shorter queue.</a:t>
            </a:r>
            <a:endParaRPr lang="en-US" sz="1400" dirty="0"/>
          </a:p>
        </p:txBody>
      </p:sp>
      <p:sp>
        <p:nvSpPr>
          <p:cNvPr id="15" name="Number 4"/>
          <p:cNvSpPr/>
          <p:nvPr/>
        </p:nvSpPr>
        <p:spPr>
          <a:xfrm>
            <a:off x="457200" y="3328416"/>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457200" y="33284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097280" y="327355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Check the target</a:t>
            </a:r>
            <a:endParaRPr lang="en-US" sz="1500" dirty="0"/>
          </a:p>
        </p:txBody>
      </p:sp>
      <p:sp>
        <p:nvSpPr>
          <p:cNvPr id="18" name="Text 16"/>
          <p:cNvSpPr txBox="1"/>
          <p:nvPr/>
        </p:nvSpPr>
        <p:spPr>
          <a:xfrm>
            <a:off x="3429000" y="327355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Estimate latency from queue depth, recent average latency and batch capacity. A replica that would exceed the target is skipped.</a:t>
            </a:r>
            <a:endParaRPr lang="en-US" sz="1400" dirty="0"/>
          </a:p>
        </p:txBody>
      </p:sp>
      <p:sp>
        <p:nvSpPr>
          <p:cNvPr id="19" name="Number 5"/>
          <p:cNvSpPr/>
          <p:nvPr/>
        </p:nvSpPr>
        <p:spPr>
          <a:xfrm>
            <a:off x="457200" y="4059936"/>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457200" y="40599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097280" y="400507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Fall back to load</a:t>
            </a:r>
            <a:endParaRPr lang="en-US" sz="1500" dirty="0"/>
          </a:p>
        </p:txBody>
      </p:sp>
      <p:sp>
        <p:nvSpPr>
          <p:cNvPr id="22" name="Text 20"/>
          <p:cNvSpPr txBox="1"/>
          <p:nvPr/>
        </p:nvSpPr>
        <p:spPr>
          <a:xfrm>
            <a:off x="3429000" y="400507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With no usable match, pick the least-loaded replica. The chosen replica's blocks are recorded at once, so concurrent requests follow.</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Worked example</a:t>
            </a:r>
            <a:endParaRPr lang="en-US" sz="3200" dirty="0"/>
          </a:p>
        </p:txBody>
      </p:sp>
      <p:sp>
        <p:nvSpPr>
          <p:cNvPr id="3" name="Text 1"/>
          <p:cNvSpPr txBox="1"/>
          <p:nvPr/>
        </p:nvSpPr>
        <p:spPr>
          <a:xfrm>
            <a:off x="457200" y="1005840"/>
            <a:ext cx="8229600" cy="3200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Illustrative numbers chosen to show the arithmetic. A 600-token prompt contains 37 full blocks.</a:t>
            </a:r>
            <a:endParaRPr lang="en-US" sz="1400" dirty="0"/>
          </a:p>
        </p:txBody>
      </p:sp>
      <p:graphicFrame>
        <p:nvGraphicFramePr>
          <p:cNvPr id="10" name="Worked example table"/>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822960"/>
                <a:gridCol w="1005840"/>
                <a:gridCol w="2651760"/>
                <a:gridCol w="914400"/>
                <a:gridCol w="2834640"/>
              </a:tblGrid>
              <a:tr h="347472">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Replica</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Blocks held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Estimate</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Result</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30 of 37 = 81% (480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1.4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Eligible, longest 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r>
              <a:tr h="50292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12 of 37 = 32% (192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Not eligible: under 50% and under 256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0.8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 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0.5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 match, least loaded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5" name="Outcome card 1"/>
          <p:cNvSpPr/>
          <p:nvPr/>
        </p:nvSpPr>
        <p:spPr>
          <a:xfrm>
            <a:off x="457200" y="3611880"/>
            <a:ext cx="4023360" cy="1097280"/>
          </a:xfrm>
          <a:prstGeom prst="roundRect">
            <a:avLst>
              <a:gd name="adj" fmla="val 666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640080" y="3703320"/>
            <a:ext cx="365760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Target 3,000 ms</a:t>
            </a:r>
            <a:endParaRPr lang="en-US" sz="1600" dirty="0"/>
          </a:p>
        </p:txBody>
      </p:sp>
      <p:sp>
        <p:nvSpPr>
          <p:cNvPr id="7" name="Text 4"/>
          <p:cNvSpPr txBox="1"/>
          <p:nvPr/>
        </p:nvSpPr>
        <p:spPr>
          <a:xfrm>
            <a:off x="640080" y="4069080"/>
            <a:ext cx="3657600" cy="59436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is chosen. 480 of 600 prompt tokens skip prefill.</a:t>
            </a:r>
            <a:endParaRPr lang="en-US" sz="1400" dirty="0"/>
          </a:p>
        </p:txBody>
      </p:sp>
      <p:sp>
        <p:nvSpPr>
          <p:cNvPr id="8" name="Outcome card 2"/>
          <p:cNvSpPr/>
          <p:nvPr/>
        </p:nvSpPr>
        <p:spPr>
          <a:xfrm>
            <a:off x="4663440" y="3611880"/>
            <a:ext cx="4023360" cy="1097280"/>
          </a:xfrm>
          <a:prstGeom prst="roundRect">
            <a:avLst>
              <a:gd name="adj" fmla="val 666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846320" y="3703320"/>
            <a:ext cx="3657600" cy="320040"/>
          </a:xfrm>
          <a:prstGeom prst="rect">
            <a:avLst/>
          </a:prstGeom>
          <a:noFill/>
          <a:ln/>
        </p:spPr>
        <p:txBody>
          <a:bodyPr wrap="square" lIns="0" tIns="0" rIns="0" bIns="0" rtlCol="0" anchor="t"/>
          <a:lstStyle/>
          <a:p>
            <a:pPr indent="0" marL="0">
              <a:buNone/>
            </a:pPr>
            <a:r>
              <a:rPr lang="en-US" sz="1600" b="1" dirty="0">
                <a:solidFill>
                  <a:schemeClr val="accent5"/>
                </a:solidFill>
                <a:latin typeface="Calibri" pitchFamily="34" charset="0"/>
                <a:ea typeface="Calibri" pitchFamily="34" charset="-122"/>
                <a:cs typeface="Calibri" pitchFamily="34" charset="-120"/>
              </a:rPr>
              <a:t>If A's estimate were 3,400 ms</a:t>
            </a:r>
            <a:endParaRPr lang="en-US" sz="1600" dirty="0"/>
          </a:p>
        </p:txBody>
      </p:sp>
      <p:sp>
        <p:nvSpPr>
          <p:cNvPr id="10" name="Text 7"/>
          <p:cNvSpPr txBox="1"/>
          <p:nvPr/>
        </p:nvSpPr>
        <p:spPr>
          <a:xfrm>
            <a:off x="4846320" y="4069080"/>
            <a:ext cx="3657600" cy="59436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is vetoed. D, the least-loaded replica, is chosen and gets no cache benefit.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State and protection</a:t>
            </a:r>
            <a:endParaRPr lang="en-US" sz="3200" dirty="0"/>
          </a:p>
        </p:txBody>
      </p:sp>
      <p:sp>
        <p:nvSpPr>
          <p:cNvPr id="3" name="State card 1"/>
          <p:cNvSpPr/>
          <p:nvPr/>
        </p:nvSpPr>
        <p:spPr>
          <a:xfrm>
            <a:off x="457200" y="118872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State 1 badge"/>
          <p:cNvSpPr/>
          <p:nvPr/>
        </p:nvSpPr>
        <p:spPr>
          <a:xfrm>
            <a:off x="640080" y="1371600"/>
            <a:ext cx="502920" cy="502920"/>
          </a:xfrm>
          <a:prstGeom prst="ellipse">
            <a:avLst/>
          </a:prstGeom>
          <a:solidFill>
            <a:srgbClr val="0E8F7E"/>
          </a:solidFill>
          <a:ln w="12700">
            <a:solidFill>
              <a:srgbClr val="0E8F7E"/>
            </a:solidFill>
            <a:prstDash val="solid"/>
          </a:ln>
        </p:spPr>
      </p:sp>
      <p:pic>
        <p:nvPicPr>
          <p:cNvPr id="5" name="State 1 icon" descr="preencoded.png">    </p:cNvPr>
          <p:cNvPicPr>
            <a:picLocks noChangeAspect="1"/>
          </p:cNvPicPr>
          <p:nvPr/>
        </p:nvPicPr>
        <p:blipFill>
          <a:blip r:embed="rId1"/>
          <a:stretch>
            <a:fillRect/>
          </a:stretch>
        </p:blipFill>
        <p:spPr>
          <a:xfrm>
            <a:off x="770839" y="1502359"/>
            <a:ext cx="241402" cy="241402"/>
          </a:xfrm>
          <a:prstGeom prst="rect">
            <a:avLst/>
          </a:prstGeom>
        </p:spPr>
      </p:pic>
      <p:sp>
        <p:nvSpPr>
          <p:cNvPr id="6" name="Text 3"/>
          <p:cNvSpPr txBox="1"/>
          <p:nvPr/>
        </p:nvSpPr>
        <p:spPr>
          <a:xfrm>
            <a:off x="1325880" y="137160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Per-replica state</a:t>
            </a:r>
            <a:endParaRPr lang="en-US" sz="1700" dirty="0"/>
          </a:p>
        </p:txBody>
      </p:sp>
      <p:sp>
        <p:nvSpPr>
          <p:cNvPr id="7" name="Text 4"/>
          <p:cNvSpPr txBox="1"/>
          <p:nvPr/>
        </p:nvSpPr>
        <p:spPr>
          <a:xfrm>
            <a:off x="640080" y="199339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Requests in flight, a running average of latency, and queue depth and cache usage read from each replica's metrics.</a:t>
            </a:r>
            <a:endParaRPr lang="en-US" sz="1400" dirty="0"/>
          </a:p>
        </p:txBody>
      </p:sp>
      <p:sp>
        <p:nvSpPr>
          <p:cNvPr id="8" name="State card 2"/>
          <p:cNvSpPr/>
          <p:nvPr/>
        </p:nvSpPr>
        <p:spPr>
          <a:xfrm>
            <a:off x="4663440" y="118872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State 2 badge"/>
          <p:cNvSpPr/>
          <p:nvPr/>
        </p:nvSpPr>
        <p:spPr>
          <a:xfrm>
            <a:off x="4846320" y="1371600"/>
            <a:ext cx="502920" cy="502920"/>
          </a:xfrm>
          <a:prstGeom prst="ellipse">
            <a:avLst/>
          </a:prstGeom>
          <a:solidFill>
            <a:srgbClr val="0E8F7E"/>
          </a:solidFill>
          <a:ln w="12700">
            <a:solidFill>
              <a:srgbClr val="0E8F7E"/>
            </a:solidFill>
            <a:prstDash val="solid"/>
          </a:ln>
        </p:spPr>
      </p:sp>
      <p:pic>
        <p:nvPicPr>
          <p:cNvPr id="10" name="State 2 icon" descr="preencoded.png">    </p:cNvPr>
          <p:cNvPicPr>
            <a:picLocks noChangeAspect="1"/>
          </p:cNvPicPr>
          <p:nvPr/>
        </p:nvPicPr>
        <p:blipFill>
          <a:blip r:embed="rId2"/>
          <a:stretch>
            <a:fillRect/>
          </a:stretch>
        </p:blipFill>
        <p:spPr>
          <a:xfrm>
            <a:off x="4977079" y="1502359"/>
            <a:ext cx="241402" cy="241402"/>
          </a:xfrm>
          <a:prstGeom prst="rect">
            <a:avLst/>
          </a:prstGeom>
        </p:spPr>
      </p:pic>
      <p:sp>
        <p:nvSpPr>
          <p:cNvPr id="11" name="Text 7"/>
          <p:cNvSpPr txBox="1"/>
          <p:nvPr/>
        </p:nvSpPr>
        <p:spPr>
          <a:xfrm>
            <a:off x="5532120" y="137160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Admission control</a:t>
            </a:r>
            <a:endParaRPr lang="en-US" sz="1700" dirty="0"/>
          </a:p>
        </p:txBody>
      </p:sp>
      <p:sp>
        <p:nvSpPr>
          <p:cNvPr id="12" name="Text 8"/>
          <p:cNvSpPr txBox="1"/>
          <p:nvPr/>
        </p:nvSpPr>
        <p:spPr>
          <a:xfrm>
            <a:off x="4846320" y="199339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At most 256 requests are in flight. Beyond that the router answers with an error instead of queueing without bound.</a:t>
            </a:r>
            <a:endParaRPr lang="en-US" sz="1400" dirty="0"/>
          </a:p>
        </p:txBody>
      </p:sp>
      <p:sp>
        <p:nvSpPr>
          <p:cNvPr id="13" name="State card 3"/>
          <p:cNvSpPr/>
          <p:nvPr/>
        </p:nvSpPr>
        <p:spPr>
          <a:xfrm>
            <a:off x="457200" y="297180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State 3 badge"/>
          <p:cNvSpPr/>
          <p:nvPr/>
        </p:nvSpPr>
        <p:spPr>
          <a:xfrm>
            <a:off x="640080" y="3154680"/>
            <a:ext cx="502920" cy="502920"/>
          </a:xfrm>
          <a:prstGeom prst="ellipse">
            <a:avLst/>
          </a:prstGeom>
          <a:solidFill>
            <a:srgbClr val="0E8F7E"/>
          </a:solidFill>
          <a:ln w="12700">
            <a:solidFill>
              <a:srgbClr val="0E8F7E"/>
            </a:solidFill>
            <a:prstDash val="solid"/>
          </a:ln>
        </p:spPr>
      </p:sp>
      <p:pic>
        <p:nvPicPr>
          <p:cNvPr id="15" name="State 3 icon" descr="preencoded.png">    </p:cNvPr>
          <p:cNvPicPr>
            <a:picLocks noChangeAspect="1"/>
          </p:cNvPicPr>
          <p:nvPr/>
        </p:nvPicPr>
        <p:blipFill>
          <a:blip r:embed="rId3"/>
          <a:stretch>
            <a:fillRect/>
          </a:stretch>
        </p:blipFill>
        <p:spPr>
          <a:xfrm>
            <a:off x="770839" y="3285439"/>
            <a:ext cx="241402" cy="241402"/>
          </a:xfrm>
          <a:prstGeom prst="rect">
            <a:avLst/>
          </a:prstGeom>
        </p:spPr>
      </p:pic>
      <p:sp>
        <p:nvSpPr>
          <p:cNvPr id="16" name="Text 11"/>
          <p:cNvSpPr txBox="1"/>
          <p:nvPr/>
        </p:nvSpPr>
        <p:spPr>
          <a:xfrm>
            <a:off x="1325880" y="315468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Circuit breaker</a:t>
            </a:r>
            <a:endParaRPr lang="en-US" sz="1700" dirty="0"/>
          </a:p>
        </p:txBody>
      </p:sp>
      <p:sp>
        <p:nvSpPr>
          <p:cNvPr id="17" name="Text 12"/>
          <p:cNvSpPr txBox="1"/>
          <p:nvPr/>
        </p:nvSpPr>
        <p:spPr>
          <a:xfrm>
            <a:off x="640080" y="377647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Five consecutive failures open the circuit. After 10 seconds, doubling up to 120, a single probe request tests the replica.</a:t>
            </a:r>
            <a:endParaRPr lang="en-US" sz="1400" dirty="0"/>
          </a:p>
        </p:txBody>
      </p:sp>
      <p:sp>
        <p:nvSpPr>
          <p:cNvPr id="18" name="State card 4"/>
          <p:cNvSpPr/>
          <p:nvPr/>
        </p:nvSpPr>
        <p:spPr>
          <a:xfrm>
            <a:off x="4663440" y="297180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9" name="State 4 badge"/>
          <p:cNvSpPr/>
          <p:nvPr/>
        </p:nvSpPr>
        <p:spPr>
          <a:xfrm>
            <a:off x="4846320" y="3154680"/>
            <a:ext cx="502920" cy="502920"/>
          </a:xfrm>
          <a:prstGeom prst="ellipse">
            <a:avLst/>
          </a:prstGeom>
          <a:solidFill>
            <a:srgbClr val="0E8F7E"/>
          </a:solidFill>
          <a:ln w="12700">
            <a:solidFill>
              <a:srgbClr val="0E8F7E"/>
            </a:solidFill>
            <a:prstDash val="solid"/>
          </a:ln>
        </p:spPr>
      </p:sp>
      <p:pic>
        <p:nvPicPr>
          <p:cNvPr id="20" name="State 4 icon" descr="preencoded.png">    </p:cNvPr>
          <p:cNvPicPr>
            <a:picLocks noChangeAspect="1"/>
          </p:cNvPicPr>
          <p:nvPr/>
        </p:nvPicPr>
        <p:blipFill>
          <a:blip r:embed="rId4"/>
          <a:stretch>
            <a:fillRect/>
          </a:stretch>
        </p:blipFill>
        <p:spPr>
          <a:xfrm>
            <a:off x="4977079" y="3285439"/>
            <a:ext cx="241402" cy="241402"/>
          </a:xfrm>
          <a:prstGeom prst="rect">
            <a:avLst/>
          </a:prstGeom>
        </p:spPr>
      </p:pic>
      <p:sp>
        <p:nvSpPr>
          <p:cNvPr id="21" name="Text 15"/>
          <p:cNvSpPr txBox="1"/>
          <p:nvPr/>
        </p:nvSpPr>
        <p:spPr>
          <a:xfrm>
            <a:off x="5532120" y="315468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Retries</a:t>
            </a:r>
            <a:endParaRPr lang="en-US" sz="1700" dirty="0"/>
          </a:p>
        </p:txBody>
      </p:sp>
      <p:sp>
        <p:nvSpPr>
          <p:cNvPr id="22" name="Text 16"/>
          <p:cNvSpPr txBox="1"/>
          <p:nvPr/>
        </p:nvSpPr>
        <p:spPr>
          <a:xfrm>
            <a:off x="4846320" y="377647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Connection errors are retried on the same replica. There is no failover to another replica yet.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Four policies compared</a:t>
            </a:r>
            <a:endParaRPr lang="en-US" sz="3200" dirty="0"/>
          </a:p>
        </p:txBody>
      </p:sp>
      <p:graphicFrame>
        <p:nvGraphicFramePr>
          <p:cNvPr id="12" name="Policy 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2377440"/>
                <a:gridCol w="2103120"/>
                <a:gridCol w="2194560"/>
              </a:tblGrid>
              <a:tr h="36576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Policy</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What it looks at</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Strength</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Weakness</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7772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round_robin</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Nothing. Replicas take turns.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Simple and perfectly even.</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Ignores both load and cache. Every replica ends up caching every prefix.</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73152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least_connections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Requests currently in flight on each replica.</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Adapts as load changes.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Ignores which replica holds the cache.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86868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swiftserve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Session affinity, then a prefix trie over whole messages.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Keeps a conversation on one replica.</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Needs two shared messages. Single-turn traffic falls back to load.</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86868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prefix_aware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16-token block hashes, a load estimate and the response-time target.</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Reuses shared prefixes across different users and sessions.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index is a belief: it can go stale after cache evictions or failures.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Every request is traceable</a:t>
            </a:r>
            <a:endParaRPr lang="en-US" sz="3200" dirty="0"/>
          </a:p>
        </p:txBody>
      </p:sp>
      <p:pic>
        <p:nvPicPr>
          <p:cNvPr id="3" name="Routing decision screenshot" descr="Routing decision screenshot">    </p:cNvPr>
          <p:cNvPicPr>
            <a:picLocks noChangeAspect="1"/>
          </p:cNvPicPr>
          <p:nvPr/>
        </p:nvPicPr>
        <p:blipFill>
          <a:blip r:embed="rId1"/>
          <a:stretch>
            <a:fillRect/>
          </a:stretch>
        </p:blipFill>
        <p:spPr>
          <a:xfrm>
            <a:off x="457200" y="1148486"/>
            <a:ext cx="5120640" cy="2457907"/>
          </a:xfrm>
          <a:prstGeom prst="rect">
            <a:avLst/>
          </a:prstGeom>
          <a:effectLst>
            <a:outerShdw sx="100000" sy="100000" kx="0" ky="0" algn="bl" rotWithShape="0" blurRad="101600" dist="25400" dir="5400000">
              <a:srgbClr val="000000">
                <a:alpha val="12000"/>
              </a:srgbClr>
            </a:outerShdw>
          </a:effectLst>
        </p:spPr>
      </p:pic>
      <p:pic>
        <p:nvPicPr>
          <p:cNvPr id="4" name="Cache tokens screenshot" descr="Cache tokens screenshot">    </p:cNvPr>
          <p:cNvPicPr>
            <a:picLocks noChangeAspect="1"/>
          </p:cNvPicPr>
          <p:nvPr/>
        </p:nvPicPr>
        <p:blipFill>
          <a:blip r:embed="rId2"/>
          <a:stretch>
            <a:fillRect/>
          </a:stretch>
        </p:blipFill>
        <p:spPr>
          <a:xfrm>
            <a:off x="457200" y="3724028"/>
            <a:ext cx="5120640" cy="1055865"/>
          </a:xfrm>
          <a:prstGeom prst="rect">
            <a:avLst/>
          </a:prstGeom>
          <a:effectLst>
            <a:outerShdw sx="100000" sy="100000" kx="0" ky="0" algn="bl" rotWithShape="0" blurRad="101600" dist="25400" dir="5400000">
              <a:srgbClr val="000000">
                <a:alpha val="12000"/>
              </a:srgbClr>
            </a:outerShdw>
          </a:effectLst>
        </p:spPr>
      </p:pic>
      <p:sp>
        <p:nvSpPr>
          <p:cNvPr id="5" name="Text 1"/>
          <p:cNvSpPr txBox="1"/>
          <p:nvPr/>
        </p:nvSpPr>
        <p:spPr>
          <a:xfrm>
            <a:off x="5852160" y="1188720"/>
            <a:ext cx="283464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Selected, dispatched and served replica, kept separate because retries can make them differ</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routing decision and the reason for it</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Time to first token, inter-token latency and total time at the router</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Cached tokens reported by the engine, next to the router's prediction</a:t>
            </a:r>
            <a:endParaRPr lang="en-US" sz="1400" dirty="0"/>
          </a:p>
        </p:txBody>
      </p:sp>
      <p:sp>
        <p:nvSpPr>
          <p:cNvPr id="6" name="Text 2"/>
          <p:cNvSpPr txBox="1"/>
          <p:nvPr/>
        </p:nvSpPr>
        <p:spPr>
          <a:xfrm>
            <a:off x="5852160" y="3931920"/>
            <a:ext cx="2834640" cy="82296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Events: received, routing decision, dispatch, first token, completed, streamed live to the console.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latency is measured</a:t>
            </a:r>
            <a:endParaRPr lang="en-US" sz="3200" dirty="0"/>
          </a:p>
        </p:txBody>
      </p:sp>
      <p:sp>
        <p:nvSpPr>
          <p:cNvPr id="3" name="Timeline"/>
          <p:cNvSpPr/>
          <p:nvPr/>
        </p:nvSpPr>
        <p:spPr>
          <a:xfrm>
            <a:off x="1371600" y="1965960"/>
            <a:ext cx="6583680" cy="0"/>
          </a:xfrm>
          <a:prstGeom prst="line">
            <a:avLst/>
          </a:prstGeom>
          <a:noFill/>
          <a:ln w="25400">
            <a:solidFill>
              <a:schemeClr val="accent4"/>
            </a:solidFill>
            <a:prstDash val="solid"/>
          </a:ln>
        </p:spPr>
      </p:sp>
      <p:sp>
        <p:nvSpPr>
          <p:cNvPr id="4" name="Mark 1"/>
          <p:cNvSpPr/>
          <p:nvPr/>
        </p:nvSpPr>
        <p:spPr>
          <a:xfrm>
            <a:off x="1280160" y="1874520"/>
            <a:ext cx="182880" cy="182880"/>
          </a:xfrm>
          <a:prstGeom prst="ellipse">
            <a:avLst/>
          </a:prstGeom>
          <a:solidFill>
            <a:schemeClr val="accent1"/>
          </a:solidFill>
          <a:ln w="12700">
            <a:solidFill>
              <a:schemeClr val="accent1"/>
            </a:solidFill>
            <a:prstDash val="solid"/>
          </a:ln>
        </p:spPr>
      </p:sp>
      <p:sp>
        <p:nvSpPr>
          <p:cNvPr id="5" name="Text 3"/>
          <p:cNvSpPr txBox="1"/>
          <p:nvPr/>
        </p:nvSpPr>
        <p:spPr>
          <a:xfrm>
            <a:off x="54864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Request received</a:t>
            </a:r>
            <a:endParaRPr lang="en-US" sz="1400" dirty="0"/>
          </a:p>
        </p:txBody>
      </p:sp>
      <p:sp>
        <p:nvSpPr>
          <p:cNvPr id="6" name="Mark 2"/>
          <p:cNvSpPr/>
          <p:nvPr/>
        </p:nvSpPr>
        <p:spPr>
          <a:xfrm>
            <a:off x="3291840" y="1874520"/>
            <a:ext cx="182880" cy="182880"/>
          </a:xfrm>
          <a:prstGeom prst="ellipse">
            <a:avLst/>
          </a:prstGeom>
          <a:solidFill>
            <a:schemeClr val="accent1"/>
          </a:solidFill>
          <a:ln w="12700">
            <a:solidFill>
              <a:schemeClr val="accent1"/>
            </a:solidFill>
            <a:prstDash val="solid"/>
          </a:ln>
        </p:spPr>
      </p:sp>
      <p:sp>
        <p:nvSpPr>
          <p:cNvPr id="7" name="Text 5"/>
          <p:cNvSpPr txBox="1"/>
          <p:nvPr/>
        </p:nvSpPr>
        <p:spPr>
          <a:xfrm>
            <a:off x="256032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First token</a:t>
            </a:r>
            <a:endParaRPr lang="en-US" sz="1400" dirty="0"/>
          </a:p>
        </p:txBody>
      </p:sp>
      <p:sp>
        <p:nvSpPr>
          <p:cNvPr id="8" name="Mark 3"/>
          <p:cNvSpPr/>
          <p:nvPr/>
        </p:nvSpPr>
        <p:spPr>
          <a:xfrm>
            <a:off x="7406640" y="1874520"/>
            <a:ext cx="182880" cy="182880"/>
          </a:xfrm>
          <a:prstGeom prst="ellipse">
            <a:avLst/>
          </a:prstGeom>
          <a:solidFill>
            <a:schemeClr val="accent1"/>
          </a:solidFill>
          <a:ln w="12700">
            <a:solidFill>
              <a:schemeClr val="accent1"/>
            </a:solidFill>
            <a:prstDash val="solid"/>
          </a:ln>
        </p:spPr>
      </p:sp>
      <p:sp>
        <p:nvSpPr>
          <p:cNvPr id="9" name="Text 7"/>
          <p:cNvSpPr txBox="1"/>
          <p:nvPr/>
        </p:nvSpPr>
        <p:spPr>
          <a:xfrm>
            <a:off x="667512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Last token</a:t>
            </a:r>
            <a:endParaRPr lang="en-US" sz="1400" dirty="0"/>
          </a:p>
        </p:txBody>
      </p:sp>
      <p:sp>
        <p:nvSpPr>
          <p:cNvPr id="10" name="Text 8"/>
          <p:cNvSpPr txBox="1"/>
          <p:nvPr/>
        </p:nvSpPr>
        <p:spPr>
          <a:xfrm>
            <a:off x="1371600" y="1417320"/>
            <a:ext cx="2011680" cy="320040"/>
          </a:xfrm>
          <a:prstGeom prst="rect">
            <a:avLst/>
          </a:prstGeom>
          <a:noFill/>
          <a:ln/>
        </p:spPr>
        <p:txBody>
          <a:bodyPr wrap="square" lIns="0" tIns="0" rIns="0" bIns="0" rtlCol="0" anchor="t"/>
          <a:lstStyle/>
          <a:p>
            <a:pPr algn="ctr" indent="0" marL="0">
              <a:buNone/>
            </a:pPr>
            <a:r>
              <a:rPr lang="en-US" sz="1600" b="1" dirty="0">
                <a:solidFill>
                  <a:schemeClr val="accent1"/>
                </a:solidFill>
                <a:latin typeface="Calibri" pitchFamily="34" charset="0"/>
                <a:ea typeface="Calibri" pitchFamily="34" charset="-122"/>
                <a:cs typeface="Calibri" pitchFamily="34" charset="-120"/>
              </a:rPr>
              <a:t>TTFT</a:t>
            </a:r>
            <a:endParaRPr lang="en-US" sz="1600" dirty="0"/>
          </a:p>
        </p:txBody>
      </p:sp>
      <p:sp>
        <p:nvSpPr>
          <p:cNvPr id="11" name="Text 9"/>
          <p:cNvSpPr txBox="1"/>
          <p:nvPr/>
        </p:nvSpPr>
        <p:spPr>
          <a:xfrm>
            <a:off x="3383280" y="1417320"/>
            <a:ext cx="4114800" cy="320040"/>
          </a:xfrm>
          <a:prstGeom prst="rect">
            <a:avLst/>
          </a:prstGeom>
          <a:noFill/>
          <a:ln/>
        </p:spPr>
        <p:txBody>
          <a:bodyPr wrap="square" lIns="0" tIns="0" rIns="0" bIns="0" rtlCol="0" anchor="t"/>
          <a:lstStyle/>
          <a:p>
            <a:pPr algn="ctr" indent="0" marL="0">
              <a:buNone/>
            </a:pPr>
            <a:r>
              <a:rPr lang="en-US" sz="1600" b="1" dirty="0">
                <a:solidFill>
                  <a:schemeClr val="accent3"/>
                </a:solidFill>
                <a:latin typeface="Calibri" pitchFamily="34" charset="0"/>
                <a:ea typeface="Calibri" pitchFamily="34" charset="-122"/>
                <a:cs typeface="Calibri" pitchFamily="34" charset="-120"/>
              </a:rPr>
              <a:t>ITL: gaps between tokens</a:t>
            </a:r>
            <a:endParaRPr lang="en-US" sz="1600" dirty="0"/>
          </a:p>
        </p:txBody>
      </p:sp>
      <p:sp>
        <p:nvSpPr>
          <p:cNvPr id="12" name="Definition card 1"/>
          <p:cNvSpPr/>
          <p:nvPr/>
        </p:nvSpPr>
        <p:spPr>
          <a:xfrm>
            <a:off x="45720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64008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TTFT</a:t>
            </a:r>
            <a:endParaRPr lang="en-US" sz="1800" dirty="0"/>
          </a:p>
        </p:txBody>
      </p:sp>
      <p:sp>
        <p:nvSpPr>
          <p:cNvPr id="14" name="Text 12"/>
          <p:cNvSpPr txBox="1"/>
          <p:nvPr/>
        </p:nvSpPr>
        <p:spPr>
          <a:xfrm>
            <a:off x="64008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Time to first token</a:t>
            </a:r>
            <a:endParaRPr lang="en-US" sz="1400" dirty="0"/>
          </a:p>
        </p:txBody>
      </p:sp>
      <p:sp>
        <p:nvSpPr>
          <p:cNvPr id="15" name="Text 13"/>
          <p:cNvSpPr txBox="1"/>
          <p:nvPr/>
        </p:nvSpPr>
        <p:spPr>
          <a:xfrm>
            <a:off x="64008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Request arrival at the router to the first chunk that contains text. It includes routing, queueing and prefill.</a:t>
            </a:r>
            <a:endParaRPr lang="en-US" sz="1300" dirty="0"/>
          </a:p>
        </p:txBody>
      </p:sp>
      <p:sp>
        <p:nvSpPr>
          <p:cNvPr id="16" name="Definition card 2"/>
          <p:cNvSpPr/>
          <p:nvPr/>
        </p:nvSpPr>
        <p:spPr>
          <a:xfrm>
            <a:off x="329184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347472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ITL</a:t>
            </a:r>
            <a:endParaRPr lang="en-US" sz="1800" dirty="0"/>
          </a:p>
        </p:txBody>
      </p:sp>
      <p:sp>
        <p:nvSpPr>
          <p:cNvPr id="18" name="Text 16"/>
          <p:cNvSpPr txBox="1"/>
          <p:nvPr/>
        </p:nvSpPr>
        <p:spPr>
          <a:xfrm>
            <a:off x="347472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Inter-token latency</a:t>
            </a:r>
            <a:endParaRPr lang="en-US" sz="1400" dirty="0"/>
          </a:p>
        </p:txBody>
      </p:sp>
      <p:sp>
        <p:nvSpPr>
          <p:cNvPr id="19" name="Text 17"/>
          <p:cNvSpPr txBox="1"/>
          <p:nvPr/>
        </p:nvSpPr>
        <p:spPr>
          <a:xfrm>
            <a:off x="347472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(last text time − first text time) ÷ (text chunks − 1). A mean, because tunnels deliver chunks in bursts.</a:t>
            </a:r>
            <a:endParaRPr lang="en-US" sz="1300" dirty="0"/>
          </a:p>
        </p:txBody>
      </p:sp>
      <p:sp>
        <p:nvSpPr>
          <p:cNvPr id="20" name="Definition card 3"/>
          <p:cNvSpPr/>
          <p:nvPr/>
        </p:nvSpPr>
        <p:spPr>
          <a:xfrm>
            <a:off x="612648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21" name="Text 19"/>
          <p:cNvSpPr txBox="1"/>
          <p:nvPr/>
        </p:nvSpPr>
        <p:spPr>
          <a:xfrm>
            <a:off x="630936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Cache reuse</a:t>
            </a:r>
            <a:endParaRPr lang="en-US" sz="1800" dirty="0"/>
          </a:p>
        </p:txBody>
      </p:sp>
      <p:sp>
        <p:nvSpPr>
          <p:cNvPr id="22" name="Text 20"/>
          <p:cNvSpPr txBox="1"/>
          <p:nvPr/>
        </p:nvSpPr>
        <p:spPr>
          <a:xfrm>
            <a:off x="630936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Cached ÷ prompt tokens</a:t>
            </a:r>
            <a:endParaRPr lang="en-US" sz="1400" dirty="0"/>
          </a:p>
        </p:txBody>
      </p:sp>
      <p:sp>
        <p:nvSpPr>
          <p:cNvPr id="23" name="Text 21"/>
          <p:cNvSpPr txBox="1"/>
          <p:nvPr/>
        </p:nvSpPr>
        <p:spPr>
          <a:xfrm>
            <a:off x="630936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From the engine's usage report, compared with the router's prediction. Zero means a miss.</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A run through the router on four GPUs</a:t>
            </a:r>
            <a:endParaRPr lang="en-US" sz="3200" dirty="0"/>
          </a:p>
        </p:txBody>
      </p:sp>
      <p:graphicFrame>
        <p:nvGraphicFramePr>
          <p:cNvPr id="3" name="Chart 0" descr=""/>
          <p:cNvGraphicFramePr/>
          <p:nvPr/>
        </p:nvGraphicFramePr>
        <p:xfrm>
          <a:off x="457200" y="114300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4" name="Result card 1"/>
          <p:cNvSpPr/>
          <p:nvPr/>
        </p:nvSpPr>
        <p:spPr>
          <a:xfrm>
            <a:off x="4937760" y="1143000"/>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5074920" y="1143000"/>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60 of 60</a:t>
            </a:r>
            <a:endParaRPr lang="en-US" sz="1600" dirty="0"/>
          </a:p>
        </p:txBody>
      </p:sp>
      <p:sp>
        <p:nvSpPr>
          <p:cNvPr id="6" name="Text 3"/>
          <p:cNvSpPr txBox="1"/>
          <p:nvPr/>
        </p:nvSpPr>
        <p:spPr>
          <a:xfrm>
            <a:off x="6675120" y="1143000"/>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requests completed, concurrency 8</a:t>
            </a:r>
            <a:endParaRPr lang="en-US" sz="1200" dirty="0"/>
          </a:p>
        </p:txBody>
      </p:sp>
      <p:sp>
        <p:nvSpPr>
          <p:cNvPr id="7" name="Result card 2"/>
          <p:cNvSpPr/>
          <p:nvPr/>
        </p:nvSpPr>
        <p:spPr>
          <a:xfrm>
            <a:off x="4937760" y="1856232"/>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5074920" y="1856232"/>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374 / 4,944 ms</a:t>
            </a:r>
            <a:endParaRPr lang="en-US" sz="1600" dirty="0"/>
          </a:p>
        </p:txBody>
      </p:sp>
      <p:sp>
        <p:nvSpPr>
          <p:cNvPr id="9" name="Text 6"/>
          <p:cNvSpPr txBox="1"/>
          <p:nvPr/>
        </p:nvSpPr>
        <p:spPr>
          <a:xfrm>
            <a:off x="6675120" y="1856232"/>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time to first token, median / 95th percentile</a:t>
            </a:r>
            <a:endParaRPr lang="en-US" sz="1200" dirty="0"/>
          </a:p>
        </p:txBody>
      </p:sp>
      <p:sp>
        <p:nvSpPr>
          <p:cNvPr id="10" name="Result card 3"/>
          <p:cNvSpPr/>
          <p:nvPr/>
        </p:nvSpPr>
        <p:spPr>
          <a:xfrm>
            <a:off x="4937760" y="2569464"/>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5074920" y="2569464"/>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34.2 ms</a:t>
            </a:r>
            <a:endParaRPr lang="en-US" sz="1600" dirty="0"/>
          </a:p>
        </p:txBody>
      </p:sp>
      <p:sp>
        <p:nvSpPr>
          <p:cNvPr id="12" name="Text 9"/>
          <p:cNvSpPr txBox="1"/>
          <p:nvPr/>
        </p:nvSpPr>
        <p:spPr>
          <a:xfrm>
            <a:off x="6675120" y="2569464"/>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mean inter-token latency under load</a:t>
            </a:r>
            <a:endParaRPr lang="en-US" sz="1200" dirty="0"/>
          </a:p>
        </p:txBody>
      </p:sp>
      <p:sp>
        <p:nvSpPr>
          <p:cNvPr id="13" name="Result card 4"/>
          <p:cNvSpPr/>
          <p:nvPr/>
        </p:nvSpPr>
        <p:spPr>
          <a:xfrm>
            <a:off x="4937760" y="3282696"/>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Text 11"/>
          <p:cNvSpPr txBox="1"/>
          <p:nvPr/>
        </p:nvSpPr>
        <p:spPr>
          <a:xfrm>
            <a:off x="5074920" y="3282696"/>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16 and 16</a:t>
            </a:r>
            <a:endParaRPr lang="en-US" sz="1600" dirty="0"/>
          </a:p>
        </p:txBody>
      </p:sp>
      <p:sp>
        <p:nvSpPr>
          <p:cNvPr id="15" name="Text 12"/>
          <p:cNvSpPr txBox="1"/>
          <p:nvPr/>
        </p:nvSpPr>
        <p:spPr>
          <a:xfrm>
            <a:off x="6675120" y="3282696"/>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cached tokens predicted, and reported</a:t>
            </a:r>
            <a:endParaRPr lang="en-US" sz="1200" dirty="0"/>
          </a:p>
        </p:txBody>
      </p:sp>
      <p:sp>
        <p:nvSpPr>
          <p:cNvPr id="16" name="Text 13"/>
          <p:cNvSpPr txBox="1"/>
          <p:nvPr/>
        </p:nvSpPr>
        <p:spPr>
          <a:xfrm>
            <a:off x="457200" y="4114800"/>
            <a:ext cx="8229600" cy="6858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What this shows: </a:t>
            </a:r>
            <a:pPr indent="0" marL="0">
              <a:buNone/>
            </a:pPr>
            <a:r>
              <a:rPr lang="en-US" sz="1300" dirty="0">
                <a:solidFill>
                  <a:schemeClr val="tx2"/>
                </a:solidFill>
                <a:latin typeface="Calibri" pitchFamily="34" charset="0"/>
                <a:ea typeface="Calibri" pitchFamily="34" charset="-122"/>
                <a:cs typeface="Calibri" pitchFamily="34" charset="-120"/>
              </a:rPr>
              <a:t>requests flow through the router to four real GPUs, load spreads across them, and the router's cache prediction matched the engine. </a:t>
            </a:r>
            <a:pPr indent="0" marL="0">
              <a:buNone/>
            </a:pPr>
            <a:r>
              <a:rPr lang="en-US" sz="1300" b="1" dirty="0">
                <a:solidFill>
                  <a:schemeClr val="tx2"/>
                </a:solidFill>
                <a:latin typeface="Calibri" pitchFamily="34" charset="0"/>
                <a:ea typeface="Calibri" pitchFamily="34" charset="-122"/>
                <a:cs typeface="Calibri" pitchFamily="34" charset="-120"/>
              </a:rPr>
              <a:t>What it does not show: </a:t>
            </a:r>
            <a:pPr indent="0" marL="0">
              <a:buNone/>
            </a:pPr>
            <a:r>
              <a:rPr lang="en-US" sz="1300" dirty="0">
                <a:solidFill>
                  <a:schemeClr val="tx2"/>
                </a:solidFill>
                <a:latin typeface="Calibri" pitchFamily="34" charset="0"/>
                <a:ea typeface="Calibri" pitchFamily="34" charset="-122"/>
                <a:cs typeface="Calibri" pitchFamily="34" charset="-120"/>
              </a:rPr>
              <a:t>prompts were only 40 tokens, so little could be cached; this is not a cache benchmark.</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the policies are compared</a:t>
            </a:r>
            <a:endParaRPr lang="en-US" sz="3200" dirty="0"/>
          </a:p>
        </p:txBody>
      </p:sp>
      <p:graphicFrame>
        <p:nvGraphicFramePr>
          <p:cNvPr id="16" name="Experiment protoco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234440"/>
                <a:gridCol w="3977640"/>
                <a:gridCol w="3017520"/>
              </a:tblGrid>
              <a:tr h="329184">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Step</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What is done</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Why</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1  Cluster</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Four T4 nodes, same model and vLLM settings, tunnels reachable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Hardware and engine are identical for every policy</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2  Workload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long system prompts (about 1,500 tokens) shared by 60 sessions, concurrency 8</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More shared prefixes than one node can cache, so placement matters</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3  Isolation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Each policy gets its own prompt namespace: a marker at the front changes every block hash</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 policy inherits another policy's warm cache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4  Run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console's Compare tab (or scripts/demo.py) runs round_robin, least_connections, swiftserve and prefix_aware in turn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same requests go through every policy</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5  Repeat</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Run again with another seed and the policy order reversed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Shows the ranking is not an ordering or noise effect</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6  Read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TTFT median and 95th percentile, cache reuse, goodput, spread across replicas</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TTFT shows the prefill saving; spread shows load balance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Measured policy comparison, 3 runs</a:t>
            </a:r>
            <a:endParaRPr lang="en-US" sz="3200" dirty="0"/>
          </a:p>
        </p:txBody>
      </p:sp>
      <p:graphicFrame>
        <p:nvGraphicFramePr>
          <p:cNvPr id="3" name="Chart 0" descr=""/>
          <p:cNvGraphicFramePr/>
          <p:nvPr/>
        </p:nvGraphicFramePr>
        <p:xfrm>
          <a:off x="457200" y="1097280"/>
          <a:ext cx="429768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17" name="Comparison table"/>
          <p:cNvGraphicFramePr>
            <a:graphicFrameLocks noGrp="1"/>
          </p:cNvGraphicFramePr>
          <p:nvPr>
            <p:extLst>
              <p:ext uri="{D42A27DB-BD31-4B8C-83A1-F6EECF244321}">
                <p14:modId xmlns:p14="http://schemas.microsoft.com/office/powerpoint/2010/main" val="1579011935"/>
              </p:ext>
            </p:extLst>
          </p:nvPr>
        </p:nvGraphicFramePr>
        <p:xfrm>
          <a:off x="4937760" y="1188720"/>
          <a:ext cx="3749040" cy="914400"/>
        </p:xfrm>
        <a:graphic>
          <a:graphicData uri="http://schemas.openxmlformats.org/drawingml/2006/table">
            <a:tbl>
              <a:tblPr/>
              <a:tblGrid>
                <a:gridCol w="1325880"/>
                <a:gridCol w="1097280"/>
                <a:gridCol w="640080"/>
                <a:gridCol w="685800"/>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Median TTFT, ms: mean (range)</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Cache reuse</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Busiest ÷ mean load</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round_robin</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966 (798-1066)</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53 %</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least_connections</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993 (868-1063)</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52 %</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1.35</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swiftserve</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765 (537-927)</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66 %</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1.27</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prefix_aware</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451 (420-471)</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86 %</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1.58</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457200" y="4114800"/>
            <a:ext cx="8229600" cy="6858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prefix_aware had the lowest median TTFT in 3 of 3 runs (mean 451 ms; 1.7x lower than swiftserve, 2.2x lower than least_connections). Its 95th-percentile rank across the runs was 4, 2, 2 of 4 (1 is best), so the tail was mixed. Seeds 1, 2, 3, one run in reverse policy order; 60 requests per policy, 6 tenants with system prompts of about 1500 tokens, concurrency 8, 4 replicas.</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Live demonstration</a:t>
            </a:r>
            <a:endParaRPr lang="en-US" sz="3200" dirty="0"/>
          </a:p>
        </p:txBody>
      </p:sp>
      <p:sp>
        <p:nvSpPr>
          <p:cNvPr id="3" name="Demo step 1"/>
          <p:cNvSpPr/>
          <p:nvPr/>
        </p:nvSpPr>
        <p:spPr>
          <a:xfrm>
            <a:off x="457200"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Demo step 1 number"/>
          <p:cNvSpPr/>
          <p:nvPr/>
        </p:nvSpPr>
        <p:spPr>
          <a:xfrm>
            <a:off x="566928" y="1252728"/>
            <a:ext cx="365760" cy="365760"/>
          </a:xfrm>
          <a:prstGeom prst="ellipse">
            <a:avLst/>
          </a:prstGeom>
          <a:solidFill>
            <a:schemeClr val="accent1"/>
          </a:solidFill>
          <a:ln w="12700">
            <a:solidFill>
              <a:schemeClr val="accent1"/>
            </a:solidFill>
            <a:prstDash val="solid"/>
          </a:ln>
        </p:spPr>
      </p:sp>
      <p:sp>
        <p:nvSpPr>
          <p:cNvPr id="5" name="Text 3"/>
          <p:cNvSpPr txBox="1"/>
          <p:nvPr/>
        </p:nvSpPr>
        <p:spPr>
          <a:xfrm>
            <a:off x="566928"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05840"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Dashboard</a:t>
            </a:r>
            <a:endParaRPr lang="en-US" sz="1500" dirty="0"/>
          </a:p>
        </p:txBody>
      </p:sp>
      <p:sp>
        <p:nvSpPr>
          <p:cNvPr id="7" name="Text 5"/>
          <p:cNvSpPr txBox="1"/>
          <p:nvPr/>
        </p:nvSpPr>
        <p:spPr>
          <a:xfrm>
            <a:off x="566928"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four GPUs with memory and temperature reported by each node</a:t>
            </a:r>
            <a:endParaRPr lang="en-US" sz="1300" dirty="0"/>
          </a:p>
        </p:txBody>
      </p:sp>
      <p:sp>
        <p:nvSpPr>
          <p:cNvPr id="8" name="Demo step 2"/>
          <p:cNvSpPr/>
          <p:nvPr/>
        </p:nvSpPr>
        <p:spPr>
          <a:xfrm>
            <a:off x="2542032"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Demo step 2 number"/>
          <p:cNvSpPr/>
          <p:nvPr/>
        </p:nvSpPr>
        <p:spPr>
          <a:xfrm>
            <a:off x="2651760" y="1252728"/>
            <a:ext cx="365760" cy="365760"/>
          </a:xfrm>
          <a:prstGeom prst="ellipse">
            <a:avLst/>
          </a:prstGeom>
          <a:solidFill>
            <a:schemeClr val="accent1"/>
          </a:solidFill>
          <a:ln w="12700">
            <a:solidFill>
              <a:schemeClr val="accent1"/>
            </a:solidFill>
            <a:prstDash val="solid"/>
          </a:ln>
        </p:spPr>
      </p:sp>
      <p:sp>
        <p:nvSpPr>
          <p:cNvPr id="10" name="Text 8"/>
          <p:cNvSpPr txBox="1"/>
          <p:nvPr/>
        </p:nvSpPr>
        <p:spPr>
          <a:xfrm>
            <a:off x="2651760"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3090672"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Playground</a:t>
            </a:r>
            <a:endParaRPr lang="en-US" sz="1500" dirty="0"/>
          </a:p>
        </p:txBody>
      </p:sp>
      <p:sp>
        <p:nvSpPr>
          <p:cNvPr id="12" name="Text 10"/>
          <p:cNvSpPr txBox="1"/>
          <p:nvPr/>
        </p:nvSpPr>
        <p:spPr>
          <a:xfrm>
            <a:off x="2651760"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one request twice: cold, then with the prefix cached</a:t>
            </a:r>
            <a:endParaRPr lang="en-US" sz="1300" dirty="0"/>
          </a:p>
        </p:txBody>
      </p:sp>
      <p:sp>
        <p:nvSpPr>
          <p:cNvPr id="13" name="Demo step 3"/>
          <p:cNvSpPr/>
          <p:nvPr/>
        </p:nvSpPr>
        <p:spPr>
          <a:xfrm>
            <a:off x="4626864"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Demo step 3 number"/>
          <p:cNvSpPr/>
          <p:nvPr/>
        </p:nvSpPr>
        <p:spPr>
          <a:xfrm>
            <a:off x="4736592" y="1252728"/>
            <a:ext cx="365760" cy="365760"/>
          </a:xfrm>
          <a:prstGeom prst="ellipse">
            <a:avLst/>
          </a:prstGeom>
          <a:solidFill>
            <a:schemeClr val="accent1"/>
          </a:solidFill>
          <a:ln w="12700">
            <a:solidFill>
              <a:schemeClr val="accent1"/>
            </a:solidFill>
            <a:prstDash val="solid"/>
          </a:ln>
        </p:spPr>
      </p:sp>
      <p:sp>
        <p:nvSpPr>
          <p:cNvPr id="15" name="Text 13"/>
          <p:cNvSpPr txBox="1"/>
          <p:nvPr/>
        </p:nvSpPr>
        <p:spPr>
          <a:xfrm>
            <a:off x="4736592"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5175504"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Compare</a:t>
            </a:r>
            <a:endParaRPr lang="en-US" sz="1500" dirty="0"/>
          </a:p>
        </p:txBody>
      </p:sp>
      <p:sp>
        <p:nvSpPr>
          <p:cNvPr id="17" name="Text 15"/>
          <p:cNvSpPr txBox="1"/>
          <p:nvPr/>
        </p:nvSpPr>
        <p:spPr>
          <a:xfrm>
            <a:off x="4736592"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the same multi-tenant workload through all four policies</a:t>
            </a:r>
            <a:endParaRPr lang="en-US" sz="1300" dirty="0"/>
          </a:p>
        </p:txBody>
      </p:sp>
      <p:sp>
        <p:nvSpPr>
          <p:cNvPr id="18" name="Demo step 4"/>
          <p:cNvSpPr/>
          <p:nvPr/>
        </p:nvSpPr>
        <p:spPr>
          <a:xfrm>
            <a:off x="6711696"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9" name="Demo step 4 number"/>
          <p:cNvSpPr/>
          <p:nvPr/>
        </p:nvSpPr>
        <p:spPr>
          <a:xfrm>
            <a:off x="6821424" y="1252728"/>
            <a:ext cx="365760" cy="365760"/>
          </a:xfrm>
          <a:prstGeom prst="ellipse">
            <a:avLst/>
          </a:prstGeom>
          <a:solidFill>
            <a:schemeClr val="accent1"/>
          </a:solidFill>
          <a:ln w="12700">
            <a:solidFill>
              <a:schemeClr val="accent1"/>
            </a:solidFill>
            <a:prstDash val="solid"/>
          </a:ln>
        </p:spPr>
      </p:sp>
      <p:sp>
        <p:nvSpPr>
          <p:cNvPr id="20" name="Text 18"/>
          <p:cNvSpPr txBox="1"/>
          <p:nvPr/>
        </p:nvSpPr>
        <p:spPr>
          <a:xfrm>
            <a:off x="6821424"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7260336"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Live routing</a:t>
            </a:r>
            <a:endParaRPr lang="en-US" sz="1500" dirty="0"/>
          </a:p>
        </p:txBody>
      </p:sp>
      <p:sp>
        <p:nvSpPr>
          <p:cNvPr id="22" name="Text 20"/>
          <p:cNvSpPr txBox="1"/>
          <p:nvPr/>
        </p:nvSpPr>
        <p:spPr>
          <a:xfrm>
            <a:off x="6821424"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requests spreading across the replicas as they run</a:t>
            </a:r>
            <a:endParaRPr lang="en-US" sz="1300" dirty="0"/>
          </a:p>
        </p:txBody>
      </p:sp>
      <p:pic>
        <p:nvPicPr>
          <p:cNvPr id="23" name="Dashboard screenshot" descr="Dashboard screenshot">    </p:cNvPr>
          <p:cNvPicPr>
            <a:picLocks noChangeAspect="1"/>
          </p:cNvPicPr>
          <p:nvPr/>
        </p:nvPicPr>
        <p:blipFill>
          <a:blip r:embed="rId1"/>
          <a:stretch>
            <a:fillRect/>
          </a:stretch>
        </p:blipFill>
        <p:spPr>
          <a:xfrm>
            <a:off x="457200" y="2895438"/>
            <a:ext cx="8229600" cy="1707204"/>
          </a:xfrm>
          <a:prstGeom prst="rect">
            <a:avLst/>
          </a:prstGeom>
          <a:effectLst>
            <a:outerShdw sx="100000" sy="100000" kx="0" ky="0" algn="bl" rotWithShape="0" blurRad="101600" dist="25400" dir="5400000">
              <a:srgbClr val="000000">
                <a:alpha val="12000"/>
              </a:srgbClr>
            </a:outerShdw>
          </a:effectLst>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Limits and next steps</a:t>
            </a:r>
            <a:endParaRPr lang="en-US" sz="3200" dirty="0"/>
          </a:p>
        </p:txBody>
      </p:sp>
      <p:sp>
        <p:nvSpPr>
          <p:cNvPr id="3" name="Current limits panel"/>
          <p:cNvSpPr/>
          <p:nvPr/>
        </p:nvSpPr>
        <p:spPr>
          <a:xfrm>
            <a:off x="457200" y="1188720"/>
            <a:ext cx="4023360" cy="3520440"/>
          </a:xfrm>
          <a:prstGeom prst="roundRect">
            <a:avLst>
              <a:gd name="adj" fmla="val 2078"/>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685800" y="1325880"/>
            <a:ext cx="3566160" cy="365760"/>
          </a:xfrm>
          <a:prstGeom prst="rect">
            <a:avLst/>
          </a:prstGeom>
          <a:noFill/>
          <a:ln/>
        </p:spPr>
        <p:txBody>
          <a:bodyPr wrap="square" lIns="0" tIns="0" rIns="0" bIns="0" rtlCol="0" anchor="t"/>
          <a:lstStyle/>
          <a:p>
            <a:pPr indent="0" marL="0">
              <a:buNone/>
            </a:pPr>
            <a:r>
              <a:rPr lang="en-US" sz="2000" b="1" dirty="0">
                <a:solidFill>
                  <a:schemeClr val="accent5"/>
                </a:solidFill>
                <a:latin typeface="Cambria" pitchFamily="34" charset="0"/>
                <a:ea typeface="Cambria" pitchFamily="34" charset="-122"/>
                <a:cs typeface="Cambria" pitchFamily="34" charset="-120"/>
              </a:rPr>
              <a:t>Current limits</a:t>
            </a:r>
            <a:endParaRPr lang="en-US" sz="2000" dirty="0"/>
          </a:p>
        </p:txBody>
      </p:sp>
      <p:sp>
        <p:nvSpPr>
          <p:cNvPr id="5" name="Text 3"/>
          <p:cNvSpPr txBox="1"/>
          <p:nvPr/>
        </p:nvSpPr>
        <p:spPr>
          <a:xfrm>
            <a:off x="685800" y="1828800"/>
            <a:ext cx="35661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router's index is a belief. A failed request can leave a stale entry, and the index does not see engine evictions.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Connection errors retry the same replica; there is no failover to another one.</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Latency through tunnels includes network delay.</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Policies are compared one after another on one model, so results are a controlled demonstration.</a:t>
            </a:r>
            <a:endParaRPr lang="en-US" sz="1400" dirty="0"/>
          </a:p>
        </p:txBody>
      </p:sp>
      <p:sp>
        <p:nvSpPr>
          <p:cNvPr id="6" name="Next steps panel"/>
          <p:cNvSpPr/>
          <p:nvPr/>
        </p:nvSpPr>
        <p:spPr>
          <a:xfrm>
            <a:off x="4663440" y="1188720"/>
            <a:ext cx="4023360" cy="3520440"/>
          </a:xfrm>
          <a:prstGeom prst="roundRect">
            <a:avLst>
              <a:gd name="adj" fmla="val 2078"/>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4892040" y="1325880"/>
            <a:ext cx="35661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Next steps</a:t>
            </a:r>
            <a:endParaRPr lang="en-US" sz="2000" dirty="0"/>
          </a:p>
        </p:txBody>
      </p:sp>
      <p:sp>
        <p:nvSpPr>
          <p:cNvPr id="8" name="Text 6"/>
          <p:cNvSpPr txBox="1"/>
          <p:nvPr/>
        </p:nvSpPr>
        <p:spPr>
          <a:xfrm>
            <a:off x="4892040" y="1828800"/>
            <a:ext cx="35661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Repeat the comparison with several seeds and report the spread.</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Rebuild the index from the engine's cache events instead of predictions.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Fail over to another replica on connection errors.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Keep the index across router restarts.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548640"/>
            <a:ext cx="7863840" cy="73152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Summary</a:t>
            </a:r>
            <a:endParaRPr lang="en-US" sz="3400" dirty="0"/>
          </a:p>
        </p:txBody>
      </p:sp>
      <p:sp>
        <p:nvSpPr>
          <p:cNvPr id="3" name="Summary card 1"/>
          <p:cNvSpPr/>
          <p:nvPr/>
        </p:nvSpPr>
        <p:spPr>
          <a:xfrm>
            <a:off x="640080" y="1554480"/>
            <a:ext cx="7863840" cy="868680"/>
          </a:xfrm>
          <a:prstGeom prst="roundRect">
            <a:avLst>
              <a:gd name="adj" fmla="val 8421"/>
            </a:avLst>
          </a:prstGeom>
          <a:solidFill>
            <a:schemeClr val="tx2"/>
          </a:solidFill>
          <a:ln w="12700">
            <a:solidFill>
              <a:schemeClr val="tx2"/>
            </a:solidFill>
            <a:prstDash val="solid"/>
          </a:ln>
        </p:spPr>
      </p:sp>
      <p:sp>
        <p:nvSpPr>
          <p:cNvPr id="4" name="Text 2"/>
          <p:cNvSpPr txBox="1"/>
          <p:nvPr/>
        </p:nvSpPr>
        <p:spPr>
          <a:xfrm>
            <a:off x="868680" y="155448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Caches are per replica</a:t>
            </a:r>
            <a:endParaRPr lang="en-US" sz="1500" dirty="0"/>
          </a:p>
        </p:txBody>
      </p:sp>
      <p:sp>
        <p:nvSpPr>
          <p:cNvPr id="5" name="Text 3"/>
          <p:cNvSpPr txBox="1"/>
          <p:nvPr/>
        </p:nvSpPr>
        <p:spPr>
          <a:xfrm>
            <a:off x="4114800" y="155448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A balancer that ignores them wastes prefill work that vLLM could reuse.</a:t>
            </a:r>
            <a:endParaRPr lang="en-US" sz="1400" dirty="0"/>
          </a:p>
        </p:txBody>
      </p:sp>
      <p:sp>
        <p:nvSpPr>
          <p:cNvPr id="6" name="Summary card 2"/>
          <p:cNvSpPr/>
          <p:nvPr/>
        </p:nvSpPr>
        <p:spPr>
          <a:xfrm>
            <a:off x="640080" y="2606040"/>
            <a:ext cx="7863840" cy="868680"/>
          </a:xfrm>
          <a:prstGeom prst="roundRect">
            <a:avLst>
              <a:gd name="adj" fmla="val 8421"/>
            </a:avLst>
          </a:prstGeom>
          <a:solidFill>
            <a:schemeClr val="tx2"/>
          </a:solidFill>
          <a:ln w="12700">
            <a:solidFill>
              <a:schemeClr val="tx2"/>
            </a:solidFill>
            <a:prstDash val="solid"/>
          </a:ln>
        </p:spPr>
      </p:sp>
      <p:sp>
        <p:nvSpPr>
          <p:cNvPr id="7" name="Text 5"/>
          <p:cNvSpPr txBox="1"/>
          <p:nvPr/>
        </p:nvSpPr>
        <p:spPr>
          <a:xfrm>
            <a:off x="868680" y="260604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Route by prefix, protect by latency</a:t>
            </a:r>
            <a:endParaRPr lang="en-US" sz="1500" dirty="0"/>
          </a:p>
        </p:txBody>
      </p:sp>
      <p:sp>
        <p:nvSpPr>
          <p:cNvPr id="8" name="Text 6"/>
          <p:cNvSpPr txBox="1"/>
          <p:nvPr/>
        </p:nvSpPr>
        <p:spPr>
          <a:xfrm>
            <a:off x="4114800" y="260604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Hash prompts in 16-token blocks, take the longest eligible match, and skip replicas that would miss the target.</a:t>
            </a:r>
            <a:endParaRPr lang="en-US" sz="1400" dirty="0"/>
          </a:p>
        </p:txBody>
      </p:sp>
      <p:sp>
        <p:nvSpPr>
          <p:cNvPr id="9" name="Summary card 3"/>
          <p:cNvSpPr/>
          <p:nvPr/>
        </p:nvSpPr>
        <p:spPr>
          <a:xfrm>
            <a:off x="640080" y="3657600"/>
            <a:ext cx="7863840" cy="868680"/>
          </a:xfrm>
          <a:prstGeom prst="roundRect">
            <a:avLst>
              <a:gd name="adj" fmla="val 8421"/>
            </a:avLst>
          </a:prstGeom>
          <a:solidFill>
            <a:schemeClr val="tx2"/>
          </a:solidFill>
          <a:ln w="12700">
            <a:solidFill>
              <a:schemeClr val="tx2"/>
            </a:solidFill>
            <a:prstDash val="solid"/>
          </a:ln>
        </p:spPr>
      </p:sp>
      <p:sp>
        <p:nvSpPr>
          <p:cNvPr id="10" name="Text 8"/>
          <p:cNvSpPr txBox="1"/>
          <p:nvPr/>
        </p:nvSpPr>
        <p:spPr>
          <a:xfrm>
            <a:off x="868680" y="365760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Measure every step</a:t>
            </a:r>
            <a:endParaRPr lang="en-US" sz="1500" dirty="0"/>
          </a:p>
        </p:txBody>
      </p:sp>
      <p:sp>
        <p:nvSpPr>
          <p:cNvPr id="11" name="Text 9"/>
          <p:cNvSpPr txBox="1"/>
          <p:nvPr/>
        </p:nvSpPr>
        <p:spPr>
          <a:xfrm>
            <a:off x="4114800" y="365760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Each request records its decision, its replica and its timings, so every claim can be checked against data.</a:t>
            </a:r>
            <a:endParaRPr lang="en-US" sz="1400" dirty="0"/>
          </a:p>
        </p:txBody>
      </p:sp>
    </p:spTree>
  </p:cSld>
  <p:clrMapOvr>
    <a:masterClrMapping/>
  </p:clrMapOvr>
</p:sld>
</file>

<file path=ppt/theme/theme1.xml><?xml version="1.0" encoding="utf-8"?>
<a:theme xmlns:a="http://schemas.openxmlformats.org/drawingml/2006/main" name="Graphite Teal">
  <a:themeElements>
    <a:clrScheme name="Graphite Teal">
      <a:dk1>
        <a:srgbClr val="1B1F2A"/>
      </a:dk1>
      <a:lt1>
        <a:srgbClr val="FFFFFF"/>
      </a:lt1>
      <a:dk2>
        <a:srgbClr val="3A4457"/>
      </a:dk2>
      <a:lt2>
        <a:srgbClr val="F1F3F6"/>
      </a:lt2>
      <a:accent1>
        <a:srgbClr val="0E8F7E"/>
      </a:accent1>
      <a:accent2>
        <a:srgbClr val="E8A23B"/>
      </a:accent2>
      <a:accent3>
        <a:srgbClr val="5878A8"/>
      </a:accent3>
      <a:accent4>
        <a:srgbClr val="8B95A7"/>
      </a:accent4>
      <a:accent5>
        <a:srgbClr val="C8445A"/>
      </a:accent5>
      <a:accent6>
        <a:srgbClr val="3E9E5F"/>
      </a:accent6>
      <a:hlink>
        <a:srgbClr val="0E8F7E"/>
      </a:hlink>
      <a:folHlink>
        <a:srgbClr val="8B95A7"/>
      </a:folHlink>
    </a:clrScheme>
    <a:fontScheme name="Graphite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Cache-Aware Request Routing for LLM Replicas</dc:title>
  <dc:subject>Routing requests across GPU replicas to reuse the prefix cache</dc:subject>
  <dc:creator> </dc:creator>
  <cp:lastModifiedBy> </cp:lastModifiedBy>
  <cp:revision>1</cp:revision>
  <dcterms:created xsi:type="dcterms:W3CDTF">2026-10-12T16:19:13Z</dcterms:created>
  <dcterms:modified xsi:type="dcterms:W3CDTF">2026-10-12T16:19:13Z</dcterms:modified>
</cp:coreProperties>
</file>